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6dd21d973804e65" /><Relationship Type="http://schemas.openxmlformats.org/officeDocument/2006/relationships/extended-properties" Target="/docProps/app.xml" Id="R6a3f7c050ef74d3b" /><Relationship Type="http://schemas.openxmlformats.org/officeDocument/2006/relationships/officeDocument" Target="/ppt/presentation.xml" Id="R5a9397351c2a4fc1" /></Relationships>
</file>

<file path=ppt/presentation.xml><?xml version="1.0" encoding="utf-8"?>
<p:presentation xmlns:p="http://schemas.openxmlformats.org/presentationml/2006/main">
  <p:sldMasterIdLst>
    <p:sldMasterId xmlns:r="http://schemas.openxmlformats.org/officeDocument/2006/relationships" id="2147483648" r:id="R565b171c97734884"/>
  </p:sldMasterIdLst>
  <p:notesMasterIdLst>
    <p:notesMasterId xmlns:r="http://schemas.openxmlformats.org/officeDocument/2006/relationships" r:id="Racc9941f4e6b4df4"/>
  </p:notesMasterIdLst>
  <p:sldIdLst>
    <p:sldId xmlns:r="http://schemas.openxmlformats.org/officeDocument/2006/relationships" id="256" r:id="R5635be2ff8b645e7"/>
    <p:sldId xmlns:r="http://schemas.openxmlformats.org/officeDocument/2006/relationships" id="257" r:id="R46876bec433e481f"/>
    <p:sldId xmlns:r="http://schemas.openxmlformats.org/officeDocument/2006/relationships" id="258" r:id="Rc40743d4daf5410f"/>
    <p:sldId xmlns:r="http://schemas.openxmlformats.org/officeDocument/2006/relationships" id="259" r:id="R050e65a181134217"/>
    <p:sldId xmlns:r="http://schemas.openxmlformats.org/officeDocument/2006/relationships" id="260" r:id="R58ab3508e2574608"/>
    <p:sldId xmlns:r="http://schemas.openxmlformats.org/officeDocument/2006/relationships" id="261" r:id="Rf251e5eb1f5d4210"/>
    <p:sldId xmlns:r="http://schemas.openxmlformats.org/officeDocument/2006/relationships" id="262" r:id="R09e12c9a36d14670"/>
    <p:sldId xmlns:r="http://schemas.openxmlformats.org/officeDocument/2006/relationships" id="263" r:id="R4095f46703c74031"/>
    <p:sldId xmlns:r="http://schemas.openxmlformats.org/officeDocument/2006/relationships" id="264" r:id="R55f2b044f1a6480f"/>
    <p:sldId xmlns:r="http://schemas.openxmlformats.org/officeDocument/2006/relationships" id="265" r:id="R6f084bc8c48d4600"/>
    <p:sldId xmlns:r="http://schemas.openxmlformats.org/officeDocument/2006/relationships" id="266" r:id="R3258cfa0d6e94181"/>
    <p:sldId xmlns:r="http://schemas.openxmlformats.org/officeDocument/2006/relationships" id="267" r:id="R640ce8f416b544f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bbfe159c91c4135" /><Relationship Type="http://schemas.openxmlformats.org/officeDocument/2006/relationships/slideMaster" Target="/ppt/slideMasters/slideMaster1.xml" Id="R565b171c97734884" /><Relationship Type="http://schemas.openxmlformats.org/officeDocument/2006/relationships/notesMaster" Target="/ppt/notesMasters/notesMaster1.xml" Id="Racc9941f4e6b4df4" /><Relationship Type="http://schemas.openxmlformats.org/officeDocument/2006/relationships/presProps" Target="/ppt/presProps.xml" Id="Rb19f809e0e634f3e" /><Relationship Type="http://schemas.openxmlformats.org/officeDocument/2006/relationships/tableStyles" Target="/ppt/tableStyles.xml" Id="R3407fe96f4e84bfb" /><Relationship Type="http://schemas.openxmlformats.org/officeDocument/2006/relationships/slide" Target="/ppt/slides/slide1.xml" Id="R5635be2ff8b645e7" /><Relationship Type="http://schemas.openxmlformats.org/officeDocument/2006/relationships/slide" Target="/ppt/slides/slide2.xml" Id="R46876bec433e481f" /><Relationship Type="http://schemas.openxmlformats.org/officeDocument/2006/relationships/slide" Target="/ppt/slides/slide3.xml" Id="Rc40743d4daf5410f" /><Relationship Type="http://schemas.openxmlformats.org/officeDocument/2006/relationships/slide" Target="/ppt/slides/slide4.xml" Id="R050e65a181134217" /><Relationship Type="http://schemas.openxmlformats.org/officeDocument/2006/relationships/slide" Target="/ppt/slides/slide5.xml" Id="R58ab3508e2574608" /><Relationship Type="http://schemas.openxmlformats.org/officeDocument/2006/relationships/slide" Target="/ppt/slides/slide6.xml" Id="Rf251e5eb1f5d4210" /><Relationship Type="http://schemas.openxmlformats.org/officeDocument/2006/relationships/slide" Target="/ppt/slides/slide7.xml" Id="R09e12c9a36d14670" /><Relationship Type="http://schemas.openxmlformats.org/officeDocument/2006/relationships/slide" Target="/ppt/slides/slide8.xml" Id="R4095f46703c74031" /><Relationship Type="http://schemas.openxmlformats.org/officeDocument/2006/relationships/slide" Target="/ppt/slides/slide9.xml" Id="R55f2b044f1a6480f" /><Relationship Type="http://schemas.openxmlformats.org/officeDocument/2006/relationships/slide" Target="/ppt/slides/slide10.xml" Id="R6f084bc8c48d4600" /><Relationship Type="http://schemas.openxmlformats.org/officeDocument/2006/relationships/slide" Target="/ppt/slides/slide11.xml" Id="R3258cfa0d6e94181" /><Relationship Type="http://schemas.openxmlformats.org/officeDocument/2006/relationships/slide" Target="/ppt/slides/slide12.xml" Id="R640ce8f416b544f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a82ec223741486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d8e4cc5f86c4804" /><Relationship Type="http://schemas.openxmlformats.org/officeDocument/2006/relationships/notesMaster" Target="/ppt/notesMasters/notesMaster1.xml" Id="R94597d41da234b71" /></Relationships>
</file>

<file path=ppt/notesSlides/_rels/notesSlide2.xml.rels>&#65279;<?xml version="1.0" encoding="utf-8"?><Relationships xmlns="http://schemas.openxmlformats.org/package/2006/relationships"><Relationship Type="http://schemas.openxmlformats.org/officeDocument/2006/relationships/slide" Target="/ppt/slides/slide2.xml" Id="Rfef34ff85f544978" /><Relationship Type="http://schemas.openxmlformats.org/officeDocument/2006/relationships/notesMaster" Target="/ppt/notesMasters/notesMaster1.xml" Id="R3e726b64c80e473e" /></Relationships>
</file>

<file path=ppt/notesSlides/_rels/notesSlide3.xml.rels>&#65279;<?xml version="1.0" encoding="utf-8"?><Relationships xmlns="http://schemas.openxmlformats.org/package/2006/relationships"><Relationship Type="http://schemas.openxmlformats.org/officeDocument/2006/relationships/slide" Target="/ppt/slides/slide3.xml" Id="R9eed48b190f34429" /><Relationship Type="http://schemas.openxmlformats.org/officeDocument/2006/relationships/notesMaster" Target="/ppt/notesMasters/notesMaster1.xml" Id="Rba6e50a34fb049f6" /></Relationships>
</file>

<file path=ppt/notesSlides/_rels/notesSlide4.xml.rels>&#65279;<?xml version="1.0" encoding="utf-8"?><Relationships xmlns="http://schemas.openxmlformats.org/package/2006/relationships"><Relationship Type="http://schemas.openxmlformats.org/officeDocument/2006/relationships/slide" Target="/ppt/slides/slide4.xml" Id="Ra3f01023d0344a43" /><Relationship Type="http://schemas.openxmlformats.org/officeDocument/2006/relationships/notesMaster" Target="/ppt/notesMasters/notesMaster1.xml" Id="R8210c9b6f24d4a89" /></Relationships>
</file>

<file path=ppt/notesSlides/_rels/notesSlide5.xml.rels>&#65279;<?xml version="1.0" encoding="utf-8"?><Relationships xmlns="http://schemas.openxmlformats.org/package/2006/relationships"><Relationship Type="http://schemas.openxmlformats.org/officeDocument/2006/relationships/slide" Target="/ppt/slides/slide5.xml" Id="Rcec2eeb7dcfe4ef1" /><Relationship Type="http://schemas.openxmlformats.org/officeDocument/2006/relationships/notesMaster" Target="/ppt/notesMasters/notesMaster1.xml" Id="Rf9e8491838794a49" /></Relationships>
</file>

<file path=ppt/notesSlides/_rels/notesSlide6.xml.rels>&#65279;<?xml version="1.0" encoding="utf-8"?><Relationships xmlns="http://schemas.openxmlformats.org/package/2006/relationships"><Relationship Type="http://schemas.openxmlformats.org/officeDocument/2006/relationships/slide" Target="/ppt/slides/slide6.xml" Id="R13950274328747e6" /><Relationship Type="http://schemas.openxmlformats.org/officeDocument/2006/relationships/notesMaster" Target="/ppt/notesMasters/notesMaster1.xml" Id="Re8b9c6010d974077" /></Relationships>
</file>

<file path=ppt/notesSlides/_rels/notesSlide7.xml.rels>&#65279;<?xml version="1.0" encoding="utf-8"?><Relationships xmlns="http://schemas.openxmlformats.org/package/2006/relationships"><Relationship Type="http://schemas.openxmlformats.org/officeDocument/2006/relationships/slide" Target="/ppt/slides/slide7.xml" Id="R8759ac624cc14943" /><Relationship Type="http://schemas.openxmlformats.org/officeDocument/2006/relationships/notesMaster" Target="/ppt/notesMasters/notesMaster1.xml" Id="R0be06c2b62d94f82" /></Relationships>
</file>

<file path=ppt/notesSlides/_rels/notesSlide8.xml.rels>&#65279;<?xml version="1.0" encoding="utf-8"?><Relationships xmlns="http://schemas.openxmlformats.org/package/2006/relationships"><Relationship Type="http://schemas.openxmlformats.org/officeDocument/2006/relationships/slide" Target="/ppt/slides/slide8.xml" Id="R40cb6d468f064d2a" /><Relationship Type="http://schemas.openxmlformats.org/officeDocument/2006/relationships/notesMaster" Target="/ppt/notesMasters/notesMaster1.xml" Id="R3a92eb67180a4304" /></Relationships>
</file>

<file path=ppt/notesSlides/_rels/notesSlide9.xml.rels>&#65279;<?xml version="1.0" encoding="utf-8"?><Relationships xmlns="http://schemas.openxmlformats.org/package/2006/relationships"><Relationship Type="http://schemas.openxmlformats.org/officeDocument/2006/relationships/slide" Target="/ppt/slides/slide9.xml" Id="Rc7b777e8f7034768" /><Relationship Type="http://schemas.openxmlformats.org/officeDocument/2006/relationships/notesMaster" Target="/ppt/notesMasters/notesMaster1.xml" Id="R021b9a8fb631475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93cad18358a44cc" /><Relationship Type="http://schemas.openxmlformats.org/officeDocument/2006/relationships/notesMaster" Target="/ppt/notesMasters/notesMaster1.xml" Id="Rfb35c981743b466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ca5ff71086c4e16" /><Relationship Type="http://schemas.openxmlformats.org/officeDocument/2006/relationships/notesMaster" Target="/ppt/notesMasters/notesMaster1.xml" Id="Ref488080cc6544e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5ecf701d40948c0" /><Relationship Type="http://schemas.openxmlformats.org/officeDocument/2006/relationships/notesMaster" Target="/ppt/notesMasters/notesMaster1.xml" Id="R4d2a99437aba476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study and its target. The figure is a stored development diagnostic, not a locked-test result. Source IDs S1-S8. See reports/gridshift_report.md 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question is bounded by declared duration, energy, deadline, and capacity assumptions. Sources S1, S2, S4, S5, and S9.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Quality values come from artifacts/data/quality.json. Monthly coverage chart source: C:\Users\viraj\Documents\Codex\2026-10-22\plan-gridshift-a-complete-ats-mini\outputs\GridShift\artifacts\data\monthly_coverage.csv. Source IDs S1-S8. See reports/gridshift_report.md 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files are diagnostics.json, adf.csv, kpss.csv, acf_pacf.csv, and the named figure. Centered STL is descriptive, not an online feature. Source IDs S9-S13. Diagnostic figures and tables come from artifacts/diagnostics.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selections are read from results.json and are not recomputed from test data. Source IDs S9-S13. Validation and test rows come from the content-addressed forecast_metrics.csv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Study settings come from the passed config. The full configuration digest appears in the report. Source IDs S9-S13. Validation and test rows come from the content-addressed forecast_metrics.csv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Validation scores are read from artifacts/runs/d2dee2d358735d7d/validation/forecast_metrics.csv. Source CSV tables and artifacts/results.json. No re-selection on test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Test scores are read from artifacts/runs/d2dee2d358735d7d/test/forecast_metrics.csv. Source CSV tables and artifacts/results.json. No re-selection on test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Scheduling values come from config. They are scenarios unless measured telemetry appears in a verified artifact. Source ID S5. Energy and emissions are modeled under config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summary rows come from C:\Users\viraj\Documents\Codex\2026-10-22\plan-gridshift-a-complete-ats-mini\outputs\GridShift\artifacts\runs\d2dee2d358735d7d\test\single_job\primary_summary.csv. Bootstrap uncertainty comes from C:\Users\viraj\Documents\Codex\2026-10-22\plan-gridshift-a-complete-ats-mini\outputs\GridShift\artifacts\runs\d2dee2d358735d7d\test\single_job\primary_bootstrap.csv. A simple deployment choice does not establish added scheduling value from classical forecasting. Modeled isolated-job benefit under declared assumptions. The certified seven-day paired block estimate is 12.414% (95% interval 10.951 to 13.828%) across 2913 scheduled primary-policy jobs; the bootstrap paired 2913 jobs. This estimates modeled operational CO2 under the declared job, energy, and deadline assumptions. Source CSV tables and artifacts/results.json. No re-selection on test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Queue summary rows come from C:\Users\viraj\Documents\Codex\2026-10-22\plan-gridshift-a-complete-ats-mini\outputs\GridShift\artifacts\runs\d2dee2d358735d7d\test\queue\queue_summary.csv. Full scenarios and policies remain in the source CSV and report. Source CSV table. Queue arrivals are synthetic and service outcomes remain part of the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notes: realized job CO2 is the sum over intervals of overlap energy in kWh times estimated intensity in gCO2/kWh. The forecast scheduler minimizes the same integrated expression using the eligible forecast path. Failure cases include missing forecasts, incomplete truth coverage, infeasible deadlines, failed model fits, and unmatched queue work. Preserve each outcome in the tables. Source ID S5. Energy and emissions are modeled under config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fe2b70c24d0401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bfafe7dc36543d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53c2fd8e48e40d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6353f7a372d4e7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b7d100a43de4c7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da0dcd402984dd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14BA01B-CB54-4BE4-A4AD-AB04997EABA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60BE209-54DA-45CD-B946-127AE762CF2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7A54551-0D13-4F2F-9D64-0E5FD0327F0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2EB2DBE-5304-4F86-AB2A-52A6C09C963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5D24D65-4630-4511-8B3F-ACBE6DFBA8F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3893AAF-6E54-4784-B768-B8898719882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B7AA663-6F39-44B7-AEAF-259D488D9A5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6E10454-1E79-474A-B4FE-3B9F22F1BD1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4C41DA5-2562-4ADD-BC2C-066A6FEF47A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2ACC634-BA61-4899-BB61-3F0C459D502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043ed7fac894923" /><Relationship Type="http://schemas.openxmlformats.org/officeDocument/2006/relationships/slideLayout" Target="/ppt/slideLayouts/slideLayout1.xml" Id="Rbb2128a2c40a44cc" /><Relationship Type="http://schemas.openxmlformats.org/officeDocument/2006/relationships/slideLayout" Target="/ppt/slideLayouts/slideLayout2.xml" Id="R8a28232cf767471a" /><Relationship Type="http://schemas.openxmlformats.org/officeDocument/2006/relationships/slideLayout" Target="/ppt/slideLayouts/slideLayout3.xml" Id="Rf86450d0e627406a" /><Relationship Type="http://schemas.openxmlformats.org/officeDocument/2006/relationships/slideLayout" Target="/ppt/slideLayouts/slideLayout4.xml" Id="Rec38051986b74d8f" /><Relationship Type="http://schemas.openxmlformats.org/officeDocument/2006/relationships/slideLayout" Target="/ppt/slideLayouts/slideLayout5.xml" Id="R446d266283ac40dc" /><Relationship Type="http://schemas.openxmlformats.org/officeDocument/2006/relationships/slideLayout" Target="/ppt/slideLayouts/slideLayout6.xml" Id="R57d16b757a6f4d0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b2128a2c40a44cc"/>
    <p:sldLayoutId xmlns:r="http://schemas.openxmlformats.org/officeDocument/2006/relationships" id="2147483650" r:id="R8a28232cf767471a"/>
    <p:sldLayoutId xmlns:r="http://schemas.openxmlformats.org/officeDocument/2006/relationships" id="2147483651" r:id="Rf86450d0e627406a"/>
    <p:sldLayoutId xmlns:r="http://schemas.openxmlformats.org/officeDocument/2006/relationships" id="2147483652" r:id="Rec38051986b74d8f"/>
    <p:sldLayoutId xmlns:r="http://schemas.openxmlformats.org/officeDocument/2006/relationships" id="2147483653" r:id="R446d266283ac40dc"/>
    <p:sldLayoutId xmlns:r="http://schemas.openxmlformats.org/officeDocument/2006/relationships" id="2147483654" r:id="R57d16b757a6f4d0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25fdeae91234a87" /><Relationship Type="http://schemas.openxmlformats.org/officeDocument/2006/relationships/image" Target="/ppt/media/image.png" Id="Rf90be0974e15490a" /><Relationship Type="http://schemas.openxmlformats.org/officeDocument/2006/relationships/notesSlide" Target="/ppt/notesSlides/notesSlide1.xml" Id="Ref618d64e6b3401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0a3857b830d42cc" /><Relationship Type="http://schemas.openxmlformats.org/officeDocument/2006/relationships/notesSlide" Target="/ppt/notesSlides/notesSlide2.xml" Id="Rfcea4279a704471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525ccfeb713499a" /><Relationship Type="http://schemas.openxmlformats.org/officeDocument/2006/relationships/chart" Target="/ppt/slides/charts/chart1.xml" Id="Rb41e3e36760f4833" /><Relationship Type="http://schemas.openxmlformats.org/officeDocument/2006/relationships/notesSlide" Target="/ppt/notesSlides/notesSlide3.xml" Id="R202312ce518c4b1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6dfe9a336e14545" /><Relationship Type="http://schemas.openxmlformats.org/officeDocument/2006/relationships/image" Target="/ppt/media/image2.png" Id="R766986b0ca864c94" /><Relationship Type="http://schemas.openxmlformats.org/officeDocument/2006/relationships/notesSlide" Target="/ppt/notesSlides/notesSlide4.xml" Id="Rca1008ee20d3486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24eb5cb1db545cf" /><Relationship Type="http://schemas.openxmlformats.org/officeDocument/2006/relationships/notesSlide" Target="/ppt/notesSlides/notesSlide5.xml" Id="R41a7ea5dc0e2492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e3c9612802c4709" /><Relationship Type="http://schemas.openxmlformats.org/officeDocument/2006/relationships/notesSlide" Target="/ppt/notesSlides/notesSlide6.xml" Id="R0f38e151742e465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2d7e15a80c342cf" /><Relationship Type="http://schemas.openxmlformats.org/officeDocument/2006/relationships/chart" Target="/ppt/slides/charts/chart2.xml" Id="R2613366237934904" /><Relationship Type="http://schemas.openxmlformats.org/officeDocument/2006/relationships/notesSlide" Target="/ppt/notesSlides/notesSlide7.xml" Id="R477a6e2dd52c4ef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b81ece42ba04386" /><Relationship Type="http://schemas.openxmlformats.org/officeDocument/2006/relationships/chart" Target="/ppt/slides/charts/chart3.xml" Id="Rfcafb83102844e7a" /><Relationship Type="http://schemas.openxmlformats.org/officeDocument/2006/relationships/notesSlide" Target="/ppt/notesSlides/notesSlide8.xml" Id="R42628d73885346e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dc8ce443a064341" /><Relationship Type="http://schemas.openxmlformats.org/officeDocument/2006/relationships/notesSlide" Target="/ppt/notesSlides/notesSlide9.xml" Id="Rceebd4cc2ece48c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c9f017f91524e75" /><Relationship Type="http://schemas.openxmlformats.org/officeDocument/2006/relationships/chart" Target="/ppt/slides/charts/chart4.xml" Id="R3b7596d91d4d4c7f" /><Relationship Type="http://schemas.openxmlformats.org/officeDocument/2006/relationships/notesSlide" Target="/ppt/notesSlides/notesSlide10.xml" Id="Rb659f80907cc435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7cb0d47366343f7" /><Relationship Type="http://schemas.openxmlformats.org/officeDocument/2006/relationships/notesSlide" Target="/ppt/notesSlides/notesSlide11.xml" Id="R97b86076fb374c2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215e1b1991d4b2f" /><Relationship Type="http://schemas.openxmlformats.org/officeDocument/2006/relationships/image" Target="/ppt/media/image3.png" Id="R0e99ff9d2d5c47dc" /><Relationship Type="http://schemas.openxmlformats.org/officeDocument/2006/relationships/notesSlide" Target="/ppt/notesSlides/notesSlide12.xml" Id="R6925f3947f8d4e0e"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650" b="1">
                <a:solidFill>
                  <a:srgbClr val="1E302F"/>
                </a:solidFill>
                <a:latin typeface="Arial"/>
                <a:ea typeface="Arial"/>
                <a:cs typeface="Arial"/>
              </a:rPr>
              <a:t>Monthly observed coverage</a:t>
            </a:r>
          </a:p>
        </c:rich>
      </c:tx>
      <c:overlay val="0"/>
      <c:txPr>
        <a:bodyPr xmlns:a="http://schemas.openxmlformats.org/drawingml/2006/main" anchorCtr="1"/>
        <a:lstStyle xmlns:a="http://schemas.openxmlformats.org/drawingml/2006/main"/>
        <a:p xmlns:a="http://schemas.openxmlformats.org/drawingml/2006/main">
          <a:pPr>
            <a:defRPr sz="1650" b="1">
              <a:solidFill>
                <a:srgbClr val="1E302F"/>
              </a:solidFill>
              <a:latin typeface="Arial"/>
              <a:ea typeface="Arial"/>
              <a:cs typeface="Arial"/>
            </a:defRPr>
          </a:pPr>
        </a:p>
      </c:txPr>
    </c:title>
    <c:plotArea>
      <c:lineChart>
        <c:grouping val="standard"/>
        <c:varyColors val="0"/>
        <c:ser>
          <c:idx val="0"/>
          <c:order val="0"/>
          <c:tx>
            <c:v>Coverage</c:v>
          </c:tx>
          <c:spPr>
            <a:solidFill xmlns:a="http://schemas.openxmlformats.org/drawingml/2006/main">
              <a:srgbClr val="127C74"/>
            </a:solidFill>
            <a:ln xmlns:a="http://schemas.openxmlformats.org/drawingml/2006/main" w="28575">
              <a:solidFill>
                <a:srgbClr val="127C74"/>
              </a:solidFill>
              <a:prstDash val="solid"/>
            </a:ln>
          </c:spPr>
          <c:marker>
            <c:symbol val="circle"/>
            <c:size val="5"/>
          </c:marker>
          <c:cat>
            <c:strLit>
              <c:ptCount val="12"/>
              <c:pt idx="0">
                <c:v>2025-01</c:v>
              </c:pt>
              <c:pt idx="1">
                <c:v>2025-02</c:v>
              </c:pt>
              <c:pt idx="2">
                <c:v>2025-03</c:v>
              </c:pt>
              <c:pt idx="3">
                <c:v>2025-04</c:v>
              </c:pt>
              <c:pt idx="4">
                <c:v>2025-05</c:v>
              </c:pt>
              <c:pt idx="5">
                <c:v>2025-06</c:v>
              </c:pt>
              <c:pt idx="6">
                <c:v>2025-07</c:v>
              </c:pt>
              <c:pt idx="7">
                <c:v>2025-08</c:v>
              </c:pt>
              <c:pt idx="8">
                <c:v>2025-09</c:v>
              </c:pt>
              <c:pt idx="9">
                <c:v>2025-10</c:v>
              </c:pt>
              <c:pt idx="10">
                <c:v>2025-11</c:v>
              </c:pt>
              <c:pt idx="11">
                <c:v>2025-12</c:v>
              </c:pt>
            </c:strLit>
          </c:cat>
          <c:val>
            <c:numLit>
              <c:formatCode>0%</c:formatCode>
              <c:ptCount val="12"/>
              <c:pt idx="0">
                <c:v>1</c:v>
              </c:pt>
              <c:pt idx="1">
                <c:v>1</c:v>
              </c:pt>
              <c:pt idx="2">
                <c:v>1</c:v>
              </c:pt>
              <c:pt idx="3">
                <c:v>1</c:v>
              </c:pt>
              <c:pt idx="4">
                <c:v>1</c:v>
              </c:pt>
              <c:pt idx="5">
                <c:v>1</c:v>
              </c:pt>
              <c:pt idx="6">
                <c:v>1</c:v>
              </c:pt>
              <c:pt idx="7">
                <c:v>1</c:v>
              </c:pt>
              <c:pt idx="8">
                <c:v>1</c:v>
              </c:pt>
              <c:pt idx="9">
                <c:v>1</c:v>
              </c:pt>
              <c:pt idx="10">
                <c:v>1</c:v>
              </c:pt>
              <c:pt idx="11">
                <c:v>1</c:v>
              </c:pt>
            </c:numLit>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CED8D5"/>
            </a:solidFill>
            <a:prstDash val="solid"/>
          </a:ln>
        </c:spPr>
        <c:txPr>
          <a:bodyPr xmlns:a="http://schemas.openxmlformats.org/drawingml/2006/main" anchorCtr="1"/>
          <a:lstStyle xmlns:a="http://schemas.openxmlformats.org/drawingml/2006/main"/>
          <a:p xmlns:a="http://schemas.openxmlformats.org/drawingml/2006/main">
            <a:pPr>
              <a:defRPr sz="1125">
                <a:solidFill>
                  <a:srgbClr val="1E302F"/>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E9EFED"/>
              </a:solidFill>
              <a:prstDash val="solid"/>
            </a:ln>
          </c:spPr>
        </c:majorGridlines>
        <c:title>
          <c:tx>
            <c:rich>
              <a:bodyPr xmlns:a="http://schemas.openxmlformats.org/drawingml/2006/main"/>
              <a:lstStyle xmlns:a="http://schemas.openxmlformats.org/drawingml/2006/main"/>
              <a:p xmlns:a="http://schemas.openxmlformats.org/drawingml/2006/main">
                <a:r>
                  <a:rPr sz="1200">
                    <a:solidFill>
                      <a:srgbClr val="1E302F"/>
                    </a:solidFill>
                    <a:latin typeface="Arial"/>
                    <a:ea typeface="Arial"/>
                    <a:cs typeface="Arial"/>
                  </a:rPr>
                  <a:t>Observed share</a:t>
                </a:r>
              </a:p>
            </c:rich>
          </c:tx>
          <c:overlay val="0"/>
          <c:txPr>
            <a:bodyPr xmlns:a="http://schemas.openxmlformats.org/drawingml/2006/main" anchorCtr="1"/>
            <a:lstStyle xmlns:a="http://schemas.openxmlformats.org/drawingml/2006/main"/>
            <a:p xmlns:a="http://schemas.openxmlformats.org/drawingml/2006/main">
              <a:pPr>
                <a:defRPr sz="1200">
                  <a:solidFill>
                    <a:srgbClr val="1E302F"/>
                  </a:solidFill>
                  <a:latin typeface="Arial"/>
                  <a:ea typeface="Arial"/>
                  <a:cs typeface="Arial"/>
                </a:defRPr>
              </a:pPr>
            </a:p>
          </c:txPr>
        </c:title>
        <c:numFmt formatCode="0%"/>
        <c:majorTickMark val="none"/>
        <c:minorTickMark val="none"/>
        <c:spPr>
          <a:ln xmlns:a="http://schemas.openxmlformats.org/drawingml/2006/main" w="9525">
            <a:solidFill>
              <a:srgbClr val="CED8D5"/>
            </a:solidFill>
            <a:prstDash val="solid"/>
          </a:ln>
        </c:spPr>
        <c:txPr>
          <a:bodyPr xmlns:a="http://schemas.openxmlformats.org/drawingml/2006/main" anchorCtr="1"/>
          <a:lstStyle xmlns:a="http://schemas.openxmlformats.org/drawingml/2006/main"/>
          <a:p xmlns:a="http://schemas.openxmlformats.org/drawingml/2006/main">
            <a:pPr>
              <a:defRPr sz="1050">
                <a:solidFill>
                  <a:srgbClr val="1E302F"/>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charts/chart2.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650" b="1">
                <a:solidFill>
                  <a:srgbClr val="1E302F"/>
                </a:solidFill>
                <a:latin typeface="Arial"/>
                <a:ea typeface="Arial"/>
                <a:cs typeface="Arial"/>
              </a:rPr>
              <a:t>Mean absolute error by lead time</a:t>
            </a:r>
          </a:p>
        </c:rich>
      </c:tx>
      <c:overlay val="0"/>
      <c:txPr>
        <a:bodyPr xmlns:a="http://schemas.openxmlformats.org/drawingml/2006/main" anchorCtr="1"/>
        <a:lstStyle xmlns:a="http://schemas.openxmlformats.org/drawingml/2006/main"/>
        <a:p xmlns:a="http://schemas.openxmlformats.org/drawingml/2006/main">
          <a:pPr>
            <a:defRPr sz="1650" b="1">
              <a:solidFill>
                <a:srgbClr val="1E302F"/>
              </a:solidFill>
              <a:latin typeface="Arial"/>
              <a:ea typeface="Arial"/>
              <a:cs typeface="Arial"/>
            </a:defRPr>
          </a:pPr>
        </a:p>
      </c:txPr>
    </c:title>
    <c:plotArea>
      <c:lineChart>
        <c:grouping val="standard"/>
        <c:varyColors val="0"/>
        <c:ser>
          <c:idx val="0"/>
          <c:order val="0"/>
          <c:tx>
            <c:v>SARIMA(1,0,1)x(1,0,0,48)</c:v>
          </c:tx>
          <c:spPr>
            <a:solidFill xmlns:a="http://schemas.openxmlformats.org/drawingml/2006/main">
              <a:srgbClr val="D2644A"/>
            </a:solidFill>
            <a:ln xmlns:a="http://schemas.openxmlformats.org/drawingml/2006/main" w="28575">
              <a:solidFill>
                <a:srgbClr val="D2644A"/>
              </a:solidFill>
              <a:prstDash val="solid"/>
            </a:ln>
          </c:spPr>
          <c:marker>
            <c:symbol val="circle"/>
            <c:size val="5"/>
          </c:marker>
          <c:cat>
            <c:numLit>
              <c:formatCode>General</c:formatCode>
              <c:ptCount val="5"/>
              <c:pt idx="0">
                <c:v>1</c:v>
              </c:pt>
              <c:pt idx="1">
                <c:v>4</c:v>
              </c:pt>
              <c:pt idx="2">
                <c:v>12</c:v>
              </c:pt>
              <c:pt idx="3">
                <c:v>24</c:v>
              </c:pt>
              <c:pt idx="4">
                <c:v>48</c:v>
              </c:pt>
            </c:numLit>
          </c:cat>
          <c:val>
            <c:numLit>
              <c:formatCode>#,##0.0</c:formatCode>
              <c:ptCount val="5"/>
              <c:pt idx="0">
                <c:v>7.124229059485097</c:v>
              </c:pt>
              <c:pt idx="1">
                <c:v>15.047396000976466</c:v>
              </c:pt>
              <c:pt idx="2">
                <c:v>27.921913501436215</c:v>
              </c:pt>
              <c:pt idx="3">
                <c:v>33.815534833260116</c:v>
              </c:pt>
              <c:pt idx="4">
                <c:v>40.20508559879953</c:v>
              </c:pt>
            </c:numLit>
          </c:val>
          <c:smooth val="0"/>
        </c:ser>
        <c:ser>
          <c:idx val="1"/>
          <c:order val="1"/>
          <c:tx>
            <c:v>persistence</c:v>
          </c:tx>
          <c:spPr>
            <a:solidFill xmlns:a="http://schemas.openxmlformats.org/drawingml/2006/main">
              <a:srgbClr val="127C74"/>
            </a:solidFill>
            <a:ln xmlns:a="http://schemas.openxmlformats.org/drawingml/2006/main" w="28575">
              <a:solidFill>
                <a:srgbClr val="127C74"/>
              </a:solidFill>
              <a:prstDash val="solid"/>
            </a:ln>
          </c:spPr>
          <c:marker>
            <c:symbol val="circle"/>
            <c:size val="5"/>
          </c:marker>
          <c:cat>
            <c:numLit>
              <c:formatCode>General</c:formatCode>
              <c:ptCount val="5"/>
              <c:pt idx="0">
                <c:v>1</c:v>
              </c:pt>
              <c:pt idx="1">
                <c:v>4</c:v>
              </c:pt>
              <c:pt idx="2">
                <c:v>12</c:v>
              </c:pt>
              <c:pt idx="3">
                <c:v>24</c:v>
              </c:pt>
              <c:pt idx="4">
                <c:v>48</c:v>
              </c:pt>
            </c:numLit>
          </c:cat>
          <c:val>
            <c:numLit>
              <c:formatCode>#,##0.0</c:formatCode>
              <c:ptCount val="5"/>
              <c:pt idx="0">
                <c:v>8.781483134604349</c:v>
              </c:pt>
              <c:pt idx="1">
                <c:v>18.990114795918366</c:v>
              </c:pt>
              <c:pt idx="2">
                <c:v>35.440211842776925</c:v>
              </c:pt>
              <c:pt idx="3">
                <c:v>39.122733077905494</c:v>
              </c:pt>
              <c:pt idx="4">
                <c:v>41.434968698096334</c:v>
              </c:pt>
            </c:numLit>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CED8D5"/>
            </a:solidFill>
            <a:prstDash val="solid"/>
          </a:ln>
        </c:spPr>
        <c:txPr>
          <a:bodyPr xmlns:a="http://schemas.openxmlformats.org/drawingml/2006/main" anchorCtr="1"/>
          <a:lstStyle xmlns:a="http://schemas.openxmlformats.org/drawingml/2006/main"/>
          <a:p xmlns:a="http://schemas.openxmlformats.org/drawingml/2006/main">
            <a:pPr>
              <a:defRPr sz="1125">
                <a:solidFill>
                  <a:srgbClr val="1E302F"/>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E9EFED"/>
              </a:solidFill>
              <a:prstDash val="solid"/>
            </a:ln>
          </c:spPr>
        </c:majorGridlines>
        <c:title>
          <c:tx>
            <c:rich>
              <a:bodyPr xmlns:a="http://schemas.openxmlformats.org/drawingml/2006/main"/>
              <a:lstStyle xmlns:a="http://schemas.openxmlformats.org/drawingml/2006/main"/>
              <a:p xmlns:a="http://schemas.openxmlformats.org/drawingml/2006/main">
                <a:r>
                  <a:rPr sz="1200">
                    <a:solidFill>
                      <a:srgbClr val="1E302F"/>
                    </a:solidFill>
                    <a:latin typeface="Arial"/>
                    <a:ea typeface="Arial"/>
                    <a:cs typeface="Arial"/>
                  </a:rPr>
                  <a:t>MAE (gCO2/kWh)</a:t>
                </a:r>
              </a:p>
            </c:rich>
          </c:tx>
          <c:overlay val="0"/>
          <c:txPr>
            <a:bodyPr xmlns:a="http://schemas.openxmlformats.org/drawingml/2006/main" anchorCtr="1"/>
            <a:lstStyle xmlns:a="http://schemas.openxmlformats.org/drawingml/2006/main"/>
            <a:p xmlns:a="http://schemas.openxmlformats.org/drawingml/2006/main">
              <a:pPr>
                <a:defRPr sz="1200">
                  <a:solidFill>
                    <a:srgbClr val="1E302F"/>
                  </a:solidFill>
                  <a:latin typeface="Arial"/>
                  <a:ea typeface="Arial"/>
                  <a:cs typeface="Arial"/>
                </a:defRPr>
              </a:pPr>
            </a:p>
          </c:txPr>
        </c:title>
        <c:numFmt formatCode="#,##0.0"/>
        <c:majorTickMark val="none"/>
        <c:minorTickMark val="none"/>
        <c:spPr>
          <a:ln xmlns:a="http://schemas.openxmlformats.org/drawingml/2006/main" w="9525">
            <a:solidFill>
              <a:srgbClr val="CED8D5"/>
            </a:solidFill>
            <a:prstDash val="solid"/>
          </a:ln>
        </c:spPr>
        <c:txPr>
          <a:bodyPr xmlns:a="http://schemas.openxmlformats.org/drawingml/2006/main" anchorCtr="1"/>
          <a:lstStyle xmlns:a="http://schemas.openxmlformats.org/drawingml/2006/main"/>
          <a:p xmlns:a="http://schemas.openxmlformats.org/drawingml/2006/main">
            <a:pPr>
              <a:defRPr sz="1050">
                <a:solidFill>
                  <a:srgbClr val="1E302F"/>
                </a:solidFill>
                <a:latin typeface="Arial"/>
                <a:ea typeface="Arial"/>
                <a:cs typeface="Aria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1E302F"/>
              </a:solidFill>
              <a:latin typeface="Arial"/>
              <a:ea typeface="Arial"/>
              <a:cs typeface="Arial"/>
            </a:defRPr>
          </a:pPr>
        </a:p>
      </c:txPr>
    </c:legend>
    <c:plotVisOnly val="1"/>
  </c:chart>
  <c:spPr>
    <a:solidFill xmlns:a="http://schemas.openxmlformats.org/drawingml/2006/main">
      <a:srgbClr val="FFFFFF"/>
    </a:solidFill>
  </c:spPr>
</c:chartSpace>
</file>

<file path=ppt/slides/charts/chart3.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650" b="1">
                <a:solidFill>
                  <a:srgbClr val="1E302F"/>
                </a:solidFill>
                <a:latin typeface="Arial"/>
                <a:ea typeface="Arial"/>
                <a:cs typeface="Arial"/>
              </a:rPr>
              <a:t>Locked-test MAE by lead time</a:t>
            </a:r>
          </a:p>
        </c:rich>
      </c:tx>
      <c:overlay val="0"/>
      <c:txPr>
        <a:bodyPr xmlns:a="http://schemas.openxmlformats.org/drawingml/2006/main" anchorCtr="1"/>
        <a:lstStyle xmlns:a="http://schemas.openxmlformats.org/drawingml/2006/main"/>
        <a:p xmlns:a="http://schemas.openxmlformats.org/drawingml/2006/main">
          <a:pPr>
            <a:defRPr sz="1650" b="1">
              <a:solidFill>
                <a:srgbClr val="1E302F"/>
              </a:solidFill>
              <a:latin typeface="Arial"/>
              <a:ea typeface="Arial"/>
              <a:cs typeface="Arial"/>
            </a:defRPr>
          </a:pPr>
        </a:p>
      </c:txPr>
    </c:title>
    <c:plotArea>
      <c:lineChart>
        <c:grouping val="standard"/>
        <c:varyColors val="0"/>
        <c:ser>
          <c:idx val="0"/>
          <c:order val="0"/>
          <c:tx>
            <c:v>SARIMA(1,0,1)x(1,0,0,48)</c:v>
          </c:tx>
          <c:spPr>
            <a:solidFill xmlns:a="http://schemas.openxmlformats.org/drawingml/2006/main">
              <a:srgbClr val="D2644A"/>
            </a:solidFill>
            <a:ln xmlns:a="http://schemas.openxmlformats.org/drawingml/2006/main" w="28575">
              <a:solidFill>
                <a:srgbClr val="D2644A"/>
              </a:solidFill>
              <a:prstDash val="solid"/>
            </a:ln>
          </c:spPr>
          <c:marker>
            <c:symbol val="circle"/>
            <c:size val="5"/>
          </c:marker>
          <c:cat>
            <c:numLit>
              <c:formatCode>General</c:formatCode>
              <c:ptCount val="5"/>
              <c:pt idx="0">
                <c:v>1</c:v>
              </c:pt>
              <c:pt idx="1">
                <c:v>4</c:v>
              </c:pt>
              <c:pt idx="2">
                <c:v>12</c:v>
              </c:pt>
              <c:pt idx="3">
                <c:v>24</c:v>
              </c:pt>
              <c:pt idx="4">
                <c:v>48</c:v>
              </c:pt>
            </c:numLit>
          </c:cat>
          <c:val>
            <c:numLit>
              <c:formatCode>#,##0.0</c:formatCode>
              <c:ptCount val="5"/>
              <c:pt idx="0">
                <c:v>6.926005204817896</c:v>
              </c:pt>
              <c:pt idx="1">
                <c:v>14.876816256256983</c:v>
              </c:pt>
              <c:pt idx="2">
                <c:v>27.78736609936195</c:v>
              </c:pt>
              <c:pt idx="3">
                <c:v>33.41171986353712</c:v>
              </c:pt>
              <c:pt idx="4">
                <c:v>39.26248490790846</c:v>
              </c:pt>
            </c:numLit>
          </c:val>
          <c:smooth val="0"/>
        </c:ser>
        <c:ser>
          <c:idx val="1"/>
          <c:order val="1"/>
          <c:tx>
            <c:v>persistence</c:v>
          </c:tx>
          <c:spPr>
            <a:solidFill xmlns:a="http://schemas.openxmlformats.org/drawingml/2006/main">
              <a:srgbClr val="127C74"/>
            </a:solidFill>
            <a:ln xmlns:a="http://schemas.openxmlformats.org/drawingml/2006/main" w="28575">
              <a:solidFill>
                <a:srgbClr val="127C74"/>
              </a:solidFill>
              <a:prstDash val="solid"/>
            </a:ln>
          </c:spPr>
          <c:marker>
            <c:symbol val="circle"/>
            <c:size val="5"/>
          </c:marker>
          <c:cat>
            <c:numLit>
              <c:formatCode>General</c:formatCode>
              <c:ptCount val="5"/>
              <c:pt idx="0">
                <c:v>1</c:v>
              </c:pt>
              <c:pt idx="1">
                <c:v>4</c:v>
              </c:pt>
              <c:pt idx="2">
                <c:v>12</c:v>
              </c:pt>
              <c:pt idx="3">
                <c:v>24</c:v>
              </c:pt>
              <c:pt idx="4">
                <c:v>48</c:v>
              </c:pt>
            </c:numLit>
          </c:cat>
          <c:val>
            <c:numLit>
              <c:formatCode>#,##0.0</c:formatCode>
              <c:ptCount val="5"/>
              <c:pt idx="0">
                <c:v>9.100516246583663</c:v>
              </c:pt>
              <c:pt idx="1">
                <c:v>20.068569693288794</c:v>
              </c:pt>
              <c:pt idx="2">
                <c:v>37.386334649256</c:v>
              </c:pt>
              <c:pt idx="3">
                <c:v>39.24998481627695</c:v>
              </c:pt>
              <c:pt idx="4">
                <c:v>39.804615851806865</c:v>
              </c:pt>
            </c:numLit>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CED8D5"/>
            </a:solidFill>
            <a:prstDash val="solid"/>
          </a:ln>
        </c:spPr>
        <c:txPr>
          <a:bodyPr xmlns:a="http://schemas.openxmlformats.org/drawingml/2006/main" anchorCtr="1"/>
          <a:lstStyle xmlns:a="http://schemas.openxmlformats.org/drawingml/2006/main"/>
          <a:p xmlns:a="http://schemas.openxmlformats.org/drawingml/2006/main">
            <a:pPr>
              <a:defRPr sz="1125">
                <a:solidFill>
                  <a:srgbClr val="1E302F"/>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E9EFED"/>
              </a:solidFill>
              <a:prstDash val="solid"/>
            </a:ln>
          </c:spPr>
        </c:majorGridlines>
        <c:title>
          <c:tx>
            <c:rich>
              <a:bodyPr xmlns:a="http://schemas.openxmlformats.org/drawingml/2006/main"/>
              <a:lstStyle xmlns:a="http://schemas.openxmlformats.org/drawingml/2006/main"/>
              <a:p xmlns:a="http://schemas.openxmlformats.org/drawingml/2006/main">
                <a:r>
                  <a:rPr sz="1200">
                    <a:solidFill>
                      <a:srgbClr val="1E302F"/>
                    </a:solidFill>
                    <a:latin typeface="Arial"/>
                    <a:ea typeface="Arial"/>
                    <a:cs typeface="Arial"/>
                  </a:rPr>
                  <a:t>MAE (gCO2/kWh)</a:t>
                </a:r>
              </a:p>
            </c:rich>
          </c:tx>
          <c:overlay val="0"/>
          <c:txPr>
            <a:bodyPr xmlns:a="http://schemas.openxmlformats.org/drawingml/2006/main" anchorCtr="1"/>
            <a:lstStyle xmlns:a="http://schemas.openxmlformats.org/drawingml/2006/main"/>
            <a:p xmlns:a="http://schemas.openxmlformats.org/drawingml/2006/main">
              <a:pPr>
                <a:defRPr sz="1200">
                  <a:solidFill>
                    <a:srgbClr val="1E302F"/>
                  </a:solidFill>
                  <a:latin typeface="Arial"/>
                  <a:ea typeface="Arial"/>
                  <a:cs typeface="Arial"/>
                </a:defRPr>
              </a:pPr>
            </a:p>
          </c:txPr>
        </c:title>
        <c:numFmt formatCode="#,##0.0"/>
        <c:majorTickMark val="none"/>
        <c:minorTickMark val="none"/>
        <c:spPr>
          <a:ln xmlns:a="http://schemas.openxmlformats.org/drawingml/2006/main" w="9525">
            <a:solidFill>
              <a:srgbClr val="CED8D5"/>
            </a:solidFill>
            <a:prstDash val="solid"/>
          </a:ln>
        </c:spPr>
        <c:txPr>
          <a:bodyPr xmlns:a="http://schemas.openxmlformats.org/drawingml/2006/main" anchorCtr="1"/>
          <a:lstStyle xmlns:a="http://schemas.openxmlformats.org/drawingml/2006/main"/>
          <a:p xmlns:a="http://schemas.openxmlformats.org/drawingml/2006/main">
            <a:pPr>
              <a:defRPr sz="1050">
                <a:solidFill>
                  <a:srgbClr val="1E302F"/>
                </a:solidFill>
                <a:latin typeface="Arial"/>
                <a:ea typeface="Arial"/>
                <a:cs typeface="Aria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1E302F"/>
              </a:solidFill>
              <a:latin typeface="Arial"/>
              <a:ea typeface="Arial"/>
              <a:cs typeface="Arial"/>
            </a:defRPr>
          </a:pPr>
        </a:p>
      </c:txPr>
    </c:legend>
    <c:plotVisOnly val="1"/>
  </c:chart>
  <c:spPr>
    <a:solidFill xmlns:a="http://schemas.openxmlformats.org/drawingml/2006/main">
      <a:srgbClr val="FFFFFF"/>
    </a:solidFill>
  </c:spPr>
</c:chartSpace>
</file>

<file path=ppt/slides/charts/chart4.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650" b="1">
                <a:solidFill>
                  <a:srgbClr val="1E302F"/>
                </a:solidFill>
                <a:latin typeface="Arial"/>
                <a:ea typeface="Arial"/>
                <a:cs typeface="Arial"/>
              </a:rPr>
              <a:t>Mean realized emissions per eligible job</a:t>
            </a:r>
          </a:p>
        </c:rich>
      </c:tx>
      <c:overlay val="0"/>
      <c:txPr>
        <a:bodyPr xmlns:a="http://schemas.openxmlformats.org/drawingml/2006/main" anchorCtr="1"/>
        <a:lstStyle xmlns:a="http://schemas.openxmlformats.org/drawingml/2006/main"/>
        <a:p xmlns:a="http://schemas.openxmlformats.org/drawingml/2006/main">
          <a:pPr>
            <a:defRPr sz="1650" b="1">
              <a:solidFill>
                <a:srgbClr val="1E302F"/>
              </a:solidFill>
              <a:latin typeface="Arial"/>
              <a:ea typeface="Arial"/>
              <a:cs typeface="Arial"/>
            </a:defRPr>
          </a:pPr>
        </a:p>
      </c:txPr>
    </c:title>
    <c:plotArea>
      <c:barChart>
        <c:barDir val="col"/>
        <c:grouping val="clustered"/>
        <c:varyColors val="0"/>
        <c:ser>
          <c:idx val="0"/>
          <c:order val="0"/>
          <c:tx>
            <c:v>Mean realized emissions</c:v>
          </c:tx>
          <c:spPr>
            <a:solidFill xmlns:a="http://schemas.openxmlformats.org/drawingml/2006/main">
              <a:srgbClr val="127C74"/>
            </a:solidFill>
            <a:ln xmlns:a="http://schemas.openxmlformats.org/drawingml/2006/main" w="28575">
              <a:solidFill>
                <a:srgbClr val="127C74"/>
              </a:solidFill>
              <a:prstDash val="solid"/>
            </a:ln>
          </c:spPr>
          <c:invertIfNegative val="0"/>
          <c:cat>
            <c:strLit>
              <c:ptCount val="4"/>
              <c:pt idx="0">
                <c:v>earliest</c:v>
              </c:pt>
              <c:pt idx="1">
                <c:v>seeded_random</c:v>
              </c:pt>
              <c:pt idx="2">
                <c:v>oracle (oracle)</c:v>
              </c:pt>
              <c:pt idx="3">
                <c:v>forecast</c:v>
              </c:pt>
            </c:strLit>
          </c:cat>
          <c:val>
            <c:numLit>
              <c:formatCode>#,##0.0</c:formatCode>
              <c:ptCount val="4"/>
              <c:pt idx="0">
                <c:v>124.03246138002059</c:v>
              </c:pt>
              <c:pt idx="1">
                <c:v>123.52799176107105</c:v>
              </c:pt>
              <c:pt idx="2">
                <c:v>97.223728115345</c:v>
              </c:pt>
              <c:pt idx="3">
                <c:v>108.63505664263646</c:v>
              </c:pt>
            </c:numLit>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5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ED8D5"/>
            </a:solidFill>
            <a:prstDash val="solid"/>
          </a:ln>
        </c:spPr>
        <c:txPr>
          <a:bodyPr xmlns:a="http://schemas.openxmlformats.org/drawingml/2006/main" anchorCtr="1"/>
          <a:lstStyle xmlns:a="http://schemas.openxmlformats.org/drawingml/2006/main"/>
          <a:p xmlns:a="http://schemas.openxmlformats.org/drawingml/2006/main">
            <a:pPr>
              <a:defRPr sz="1125">
                <a:solidFill>
                  <a:srgbClr val="1E302F"/>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E9EFED"/>
              </a:solidFill>
              <a:prstDash val="solid"/>
            </a:ln>
          </c:spPr>
        </c:majorGridlines>
        <c:title>
          <c:tx>
            <c:rich>
              <a:bodyPr xmlns:a="http://schemas.openxmlformats.org/drawingml/2006/main"/>
              <a:lstStyle xmlns:a="http://schemas.openxmlformats.org/drawingml/2006/main"/>
              <a:p xmlns:a="http://schemas.openxmlformats.org/drawingml/2006/main">
                <a:r>
                  <a:rPr sz="1200">
                    <a:solidFill>
                      <a:srgbClr val="1E302F"/>
                    </a:solidFill>
                    <a:latin typeface="Arial"/>
                    <a:ea typeface="Arial"/>
                    <a:cs typeface="Arial"/>
                  </a:rPr>
                  <a:t>gCO2</a:t>
                </a:r>
              </a:p>
            </c:rich>
          </c:tx>
          <c:overlay val="0"/>
          <c:txPr>
            <a:bodyPr xmlns:a="http://schemas.openxmlformats.org/drawingml/2006/main" anchorCtr="1"/>
            <a:lstStyle xmlns:a="http://schemas.openxmlformats.org/drawingml/2006/main"/>
            <a:p xmlns:a="http://schemas.openxmlformats.org/drawingml/2006/main">
              <a:pPr>
                <a:defRPr sz="1200">
                  <a:solidFill>
                    <a:srgbClr val="1E302F"/>
                  </a:solidFill>
                  <a:latin typeface="Arial"/>
                  <a:ea typeface="Arial"/>
                  <a:cs typeface="Arial"/>
                </a:defRPr>
              </a:pPr>
            </a:p>
          </c:txPr>
        </c:title>
        <c:numFmt formatCode="#,##0.0"/>
        <c:majorTickMark val="none"/>
        <c:minorTickMark val="none"/>
        <c:spPr>
          <a:ln xmlns:a="http://schemas.openxmlformats.org/drawingml/2006/main" w="9525">
            <a:solidFill>
              <a:srgbClr val="CED8D5"/>
            </a:solidFill>
            <a:prstDash val="solid"/>
          </a:ln>
        </c:spPr>
        <c:txPr>
          <a:bodyPr xmlns:a="http://schemas.openxmlformats.org/drawingml/2006/main" anchorCtr="1"/>
          <a:lstStyle xmlns:a="http://schemas.openxmlformats.org/drawingml/2006/main"/>
          <a:p xmlns:a="http://schemas.openxmlformats.org/drawingml/2006/main">
            <a:pPr>
              <a:defRPr sz="1050">
                <a:solidFill>
                  <a:srgbClr val="1E302F"/>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1-title">
            <a:extLst xmlns:a="http://schemas.openxmlformats.org/drawingml/2006/main">
              <a:ext uri="{FF2B5EF4-FFF2-40B4-BE49-F238E27FC236}">
                <a16:creationId xmlns:a16="http://schemas.microsoft.com/office/drawing/2014/main" id="{E3B63B31-6186-42A1-AD5E-1DF808ACDD45}"/>
              </a:ext>
            </a:extLst>
          </p:cNvPr>
          <p:cNvSpPr>
            <a:spLocks xmlns:a="http://schemas.openxmlformats.org/drawingml/2006/main" noGrp="1"/>
          </p:cNvSpPr>
          <p:nvPr/>
        </p:nvSpPr>
        <p:spPr>
          <a:xfrm xmlns:a="http://schemas.openxmlformats.org/drawingml/2006/main">
            <a:off x="685800" y="838200"/>
            <a:ext cx="5810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5400" b="1">
                <a:solidFill>
                  <a:srgbClr val="176B66"/>
                </a:solidFill>
                <a:latin typeface="Arial"/>
                <a:ea typeface="Arial"/>
                <a:cs typeface="Arial"/>
              </a:defRPr>
            </a:defPPr>
            <a:lvl1pPr algn="l">
              <a:defRPr sz="5400" b="1">
                <a:solidFill>
                  <a:srgbClr val="176B66"/>
                </a:solidFill>
                <a:latin typeface="Arial"/>
                <a:ea typeface="Arial"/>
                <a:cs typeface="Arial"/>
              </a:defRPr>
            </a:lvl1pPr>
            <a:lvl2pPr algn="l">
              <a:defRPr sz="5400" b="1">
                <a:solidFill>
                  <a:srgbClr val="176B66"/>
                </a:solidFill>
                <a:latin typeface="Arial"/>
                <a:ea typeface="Arial"/>
                <a:cs typeface="Arial"/>
              </a:defRPr>
            </a:lvl2pPr>
            <a:lvl3pPr algn="l">
              <a:defRPr sz="5400" b="1">
                <a:solidFill>
                  <a:srgbClr val="176B66"/>
                </a:solidFill>
                <a:latin typeface="Arial"/>
                <a:ea typeface="Arial"/>
                <a:cs typeface="Arial"/>
              </a:defRPr>
            </a:lvl3pPr>
            <a:lvl4pPr algn="l">
              <a:defRPr sz="5400" b="1">
                <a:solidFill>
                  <a:srgbClr val="176B66"/>
                </a:solidFill>
                <a:latin typeface="Arial"/>
                <a:ea typeface="Arial"/>
                <a:cs typeface="Arial"/>
              </a:defRPr>
            </a:lvl4pPr>
            <a:lvl5pPr algn="l">
              <a:defRPr sz="5400" b="1">
                <a:solidFill>
                  <a:srgbClr val="176B66"/>
                </a:solidFill>
                <a:latin typeface="Arial"/>
                <a:ea typeface="Arial"/>
                <a:cs typeface="Arial"/>
              </a:defRPr>
            </a:lvl5pPr>
            <a:lvl6pPr algn="l">
              <a:defRPr sz="5400" b="1">
                <a:solidFill>
                  <a:srgbClr val="176B66"/>
                </a:solidFill>
                <a:latin typeface="Arial"/>
                <a:ea typeface="Arial"/>
                <a:cs typeface="Arial"/>
              </a:defRPr>
            </a:lvl6pPr>
            <a:lvl7pPr algn="l">
              <a:defRPr sz="5400" b="1">
                <a:solidFill>
                  <a:srgbClr val="176B66"/>
                </a:solidFill>
                <a:latin typeface="Arial"/>
                <a:ea typeface="Arial"/>
                <a:cs typeface="Arial"/>
              </a:defRPr>
            </a:lvl7pPr>
            <a:lvl8pPr algn="l">
              <a:defRPr sz="5400" b="1">
                <a:solidFill>
                  <a:srgbClr val="176B66"/>
                </a:solidFill>
                <a:latin typeface="Arial"/>
                <a:ea typeface="Arial"/>
                <a:cs typeface="Arial"/>
              </a:defRPr>
            </a:lvl8pPr>
            <a:lvl9pPr algn="l">
              <a:defRPr sz="5400" b="1">
                <a:solidFill>
                  <a:srgbClr val="176B66"/>
                </a:solidFill>
                <a:latin typeface="Arial"/>
                <a:ea typeface="Arial"/>
                <a:cs typeface="Arial"/>
              </a:defRPr>
            </a:lvl9pPr>
          </a:lstStyle>
          <a:p xmlns:a="http://schemas.openxmlformats.org/drawingml/2006/main">
            <a:pPr algn="l">
              <a:defRPr sz="5400" b="1">
                <a:solidFill>
                  <a:srgbClr val="176B66"/>
                </a:solidFill>
                <a:latin typeface="Arial"/>
                <a:ea typeface="Arial"/>
                <a:cs typeface="Arial"/>
              </a:defRPr>
            </a:pPr>
            <a:r>
              <a:rPr sz="5400" b="1">
                <a:solidFill>
                  <a:srgbClr val="176B66"/>
                </a:solidFill>
                <a:latin typeface="Arial"/>
                <a:ea typeface="Arial"/>
                <a:cs typeface="Arial"/>
              </a:rPr>
              <a:t>GridShift</a:t>
            </a:r>
          </a:p>
        </p:txBody>
      </p:sp>
      <p:sp>
        <p:nvSpPr>
          <p:cNvPr id="2" name="slide-1-subtitle">
            <a:extLst xmlns:a="http://schemas.openxmlformats.org/drawingml/2006/main">
              <a:ext uri="{FF2B5EF4-FFF2-40B4-BE49-F238E27FC236}">
                <a16:creationId xmlns:a16="http://schemas.microsoft.com/office/drawing/2014/main" id="{8238DDF0-9B0E-4EA8-BD8D-D87139909F5C}"/>
              </a:ext>
            </a:extLst>
          </p:cNvPr>
          <p:cNvSpPr>
            <a:spLocks xmlns:a="http://schemas.openxmlformats.org/drawingml/2006/main" noGrp="1"/>
          </p:cNvSpPr>
          <p:nvPr/>
        </p:nvSpPr>
        <p:spPr>
          <a:xfrm xmlns:a="http://schemas.openxmlformats.org/drawingml/2006/main">
            <a:off x="723900" y="1714500"/>
            <a:ext cx="55721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100">
                <a:solidFill>
                  <a:srgbClr val="536468"/>
                </a:solidFill>
                <a:latin typeface="Arial"/>
                <a:ea typeface="Arial"/>
                <a:cs typeface="Arial"/>
              </a:defRPr>
            </a:defPPr>
            <a:lvl1pPr algn="l">
              <a:defRPr sz="2100">
                <a:solidFill>
                  <a:srgbClr val="536468"/>
                </a:solidFill>
                <a:latin typeface="Arial"/>
                <a:ea typeface="Arial"/>
                <a:cs typeface="Arial"/>
              </a:defRPr>
            </a:lvl1pPr>
            <a:lvl2pPr algn="l">
              <a:defRPr sz="2100">
                <a:solidFill>
                  <a:srgbClr val="536468"/>
                </a:solidFill>
                <a:latin typeface="Arial"/>
                <a:ea typeface="Arial"/>
                <a:cs typeface="Arial"/>
              </a:defRPr>
            </a:lvl2pPr>
            <a:lvl3pPr algn="l">
              <a:defRPr sz="2100">
                <a:solidFill>
                  <a:srgbClr val="536468"/>
                </a:solidFill>
                <a:latin typeface="Arial"/>
                <a:ea typeface="Arial"/>
                <a:cs typeface="Arial"/>
              </a:defRPr>
            </a:lvl3pPr>
            <a:lvl4pPr algn="l">
              <a:defRPr sz="2100">
                <a:solidFill>
                  <a:srgbClr val="536468"/>
                </a:solidFill>
                <a:latin typeface="Arial"/>
                <a:ea typeface="Arial"/>
                <a:cs typeface="Arial"/>
              </a:defRPr>
            </a:lvl4pPr>
            <a:lvl5pPr algn="l">
              <a:defRPr sz="2100">
                <a:solidFill>
                  <a:srgbClr val="536468"/>
                </a:solidFill>
                <a:latin typeface="Arial"/>
                <a:ea typeface="Arial"/>
                <a:cs typeface="Arial"/>
              </a:defRPr>
            </a:lvl5pPr>
            <a:lvl6pPr algn="l">
              <a:defRPr sz="2100">
                <a:solidFill>
                  <a:srgbClr val="536468"/>
                </a:solidFill>
                <a:latin typeface="Arial"/>
                <a:ea typeface="Arial"/>
                <a:cs typeface="Arial"/>
              </a:defRPr>
            </a:lvl6pPr>
            <a:lvl7pPr algn="l">
              <a:defRPr sz="2100">
                <a:solidFill>
                  <a:srgbClr val="536468"/>
                </a:solidFill>
                <a:latin typeface="Arial"/>
                <a:ea typeface="Arial"/>
                <a:cs typeface="Arial"/>
              </a:defRPr>
            </a:lvl7pPr>
            <a:lvl8pPr algn="l">
              <a:defRPr sz="2100">
                <a:solidFill>
                  <a:srgbClr val="536468"/>
                </a:solidFill>
                <a:latin typeface="Arial"/>
                <a:ea typeface="Arial"/>
                <a:cs typeface="Arial"/>
              </a:defRPr>
            </a:lvl8pPr>
            <a:lvl9pPr algn="l">
              <a:defRPr sz="2100">
                <a:solidFill>
                  <a:srgbClr val="536468"/>
                </a:solidFill>
                <a:latin typeface="Arial"/>
                <a:ea typeface="Arial"/>
                <a:cs typeface="Arial"/>
              </a:defRPr>
            </a:lvl9pPr>
          </a:lstStyle>
          <a:p xmlns:a="http://schemas.openxmlformats.org/drawingml/2006/main">
            <a:pPr algn="l">
              <a:defRPr sz="2100">
                <a:solidFill>
                  <a:srgbClr val="536468"/>
                </a:solidFill>
                <a:latin typeface="Arial"/>
                <a:ea typeface="Arial"/>
                <a:cs typeface="Arial"/>
              </a:defRPr>
            </a:pPr>
            <a:r>
              <a:rPr sz="2100">
                <a:solidFill>
                  <a:srgbClr val="536468"/>
                </a:solidFill>
                <a:latin typeface="Arial"/>
                <a:ea typeface="Arial"/>
                <a:cs typeface="Arial"/>
              </a:rPr>
              <a:t>Carbon-aware GPU workload scheduling with classical time-series forecasts</a:t>
            </a:r>
          </a:p>
        </p:txBody>
      </p:sp>
      <p:sp>
        <p:nvSpPr>
          <p:cNvPr id="3" name="slide-1-bullets">
            <a:extLst xmlns:a="http://schemas.openxmlformats.org/drawingml/2006/main">
              <a:ext uri="{FF2B5EF4-FFF2-40B4-BE49-F238E27FC236}">
                <a16:creationId xmlns:a16="http://schemas.microsoft.com/office/drawing/2014/main" id="{399CBE07-B66B-405A-A4DF-0AF54AD96D89}"/>
              </a:ext>
            </a:extLst>
          </p:cNvPr>
          <p:cNvSpPr>
            <a:spLocks xmlns:a="http://schemas.openxmlformats.org/drawingml/2006/main" noGrp="1"/>
          </p:cNvSpPr>
          <p:nvPr/>
        </p:nvSpPr>
        <p:spPr>
          <a:xfrm xmlns:a="http://schemas.openxmlformats.org/drawingml/2006/main">
            <a:off x="742950" y="3143250"/>
            <a:ext cx="54292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a:solidFill>
                  <a:srgbClr val="1E302F"/>
                </a:solidFill>
                <a:latin typeface="Arial"/>
                <a:ea typeface="Arial"/>
                <a:cs typeface="Arial"/>
              </a:defRPr>
            </a:defPPr>
            <a:lvl1pPr>
              <a:defRPr sz="1725">
                <a:solidFill>
                  <a:srgbClr val="1E302F"/>
                </a:solidFill>
                <a:latin typeface="Arial"/>
                <a:ea typeface="Arial"/>
                <a:cs typeface="Arial"/>
              </a:defRPr>
            </a:lvl1pPr>
            <a:lvl2pPr>
              <a:defRPr sz="1725">
                <a:solidFill>
                  <a:srgbClr val="1E302F"/>
                </a:solidFill>
                <a:latin typeface="Arial"/>
                <a:ea typeface="Arial"/>
                <a:cs typeface="Arial"/>
              </a:defRPr>
            </a:lvl2pPr>
            <a:lvl3pPr>
              <a:defRPr sz="1725">
                <a:solidFill>
                  <a:srgbClr val="1E302F"/>
                </a:solidFill>
                <a:latin typeface="Arial"/>
                <a:ea typeface="Arial"/>
                <a:cs typeface="Arial"/>
              </a:defRPr>
            </a:lvl3pPr>
            <a:lvl4pPr>
              <a:defRPr sz="1725">
                <a:solidFill>
                  <a:srgbClr val="1E302F"/>
                </a:solidFill>
                <a:latin typeface="Arial"/>
                <a:ea typeface="Arial"/>
                <a:cs typeface="Arial"/>
              </a:defRPr>
            </a:lvl4pPr>
            <a:lvl5pPr>
              <a:defRPr sz="1725">
                <a:solidFill>
                  <a:srgbClr val="1E302F"/>
                </a:solidFill>
                <a:latin typeface="Arial"/>
                <a:ea typeface="Arial"/>
                <a:cs typeface="Arial"/>
              </a:defRPr>
            </a:lvl5pPr>
            <a:lvl6pPr>
              <a:defRPr sz="1725">
                <a:solidFill>
                  <a:srgbClr val="1E302F"/>
                </a:solidFill>
                <a:latin typeface="Arial"/>
                <a:ea typeface="Arial"/>
                <a:cs typeface="Arial"/>
              </a:defRPr>
            </a:lvl6pPr>
            <a:lvl7pPr>
              <a:defRPr sz="1725">
                <a:solidFill>
                  <a:srgbClr val="1E302F"/>
                </a:solidFill>
                <a:latin typeface="Arial"/>
                <a:ea typeface="Arial"/>
                <a:cs typeface="Arial"/>
              </a:defRPr>
            </a:lvl7pPr>
            <a:lvl8pPr>
              <a:defRPr sz="1725">
                <a:solidFill>
                  <a:srgbClr val="1E302F"/>
                </a:solidFill>
                <a:latin typeface="Arial"/>
                <a:ea typeface="Arial"/>
                <a:cs typeface="Arial"/>
              </a:defRPr>
            </a:lvl8pPr>
            <a:lvl9pPr>
              <a:defRPr sz="1725">
                <a:solidFill>
                  <a:srgbClr val="1E302F"/>
                </a:solidFill>
                <a:latin typeface="Arial"/>
                <a:ea typeface="Arial"/>
                <a:cs typeface="Arial"/>
              </a:defRPr>
            </a:lvl9pPr>
          </a:lstStyle>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Study ID d2dee2d358735d7d</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Target: NESO estimated GB intensity, gCO2/kWh</a:t>
            </a:r>
          </a:p>
        </p:txBody>
      </p:sp>
      <p:pic>
        <p:nvPicPr>
          <p:cNvPr id="4" name="">
            <a:extLst xmlns:a="http://schemas.openxmlformats.org/drawingml/2006/main">
              <a:ext uri="{FF2B5EF4-FFF2-40B4-BE49-F238E27FC236}">
                <a16:creationId xmlns:a16="http://schemas.microsoft.com/office/drawing/2014/main" id="{5F111FD3-7852-415C-9A47-8967524A7C14}"/>
              </a:ext>
            </a:extLst>
          </p:cNvPr>
          <p:cNvPicPr>
            <a:picLocks xmlns:a="http://schemas.openxmlformats.org/drawingml/2006/main" noChangeAspect="1"/>
          </p:cNvPicPr>
          <p:nvPr/>
        </p:nvPicPr>
        <p:blipFill>
          <a:blip xmlns:r="http://schemas.openxmlformats.org/officeDocument/2006/relationships" xmlns:a="http://schemas.openxmlformats.org/drawingml/2006/main" r:embed="Rf90be0974e15490a"/>
          <a:stretch xmlns:a="http://schemas.openxmlformats.org/drawingml/2006/main"/>
        </p:blipFill>
        <p:spPr>
          <a:xfrm xmlns:a="http://schemas.openxmlformats.org/drawingml/2006/main">
            <a:off x="6762750" y="2701018"/>
            <a:ext cx="4762500" cy="1360714"/>
          </a:xfrm>
          <a:prstGeom xmlns:a="http://schemas.openxmlformats.org/drawingml/2006/main" prst="rect">
            <a:avLst/>
          </a:prstGeom>
        </p:spPr>
      </p:pic>
      <p:sp>
        <p:nvSpPr>
          <p:cNvPr id="5" name="slide-1-caption">
            <a:extLst xmlns:a="http://schemas.openxmlformats.org/drawingml/2006/main">
              <a:ext uri="{FF2B5EF4-FFF2-40B4-BE49-F238E27FC236}">
                <a16:creationId xmlns:a16="http://schemas.microsoft.com/office/drawing/2014/main" id="{08587842-F39C-4F65-9FD6-33639B496D59}"/>
              </a:ext>
            </a:extLst>
          </p:cNvPr>
          <p:cNvSpPr>
            <a:spLocks xmlns:a="http://schemas.openxmlformats.org/drawingml/2006/main" noGrp="1"/>
          </p:cNvSpPr>
          <p:nvPr/>
        </p:nvSpPr>
        <p:spPr>
          <a:xfrm xmlns:a="http://schemas.openxmlformats.org/drawingml/2006/main">
            <a:off x="6858000" y="5905500"/>
            <a:ext cx="457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75">
                <a:solidFill>
                  <a:srgbClr val="536468"/>
                </a:solidFill>
                <a:latin typeface="Arial"/>
                <a:ea typeface="Arial"/>
                <a:cs typeface="Arial"/>
              </a:defRPr>
            </a:defPPr>
            <a:lvl1pPr algn="l">
              <a:defRPr sz="1275">
                <a:solidFill>
                  <a:srgbClr val="536468"/>
                </a:solidFill>
                <a:latin typeface="Arial"/>
                <a:ea typeface="Arial"/>
                <a:cs typeface="Arial"/>
              </a:defRPr>
            </a:lvl1pPr>
            <a:lvl2pPr algn="l">
              <a:defRPr sz="1275">
                <a:solidFill>
                  <a:srgbClr val="536468"/>
                </a:solidFill>
                <a:latin typeface="Arial"/>
                <a:ea typeface="Arial"/>
                <a:cs typeface="Arial"/>
              </a:defRPr>
            </a:lvl2pPr>
            <a:lvl3pPr algn="l">
              <a:defRPr sz="1275">
                <a:solidFill>
                  <a:srgbClr val="536468"/>
                </a:solidFill>
                <a:latin typeface="Arial"/>
                <a:ea typeface="Arial"/>
                <a:cs typeface="Arial"/>
              </a:defRPr>
            </a:lvl3pPr>
            <a:lvl4pPr algn="l">
              <a:defRPr sz="1275">
                <a:solidFill>
                  <a:srgbClr val="536468"/>
                </a:solidFill>
                <a:latin typeface="Arial"/>
                <a:ea typeface="Arial"/>
                <a:cs typeface="Arial"/>
              </a:defRPr>
            </a:lvl4pPr>
            <a:lvl5pPr algn="l">
              <a:defRPr sz="1275">
                <a:solidFill>
                  <a:srgbClr val="536468"/>
                </a:solidFill>
                <a:latin typeface="Arial"/>
                <a:ea typeface="Arial"/>
                <a:cs typeface="Arial"/>
              </a:defRPr>
            </a:lvl5pPr>
            <a:lvl6pPr algn="l">
              <a:defRPr sz="1275">
                <a:solidFill>
                  <a:srgbClr val="536468"/>
                </a:solidFill>
                <a:latin typeface="Arial"/>
                <a:ea typeface="Arial"/>
                <a:cs typeface="Arial"/>
              </a:defRPr>
            </a:lvl6pPr>
            <a:lvl7pPr algn="l">
              <a:defRPr sz="1275">
                <a:solidFill>
                  <a:srgbClr val="536468"/>
                </a:solidFill>
                <a:latin typeface="Arial"/>
                <a:ea typeface="Arial"/>
                <a:cs typeface="Arial"/>
              </a:defRPr>
            </a:lvl7pPr>
            <a:lvl8pPr algn="l">
              <a:defRPr sz="1275">
                <a:solidFill>
                  <a:srgbClr val="536468"/>
                </a:solidFill>
                <a:latin typeface="Arial"/>
                <a:ea typeface="Arial"/>
                <a:cs typeface="Arial"/>
              </a:defRPr>
            </a:lvl8pPr>
            <a:lvl9pPr algn="l">
              <a:defRPr sz="1275">
                <a:solidFill>
                  <a:srgbClr val="536468"/>
                </a:solidFill>
                <a:latin typeface="Arial"/>
                <a:ea typeface="Arial"/>
                <a:cs typeface="Arial"/>
              </a:defRPr>
            </a:lvl9pPr>
          </a:lstStyle>
          <a:p xmlns:a="http://schemas.openxmlformats.org/drawingml/2006/main">
            <a:pPr algn="l">
              <a:defRPr sz="1275">
                <a:solidFill>
                  <a:srgbClr val="536468"/>
                </a:solidFill>
                <a:latin typeface="Arial"/>
                <a:ea typeface="Arial"/>
                <a:cs typeface="Arial"/>
              </a:defRPr>
            </a:pPr>
            <a:r>
              <a:rPr sz="1275">
                <a:solidFill>
                  <a:srgbClr val="536468"/>
                </a:solidFill>
                <a:latin typeface="Arial"/>
                <a:ea typeface="Arial"/>
                <a:cs typeface="Arial"/>
              </a:rPr>
              <a:t>Development observations</a:t>
            </a:r>
          </a:p>
        </p:txBody>
      </p:sp>
    </p:spTree>
    <p:extLst>
      <p:ext uri="{BB962C8B-B14F-4D97-AF65-F5344CB8AC3E}">
        <p14:creationId xmlns:p14="http://schemas.microsoft.com/office/powerpoint/2010/main" val="107983104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slide-2-title">
            <a:extLst xmlns:a="http://schemas.openxmlformats.org/drawingml/2006/main">
              <a:ext uri="{FF2B5EF4-FFF2-40B4-BE49-F238E27FC236}">
                <a16:creationId xmlns:a16="http://schemas.microsoft.com/office/drawing/2014/main" id="{0B4215DF-3458-49E4-AED2-ED1CA70CC88C}"/>
              </a:ext>
            </a:extLst>
          </p:cNvPr>
          <p:cNvSpPr>
            <a:spLocks xmlns:a="http://schemas.openxmlformats.org/drawingml/2006/main" noGrp="1"/>
          </p:cNvSpPr>
          <p:nvPr/>
        </p:nvSpPr>
        <p:spPr>
          <a:xfrm xmlns:a="http://schemas.openxmlformats.org/drawingml/2006/main">
            <a:off x="685800" y="400050"/>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4200" b="1">
                <a:solidFill>
                  <a:srgbClr val="176B66"/>
                </a:solidFill>
                <a:latin typeface="Arial"/>
                <a:ea typeface="Arial"/>
                <a:cs typeface="Arial"/>
              </a:defRPr>
            </a:defPPr>
            <a:lvl1pPr algn="l">
              <a:defRPr sz="4200" b="1">
                <a:solidFill>
                  <a:srgbClr val="176B66"/>
                </a:solidFill>
                <a:latin typeface="Arial"/>
                <a:ea typeface="Arial"/>
                <a:cs typeface="Arial"/>
              </a:defRPr>
            </a:lvl1pPr>
            <a:lvl2pPr algn="l">
              <a:defRPr sz="4200" b="1">
                <a:solidFill>
                  <a:srgbClr val="176B66"/>
                </a:solidFill>
                <a:latin typeface="Arial"/>
                <a:ea typeface="Arial"/>
                <a:cs typeface="Arial"/>
              </a:defRPr>
            </a:lvl2pPr>
            <a:lvl3pPr algn="l">
              <a:defRPr sz="4200" b="1">
                <a:solidFill>
                  <a:srgbClr val="176B66"/>
                </a:solidFill>
                <a:latin typeface="Arial"/>
                <a:ea typeface="Arial"/>
                <a:cs typeface="Arial"/>
              </a:defRPr>
            </a:lvl3pPr>
            <a:lvl4pPr algn="l">
              <a:defRPr sz="4200" b="1">
                <a:solidFill>
                  <a:srgbClr val="176B66"/>
                </a:solidFill>
                <a:latin typeface="Arial"/>
                <a:ea typeface="Arial"/>
                <a:cs typeface="Arial"/>
              </a:defRPr>
            </a:lvl4pPr>
            <a:lvl5pPr algn="l">
              <a:defRPr sz="4200" b="1">
                <a:solidFill>
                  <a:srgbClr val="176B66"/>
                </a:solidFill>
                <a:latin typeface="Arial"/>
                <a:ea typeface="Arial"/>
                <a:cs typeface="Arial"/>
              </a:defRPr>
            </a:lvl5pPr>
            <a:lvl6pPr algn="l">
              <a:defRPr sz="4200" b="1">
                <a:solidFill>
                  <a:srgbClr val="176B66"/>
                </a:solidFill>
                <a:latin typeface="Arial"/>
                <a:ea typeface="Arial"/>
                <a:cs typeface="Arial"/>
              </a:defRPr>
            </a:lvl6pPr>
            <a:lvl7pPr algn="l">
              <a:defRPr sz="4200" b="1">
                <a:solidFill>
                  <a:srgbClr val="176B66"/>
                </a:solidFill>
                <a:latin typeface="Arial"/>
                <a:ea typeface="Arial"/>
                <a:cs typeface="Arial"/>
              </a:defRPr>
            </a:lvl7pPr>
            <a:lvl8pPr algn="l">
              <a:defRPr sz="4200" b="1">
                <a:solidFill>
                  <a:srgbClr val="176B66"/>
                </a:solidFill>
                <a:latin typeface="Arial"/>
                <a:ea typeface="Arial"/>
                <a:cs typeface="Arial"/>
              </a:defRPr>
            </a:lvl8pPr>
            <a:lvl9pPr algn="l">
              <a:defRPr sz="4200" b="1">
                <a:solidFill>
                  <a:srgbClr val="176B66"/>
                </a:solidFill>
                <a:latin typeface="Arial"/>
                <a:ea typeface="Arial"/>
                <a:cs typeface="Arial"/>
              </a:defRPr>
            </a:lvl9pPr>
          </a:lstStyle>
          <a:p xmlns:a="http://schemas.openxmlformats.org/drawingml/2006/main">
            <a:pPr algn="l">
              <a:defRPr sz="4200" b="1">
                <a:solidFill>
                  <a:srgbClr val="176B66"/>
                </a:solidFill>
                <a:latin typeface="Arial"/>
                <a:ea typeface="Arial"/>
                <a:cs typeface="Arial"/>
              </a:defRPr>
            </a:pPr>
            <a:r>
              <a:rPr sz="4200" b="1">
                <a:solidFill>
                  <a:srgbClr val="176B66"/>
                </a:solidFill>
                <a:latin typeface="Arial"/>
                <a:ea typeface="Arial"/>
                <a:cs typeface="Arial"/>
              </a:rPr>
              <a:t>Research question and claim boundary</a:t>
            </a:r>
          </a:p>
        </p:txBody>
      </p:sp>
      <p:sp>
        <p:nvSpPr>
          <p:cNvPr id="2" name="slide-2-bullets">
            <a:extLst xmlns:a="http://schemas.openxmlformats.org/drawingml/2006/main">
              <a:ext uri="{FF2B5EF4-FFF2-40B4-BE49-F238E27FC236}">
                <a16:creationId xmlns:a16="http://schemas.microsoft.com/office/drawing/2014/main" id="{9287F284-40CA-4A94-91F2-6CB34EEB8561}"/>
              </a:ext>
            </a:extLst>
          </p:cNvPr>
          <p:cNvSpPr>
            <a:spLocks xmlns:a="http://schemas.openxmlformats.org/drawingml/2006/main" noGrp="1"/>
          </p:cNvSpPr>
          <p:nvPr/>
        </p:nvSpPr>
        <p:spPr>
          <a:xfrm xmlns:a="http://schemas.openxmlformats.org/drawingml/2006/main">
            <a:off x="819150" y="1657350"/>
            <a:ext cx="10287000" cy="428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a:solidFill>
                  <a:srgbClr val="1E302F"/>
                </a:solidFill>
                <a:latin typeface="Arial"/>
                <a:ea typeface="Arial"/>
                <a:cs typeface="Arial"/>
              </a:defRPr>
            </a:defPPr>
            <a:lvl1pPr>
              <a:defRPr sz="1725">
                <a:solidFill>
                  <a:srgbClr val="1E302F"/>
                </a:solidFill>
                <a:latin typeface="Arial"/>
                <a:ea typeface="Arial"/>
                <a:cs typeface="Arial"/>
              </a:defRPr>
            </a:lvl1pPr>
            <a:lvl2pPr>
              <a:defRPr sz="1725">
                <a:solidFill>
                  <a:srgbClr val="1E302F"/>
                </a:solidFill>
                <a:latin typeface="Arial"/>
                <a:ea typeface="Arial"/>
                <a:cs typeface="Arial"/>
              </a:defRPr>
            </a:lvl2pPr>
            <a:lvl3pPr>
              <a:defRPr sz="1725">
                <a:solidFill>
                  <a:srgbClr val="1E302F"/>
                </a:solidFill>
                <a:latin typeface="Arial"/>
                <a:ea typeface="Arial"/>
                <a:cs typeface="Arial"/>
              </a:defRPr>
            </a:lvl3pPr>
            <a:lvl4pPr>
              <a:defRPr sz="1725">
                <a:solidFill>
                  <a:srgbClr val="1E302F"/>
                </a:solidFill>
                <a:latin typeface="Arial"/>
                <a:ea typeface="Arial"/>
                <a:cs typeface="Arial"/>
              </a:defRPr>
            </a:lvl4pPr>
            <a:lvl5pPr>
              <a:defRPr sz="1725">
                <a:solidFill>
                  <a:srgbClr val="1E302F"/>
                </a:solidFill>
                <a:latin typeface="Arial"/>
                <a:ea typeface="Arial"/>
                <a:cs typeface="Arial"/>
              </a:defRPr>
            </a:lvl5pPr>
            <a:lvl6pPr>
              <a:defRPr sz="1725">
                <a:solidFill>
                  <a:srgbClr val="1E302F"/>
                </a:solidFill>
                <a:latin typeface="Arial"/>
                <a:ea typeface="Arial"/>
                <a:cs typeface="Arial"/>
              </a:defRPr>
            </a:lvl6pPr>
            <a:lvl7pPr>
              <a:defRPr sz="1725">
                <a:solidFill>
                  <a:srgbClr val="1E302F"/>
                </a:solidFill>
                <a:latin typeface="Arial"/>
                <a:ea typeface="Arial"/>
                <a:cs typeface="Arial"/>
              </a:defRPr>
            </a:lvl7pPr>
            <a:lvl8pPr>
              <a:defRPr sz="1725">
                <a:solidFill>
                  <a:srgbClr val="1E302F"/>
                </a:solidFill>
                <a:latin typeface="Arial"/>
                <a:ea typeface="Arial"/>
                <a:cs typeface="Arial"/>
              </a:defRPr>
            </a:lvl8pPr>
            <a:lvl9pPr>
              <a:defRPr sz="1725">
                <a:solidFill>
                  <a:srgbClr val="1E302F"/>
                </a:solidFill>
                <a:latin typeface="Arial"/>
                <a:ea typeface="Arial"/>
                <a:cs typeface="Arial"/>
              </a:defRPr>
            </a:lvl9pPr>
          </a:lstStyle>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Do eligible forecasts improve feasible workload placement?</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Compare with earliest-feasible execution and simple forecast baselines.</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Report modeled operational CO2 under declared assumptions.</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Do not claim measured GPU energy or causal grid-emissions reductions.</a:t>
            </a:r>
          </a:p>
        </p:txBody>
      </p:sp>
    </p:spTree>
    <p:extLst>
      <p:ext uri="{BB962C8B-B14F-4D97-AF65-F5344CB8AC3E}">
        <p14:creationId xmlns:p14="http://schemas.microsoft.com/office/powerpoint/2010/main" val="158655109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3-title">
            <a:extLst xmlns:a="http://schemas.openxmlformats.org/drawingml/2006/main">
              <a:ext uri="{FF2B5EF4-FFF2-40B4-BE49-F238E27FC236}">
                <a16:creationId xmlns:a16="http://schemas.microsoft.com/office/drawing/2014/main" id="{C9776ACB-F461-4A70-9CEA-BE50EEF3DA2B}"/>
              </a:ext>
            </a:extLst>
          </p:cNvPr>
          <p:cNvSpPr>
            <a:spLocks xmlns:a="http://schemas.openxmlformats.org/drawingml/2006/main" noGrp="1"/>
          </p:cNvSpPr>
          <p:nvPr/>
        </p:nvSpPr>
        <p:spPr>
          <a:xfrm xmlns:a="http://schemas.openxmlformats.org/drawingml/2006/main">
            <a:off x="685800" y="400050"/>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4200" b="1">
                <a:solidFill>
                  <a:srgbClr val="176B66"/>
                </a:solidFill>
                <a:latin typeface="Arial"/>
                <a:ea typeface="Arial"/>
                <a:cs typeface="Arial"/>
              </a:defRPr>
            </a:defPPr>
            <a:lvl1pPr algn="l">
              <a:defRPr sz="4200" b="1">
                <a:solidFill>
                  <a:srgbClr val="176B66"/>
                </a:solidFill>
                <a:latin typeface="Arial"/>
                <a:ea typeface="Arial"/>
                <a:cs typeface="Arial"/>
              </a:defRPr>
            </a:lvl1pPr>
            <a:lvl2pPr algn="l">
              <a:defRPr sz="4200" b="1">
                <a:solidFill>
                  <a:srgbClr val="176B66"/>
                </a:solidFill>
                <a:latin typeface="Arial"/>
                <a:ea typeface="Arial"/>
                <a:cs typeface="Arial"/>
              </a:defRPr>
            </a:lvl2pPr>
            <a:lvl3pPr algn="l">
              <a:defRPr sz="4200" b="1">
                <a:solidFill>
                  <a:srgbClr val="176B66"/>
                </a:solidFill>
                <a:latin typeface="Arial"/>
                <a:ea typeface="Arial"/>
                <a:cs typeface="Arial"/>
              </a:defRPr>
            </a:lvl3pPr>
            <a:lvl4pPr algn="l">
              <a:defRPr sz="4200" b="1">
                <a:solidFill>
                  <a:srgbClr val="176B66"/>
                </a:solidFill>
                <a:latin typeface="Arial"/>
                <a:ea typeface="Arial"/>
                <a:cs typeface="Arial"/>
              </a:defRPr>
            </a:lvl4pPr>
            <a:lvl5pPr algn="l">
              <a:defRPr sz="4200" b="1">
                <a:solidFill>
                  <a:srgbClr val="176B66"/>
                </a:solidFill>
                <a:latin typeface="Arial"/>
                <a:ea typeface="Arial"/>
                <a:cs typeface="Arial"/>
              </a:defRPr>
            </a:lvl5pPr>
            <a:lvl6pPr algn="l">
              <a:defRPr sz="4200" b="1">
                <a:solidFill>
                  <a:srgbClr val="176B66"/>
                </a:solidFill>
                <a:latin typeface="Arial"/>
                <a:ea typeface="Arial"/>
                <a:cs typeface="Arial"/>
              </a:defRPr>
            </a:lvl6pPr>
            <a:lvl7pPr algn="l">
              <a:defRPr sz="4200" b="1">
                <a:solidFill>
                  <a:srgbClr val="176B66"/>
                </a:solidFill>
                <a:latin typeface="Arial"/>
                <a:ea typeface="Arial"/>
                <a:cs typeface="Arial"/>
              </a:defRPr>
            </a:lvl7pPr>
            <a:lvl8pPr algn="l">
              <a:defRPr sz="4200" b="1">
                <a:solidFill>
                  <a:srgbClr val="176B66"/>
                </a:solidFill>
                <a:latin typeface="Arial"/>
                <a:ea typeface="Arial"/>
                <a:cs typeface="Arial"/>
              </a:defRPr>
            </a:lvl8pPr>
            <a:lvl9pPr algn="l">
              <a:defRPr sz="4200" b="1">
                <a:solidFill>
                  <a:srgbClr val="176B66"/>
                </a:solidFill>
                <a:latin typeface="Arial"/>
                <a:ea typeface="Arial"/>
                <a:cs typeface="Arial"/>
              </a:defRPr>
            </a:lvl9pPr>
          </a:lstStyle>
          <a:p xmlns:a="http://schemas.openxmlformats.org/drawingml/2006/main">
            <a:pPr algn="l">
              <a:defRPr sz="4200" b="1">
                <a:solidFill>
                  <a:srgbClr val="176B66"/>
                </a:solidFill>
                <a:latin typeface="Arial"/>
                <a:ea typeface="Arial"/>
                <a:cs typeface="Arial"/>
              </a:defRPr>
            </a:pPr>
            <a:r>
              <a:rPr sz="4200" b="1">
                <a:solidFill>
                  <a:srgbClr val="176B66"/>
                </a:solidFill>
                <a:latin typeface="Arial"/>
                <a:ea typeface="Arial"/>
                <a:cs typeface="Arial"/>
              </a:rPr>
              <a:t>Data coverage and quality</a:t>
            </a:r>
          </a:p>
        </p:txBody>
      </p:sp>
      <p:sp>
        <p:nvSpPr>
          <p:cNvPr id="2" name="slide-3-bullets">
            <a:extLst xmlns:a="http://schemas.openxmlformats.org/drawingml/2006/main">
              <a:ext uri="{FF2B5EF4-FFF2-40B4-BE49-F238E27FC236}">
                <a16:creationId xmlns:a16="http://schemas.microsoft.com/office/drawing/2014/main" id="{E79C6904-CE0D-411F-9A1D-BF2EBC14C3A1}"/>
              </a:ext>
            </a:extLst>
          </p:cNvPr>
          <p:cNvSpPr>
            <a:spLocks xmlns:a="http://schemas.openxmlformats.org/drawingml/2006/main" noGrp="1"/>
          </p:cNvSpPr>
          <p:nvPr/>
        </p:nvSpPr>
        <p:spPr>
          <a:xfrm xmlns:a="http://schemas.openxmlformats.org/drawingml/2006/main">
            <a:off x="742950" y="1238250"/>
            <a:ext cx="10715625"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a:solidFill>
                  <a:srgbClr val="1E302F"/>
                </a:solidFill>
                <a:latin typeface="Arial"/>
                <a:ea typeface="Arial"/>
                <a:cs typeface="Arial"/>
              </a:defRPr>
            </a:defPPr>
            <a:lvl1pPr>
              <a:defRPr sz="1725">
                <a:solidFill>
                  <a:srgbClr val="1E302F"/>
                </a:solidFill>
                <a:latin typeface="Arial"/>
                <a:ea typeface="Arial"/>
                <a:cs typeface="Arial"/>
              </a:defRPr>
            </a:lvl1pPr>
            <a:lvl2pPr>
              <a:defRPr sz="1725">
                <a:solidFill>
                  <a:srgbClr val="1E302F"/>
                </a:solidFill>
                <a:latin typeface="Arial"/>
                <a:ea typeface="Arial"/>
                <a:cs typeface="Arial"/>
              </a:defRPr>
            </a:lvl2pPr>
            <a:lvl3pPr>
              <a:defRPr sz="1725">
                <a:solidFill>
                  <a:srgbClr val="1E302F"/>
                </a:solidFill>
                <a:latin typeface="Arial"/>
                <a:ea typeface="Arial"/>
                <a:cs typeface="Arial"/>
              </a:defRPr>
            </a:lvl3pPr>
            <a:lvl4pPr>
              <a:defRPr sz="1725">
                <a:solidFill>
                  <a:srgbClr val="1E302F"/>
                </a:solidFill>
                <a:latin typeface="Arial"/>
                <a:ea typeface="Arial"/>
                <a:cs typeface="Arial"/>
              </a:defRPr>
            </a:lvl4pPr>
            <a:lvl5pPr>
              <a:defRPr sz="1725">
                <a:solidFill>
                  <a:srgbClr val="1E302F"/>
                </a:solidFill>
                <a:latin typeface="Arial"/>
                <a:ea typeface="Arial"/>
                <a:cs typeface="Arial"/>
              </a:defRPr>
            </a:lvl5pPr>
            <a:lvl6pPr>
              <a:defRPr sz="1725">
                <a:solidFill>
                  <a:srgbClr val="1E302F"/>
                </a:solidFill>
                <a:latin typeface="Arial"/>
                <a:ea typeface="Arial"/>
                <a:cs typeface="Arial"/>
              </a:defRPr>
            </a:lvl6pPr>
            <a:lvl7pPr>
              <a:defRPr sz="1725">
                <a:solidFill>
                  <a:srgbClr val="1E302F"/>
                </a:solidFill>
                <a:latin typeface="Arial"/>
                <a:ea typeface="Arial"/>
                <a:cs typeface="Arial"/>
              </a:defRPr>
            </a:lvl7pPr>
            <a:lvl8pPr>
              <a:defRPr sz="1725">
                <a:solidFill>
                  <a:srgbClr val="1E302F"/>
                </a:solidFill>
                <a:latin typeface="Arial"/>
                <a:ea typeface="Arial"/>
                <a:cs typeface="Arial"/>
              </a:defRPr>
            </a:lvl8pPr>
            <a:lvl9pPr>
              <a:defRPr sz="1725">
                <a:solidFill>
                  <a:srgbClr val="1E302F"/>
                </a:solidFill>
                <a:latin typeface="Arial"/>
                <a:ea typeface="Arial"/>
                <a:cs typeface="Arial"/>
              </a:defRPr>
            </a:lvl9pPr>
          </a:lstStyle>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Observed slots: 69950 of 70128.</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Missing actuals remain missing; provider forecasts stay separate.</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The quality gate and monthly coverage are reported from stored artifacts.</a:t>
            </a:r>
          </a:p>
        </p:txBody>
      </p:sp>
      <p:graphicFrame>
        <p:nvGraphicFramePr>
          <p:cNvPr id="3" name="Chart">
            <a:extLst xmlns:a="http://schemas.openxmlformats.org/drawingml/2006/main">
              <a:ext uri="{FF2B5EF4-FFF2-40B4-BE49-F238E27FC236}">
                <a16:creationId xmlns:a16="http://schemas.microsoft.com/office/drawing/2014/main" id="{A1A648D1-17A7-40AA-8052-72BD77290B3B}"/>
              </a:ext>
            </a:extLst>
          </p:cNvPr>
          <p:cNvGraphicFramePr/>
          <p:nvPr/>
        </p:nvGraphicFramePr>
        <p:xfrm>
          <a:off xmlns:a="http://schemas.openxmlformats.org/drawingml/2006/main" x="685800" y="2333625"/>
          <a:ext xmlns:a="http://schemas.openxmlformats.org/drawingml/2006/main" cx="6572250" cy="3857625"/>
        </p:xfrm>
        <a:graphic xmlns:a="http://schemas.openxmlformats.org/drawingml/2006/main">
          <a:graphicData uri="http://schemas.openxmlformats.org/drawingml/2006/chart">
            <c:chart xmlns:r="http://schemas.openxmlformats.org/officeDocument/2006/relationships" xmlns:c="http://schemas.openxmlformats.org/drawingml/2006/chart" r:id="Rb41e3e36760f4833"/>
          </a:graphicData>
        </a:graphic>
      </p:graphicFrame>
      <p:graphicFrame>
        <p:nvGraphicFramePr>
          <p:cNvPr id="4" name="">
            <a:extLst xmlns:a="http://schemas.openxmlformats.org/drawingml/2006/main">
              <a:ext uri="{FF2B5EF4-FFF2-40B4-BE49-F238E27FC236}">
                <a16:creationId xmlns:a16="http://schemas.microsoft.com/office/drawing/2014/main" id="{7C3BEA5F-C1AD-4B3C-AC63-9A87D3C32705}"/>
              </a:ext>
            </a:extLst>
          </p:cNvPr>
          <p:cNvGraphicFramePr/>
          <p:nvPr/>
        </p:nvGraphicFramePr>
        <p:xfrm>
          <a:off xmlns:a="http://schemas.openxmlformats.org/drawingml/2006/main" x="7524750" y="2381250"/>
          <a:ext xmlns:a="http://schemas.openxmlformats.org/drawingml/2006/main" cx="3981450" cy="3714750"/>
        </p:xfrm>
        <a:graphic xmlns:a="http://schemas.openxmlformats.org/drawingml/2006/main">
          <a:graphicData uri="http://schemas.openxmlformats.org/drawingml/2006/table">
            <a:tbl>
              <a:tblPr firstRow="1" bandRow="1"/>
              <a:tblGrid>
                <a:gridCol w="2189798"/>
                <a:gridCol w="1791653"/>
              </a:tblGrid>
              <a:tr h="337705">
                <a:tc>
                  <a:txBody>
                    <a:bodyPr/>
                    <a:lstStyle/>
                    <a:p>
                      <a:r>
                        <a:rPr sz="1575" b="1">
                          <a:solidFill>
                            <a:srgbClr val="FFFFFF"/>
                          </a:solidFill>
                          <a:latin typeface="Arial"/>
                          <a:ea typeface="Arial"/>
                          <a:cs typeface="Arial"/>
                        </a:rPr>
                        <a:t>Measure</a:t>
                      </a:r>
                    </a:p>
                  </a:txBody>
                  <a:tcPr marL="91440" marR="91440" marT="45720" marB="45720">
                    <a:lnL w="7620">
                      <a:solidFill>
                        <a:srgbClr val="CED8D5"/>
                      </a:solidFill>
                      <a:prstDash val="solid"/>
                    </a:lnL>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c>
                  <a:txBody>
                    <a:bodyPr/>
                    <a:lstStyle/>
                    <a:p>
                      <a:r>
                        <a:rPr sz="1575" b="1">
                          <a:solidFill>
                            <a:srgbClr val="FFFFFF"/>
                          </a:solidFill>
                          <a:latin typeface="Arial"/>
                          <a:ea typeface="Arial"/>
                          <a:cs typeface="Arial"/>
                        </a:rPr>
                        <a:t>Value</a:t>
                      </a:r>
                    </a:p>
                  </a:txBody>
                  <a:tcPr marL="91440" marR="91440" marT="45720" marB="45720">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r>
              <a:tr h="337705">
                <a:tc>
                  <a:txBody>
                    <a:bodyPr/>
                    <a:lstStyle/>
                    <a:p>
                      <a:r>
                        <a:rPr sz="1575" b="0">
                          <a:solidFill>
                            <a:srgbClr val="1E302F"/>
                          </a:solidFill>
                          <a:latin typeface="Arial"/>
                          <a:ea typeface="Arial"/>
                          <a:cs typeface="Arial"/>
                        </a:rPr>
                        <a:t>Slots</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70128</a:t>
                      </a:r>
                    </a:p>
                  </a:txBody>
                  <a:tcPr marL="91440" marR="91440" marT="45720" marB="45720">
                    <a:lnR w="7620">
                      <a:solidFill>
                        <a:srgbClr val="CED8D5"/>
                      </a:solidFill>
                      <a:prstDash val="solid"/>
                    </a:lnR>
                    <a:lnB w="7620">
                      <a:solidFill>
                        <a:srgbClr val="CED8D5"/>
                      </a:solidFill>
                      <a:prstDash val="solid"/>
                    </a:lnB>
                  </a:tcPr>
                </a:tc>
              </a:tr>
              <a:tr h="337705">
                <a:tc>
                  <a:txBody>
                    <a:bodyPr/>
                    <a:lstStyle/>
                    <a:p>
                      <a:r>
                        <a:rPr sz="1575" b="0">
                          <a:solidFill>
                            <a:srgbClr val="1E302F"/>
                          </a:solidFill>
                          <a:latin typeface="Arial"/>
                          <a:ea typeface="Arial"/>
                          <a:cs typeface="Arial"/>
                        </a:rPr>
                        <a:t>Observed</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69950</a:t>
                      </a:r>
                    </a:p>
                  </a:txBody>
                  <a:tcPr marL="91440" marR="91440" marT="45720" marB="45720">
                    <a:lnR w="7620">
                      <a:solidFill>
                        <a:srgbClr val="CED8D5"/>
                      </a:solidFill>
                      <a:prstDash val="solid"/>
                    </a:lnR>
                    <a:lnB w="7620">
                      <a:solidFill>
                        <a:srgbClr val="CED8D5"/>
                      </a:solidFill>
                      <a:prstDash val="solid"/>
                    </a:lnB>
                  </a:tcPr>
                </a:tc>
              </a:tr>
              <a:tr h="337705">
                <a:tc>
                  <a:txBody>
                    <a:bodyPr/>
                    <a:lstStyle/>
                    <a:p>
                      <a:r>
                        <a:rPr sz="1575" b="0">
                          <a:solidFill>
                            <a:srgbClr val="1E302F"/>
                          </a:solidFill>
                          <a:latin typeface="Arial"/>
                          <a:ea typeface="Arial"/>
                          <a:cs typeface="Arial"/>
                        </a:rPr>
                        <a:t>Missing</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178</a:t>
                      </a:r>
                    </a:p>
                  </a:txBody>
                  <a:tcPr marL="91440" marR="91440" marT="45720" marB="45720">
                    <a:lnR w="7620">
                      <a:solidFill>
                        <a:srgbClr val="CED8D5"/>
                      </a:solidFill>
                      <a:prstDash val="solid"/>
                    </a:lnR>
                    <a:lnB w="7620">
                      <a:solidFill>
                        <a:srgbClr val="CED8D5"/>
                      </a:solidFill>
                      <a:prstDash val="solid"/>
                    </a:lnB>
                  </a:tcPr>
                </a:tc>
              </a:tr>
              <a:tr h="337705">
                <a:tc>
                  <a:txBody>
                    <a:bodyPr/>
                    <a:lstStyle/>
                    <a:p>
                      <a:r>
                        <a:rPr sz="1575" b="0">
                          <a:solidFill>
                            <a:srgbClr val="1E302F"/>
                          </a:solidFill>
                          <a:latin typeface="Arial"/>
                          <a:ea typeface="Arial"/>
                          <a:cs typeface="Arial"/>
                        </a:rPr>
                        <a:t>Overall coverage</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0.9975</a:t>
                      </a:r>
                    </a:p>
                  </a:txBody>
                  <a:tcPr marL="91440" marR="91440" marT="45720" marB="45720">
                    <a:lnR w="7620">
                      <a:solidFill>
                        <a:srgbClr val="CED8D5"/>
                      </a:solidFill>
                      <a:prstDash val="solid"/>
                    </a:lnR>
                    <a:lnB w="7620">
                      <a:solidFill>
                        <a:srgbClr val="CED8D5"/>
                      </a:solidFill>
                      <a:prstDash val="solid"/>
                    </a:lnB>
                  </a:tcPr>
                </a:tc>
              </a:tr>
              <a:tr h="337705">
                <a:tc>
                  <a:txBody>
                    <a:bodyPr/>
                    <a:lstStyle/>
                    <a:p>
                      <a:r>
                        <a:rPr sz="1575" b="0">
                          <a:solidFill>
                            <a:srgbClr val="1E302F"/>
                          </a:solidFill>
                          <a:latin typeface="Arial"/>
                          <a:ea typeface="Arial"/>
                          <a:cs typeface="Arial"/>
                        </a:rPr>
                        <a:t>Lowest monthly coverage</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0.9388</a:t>
                      </a:r>
                    </a:p>
                  </a:txBody>
                  <a:tcPr marL="91440" marR="91440" marT="45720" marB="45720">
                    <a:lnR w="7620">
                      <a:solidFill>
                        <a:srgbClr val="CED8D5"/>
                      </a:solidFill>
                      <a:prstDash val="solid"/>
                    </a:lnR>
                    <a:lnB w="7620">
                      <a:solidFill>
                        <a:srgbClr val="CED8D5"/>
                      </a:solidFill>
                      <a:prstDash val="solid"/>
                    </a:lnB>
                  </a:tcPr>
                </a:tc>
              </a:tr>
              <a:tr h="337705">
                <a:tc>
                  <a:txBody>
                    <a:bodyPr/>
                    <a:lstStyle/>
                    <a:p>
                      <a:r>
                        <a:rPr sz="1575" b="0">
                          <a:solidFill>
                            <a:srgbClr val="1E302F"/>
                          </a:solidFill>
                          <a:latin typeface="Arial"/>
                          <a:ea typeface="Arial"/>
                          <a:cs typeface="Arial"/>
                        </a:rPr>
                        <a:t>Lowest test-month coverage</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1</a:t>
                      </a:r>
                    </a:p>
                  </a:txBody>
                  <a:tcPr marL="91440" marR="91440" marT="45720" marB="45720">
                    <a:lnR w="7620">
                      <a:solidFill>
                        <a:srgbClr val="CED8D5"/>
                      </a:solidFill>
                      <a:prstDash val="solid"/>
                    </a:lnR>
                    <a:lnB w="7620">
                      <a:solidFill>
                        <a:srgbClr val="CED8D5"/>
                      </a:solidFill>
                      <a:prstDash val="solid"/>
                    </a:lnB>
                  </a:tcPr>
                </a:tc>
              </a:tr>
              <a:tr h="337705">
                <a:tc>
                  <a:txBody>
                    <a:bodyPr/>
                    <a:lstStyle/>
                    <a:p>
                      <a:r>
                        <a:rPr sz="1575" b="0">
                          <a:solidFill>
                            <a:srgbClr val="1E302F"/>
                          </a:solidFill>
                          <a:latin typeface="Arial"/>
                          <a:ea typeface="Arial"/>
                          <a:cs typeface="Arial"/>
                        </a:rPr>
                        <a:t>Unique UTC intervals</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true</a:t>
                      </a:r>
                    </a:p>
                  </a:txBody>
                  <a:tcPr marL="91440" marR="91440" marT="45720" marB="45720">
                    <a:lnR w="7620">
                      <a:solidFill>
                        <a:srgbClr val="CED8D5"/>
                      </a:solidFill>
                      <a:prstDash val="solid"/>
                    </a:lnR>
                    <a:lnB w="7620">
                      <a:solidFill>
                        <a:srgbClr val="CED8D5"/>
                      </a:solidFill>
                      <a:prstDash val="solid"/>
                    </a:lnB>
                  </a:tcPr>
                </a:tc>
              </a:tr>
              <a:tr h="337705">
                <a:tc>
                  <a:txBody>
                    <a:bodyPr/>
                    <a:lstStyle/>
                    <a:p>
                      <a:r>
                        <a:rPr sz="1575" b="0">
                          <a:solidFill>
                            <a:srgbClr val="1E302F"/>
                          </a:solidFill>
                          <a:latin typeface="Arial"/>
                          <a:ea typeface="Arial"/>
                          <a:cs typeface="Arial"/>
                        </a:rPr>
                        <a:t>Regular grid</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true</a:t>
                      </a:r>
                    </a:p>
                  </a:txBody>
                  <a:tcPr marL="91440" marR="91440" marT="45720" marB="45720">
                    <a:lnR w="7620">
                      <a:solidFill>
                        <a:srgbClr val="CED8D5"/>
                      </a:solidFill>
                      <a:prstDash val="solid"/>
                    </a:lnR>
                    <a:lnB w="7620">
                      <a:solidFill>
                        <a:srgbClr val="CED8D5"/>
                      </a:solidFill>
                      <a:prstDash val="solid"/>
                    </a:lnB>
                  </a:tcPr>
                </a:tc>
              </a:tr>
              <a:tr h="337705">
                <a:tc>
                  <a:txBody>
                    <a:bodyPr/>
                    <a:lstStyle/>
                    <a:p>
                      <a:r>
                        <a:rPr sz="1575" b="0">
                          <a:solidFill>
                            <a:srgbClr val="1E302F"/>
                          </a:solidFill>
                          <a:latin typeface="Arial"/>
                          <a:ea typeface="Arial"/>
                          <a:cs typeface="Arial"/>
                        </a:rPr>
                        <a:t>Data gate passed</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true</a:t>
                      </a:r>
                    </a:p>
                  </a:txBody>
                  <a:tcPr marL="91440" marR="91440" marT="45720" marB="45720">
                    <a:lnR w="7620">
                      <a:solidFill>
                        <a:srgbClr val="CED8D5"/>
                      </a:solidFill>
                      <a:prstDash val="solid"/>
                    </a:lnR>
                    <a:lnB w="7620">
                      <a:solidFill>
                        <a:srgbClr val="CED8D5"/>
                      </a:solidFill>
                      <a:prstDash val="solid"/>
                    </a:lnB>
                  </a:tcPr>
                </a:tc>
              </a:tr>
              <a:tr h="337705">
                <a:tc>
                  <a:txBody>
                    <a:bodyPr/>
                    <a:lstStyle/>
                    <a:p>
                      <a:r>
                        <a:rPr sz="1575" b="0">
                          <a:solidFill>
                            <a:srgbClr val="1E302F"/>
                          </a:solidFill>
                          <a:latin typeface="Arial"/>
                          <a:ea typeface="Arial"/>
                          <a:cs typeface="Arial"/>
                        </a:rPr>
                        <a:t>Assumed availability</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true</a:t>
                      </a:r>
                    </a:p>
                  </a:txBody>
                  <a:tcPr marL="91440" marR="91440" marT="45720" marB="45720">
                    <a:lnR w="7620">
                      <a:solidFill>
                        <a:srgbClr val="CED8D5"/>
                      </a:solidFill>
                      <a:prstDash val="solid"/>
                    </a:lnR>
                    <a:lnB w="7620">
                      <a:solidFill>
                        <a:srgbClr val="CED8D5"/>
                      </a:solidFill>
                      <a:prstDash val="solid"/>
                    </a:lnB>
                  </a:tcPr>
                </a:tc>
              </a:tr>
            </a:tbl>
          </a:graphicData>
        </a:graphic>
      </p:graphicFrame>
    </p:spTree>
    <p:extLst>
      <p:ext uri="{BB962C8B-B14F-4D97-AF65-F5344CB8AC3E}">
        <p14:creationId xmlns:p14="http://schemas.microsoft.com/office/powerpoint/2010/main" val="193426889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4-title">
            <a:extLst xmlns:a="http://schemas.openxmlformats.org/drawingml/2006/main">
              <a:ext uri="{FF2B5EF4-FFF2-40B4-BE49-F238E27FC236}">
                <a16:creationId xmlns:a16="http://schemas.microsoft.com/office/drawing/2014/main" id="{44F18AD7-DF49-4696-BC50-1D4BA57E321E}"/>
              </a:ext>
            </a:extLst>
          </p:cNvPr>
          <p:cNvSpPr>
            <a:spLocks xmlns:a="http://schemas.openxmlformats.org/drawingml/2006/main" noGrp="1"/>
          </p:cNvSpPr>
          <p:nvPr/>
        </p:nvSpPr>
        <p:spPr>
          <a:xfrm xmlns:a="http://schemas.openxmlformats.org/drawingml/2006/main">
            <a:off x="685800" y="400050"/>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4200" b="1">
                <a:solidFill>
                  <a:srgbClr val="176B66"/>
                </a:solidFill>
                <a:latin typeface="Arial"/>
                <a:ea typeface="Arial"/>
                <a:cs typeface="Arial"/>
              </a:defRPr>
            </a:defPPr>
            <a:lvl1pPr algn="l">
              <a:defRPr sz="4200" b="1">
                <a:solidFill>
                  <a:srgbClr val="176B66"/>
                </a:solidFill>
                <a:latin typeface="Arial"/>
                <a:ea typeface="Arial"/>
                <a:cs typeface="Arial"/>
              </a:defRPr>
            </a:lvl1pPr>
            <a:lvl2pPr algn="l">
              <a:defRPr sz="4200" b="1">
                <a:solidFill>
                  <a:srgbClr val="176B66"/>
                </a:solidFill>
                <a:latin typeface="Arial"/>
                <a:ea typeface="Arial"/>
                <a:cs typeface="Arial"/>
              </a:defRPr>
            </a:lvl2pPr>
            <a:lvl3pPr algn="l">
              <a:defRPr sz="4200" b="1">
                <a:solidFill>
                  <a:srgbClr val="176B66"/>
                </a:solidFill>
                <a:latin typeface="Arial"/>
                <a:ea typeface="Arial"/>
                <a:cs typeface="Arial"/>
              </a:defRPr>
            </a:lvl3pPr>
            <a:lvl4pPr algn="l">
              <a:defRPr sz="4200" b="1">
                <a:solidFill>
                  <a:srgbClr val="176B66"/>
                </a:solidFill>
                <a:latin typeface="Arial"/>
                <a:ea typeface="Arial"/>
                <a:cs typeface="Arial"/>
              </a:defRPr>
            </a:lvl4pPr>
            <a:lvl5pPr algn="l">
              <a:defRPr sz="4200" b="1">
                <a:solidFill>
                  <a:srgbClr val="176B66"/>
                </a:solidFill>
                <a:latin typeface="Arial"/>
                <a:ea typeface="Arial"/>
                <a:cs typeface="Arial"/>
              </a:defRPr>
            </a:lvl5pPr>
            <a:lvl6pPr algn="l">
              <a:defRPr sz="4200" b="1">
                <a:solidFill>
                  <a:srgbClr val="176B66"/>
                </a:solidFill>
                <a:latin typeface="Arial"/>
                <a:ea typeface="Arial"/>
                <a:cs typeface="Arial"/>
              </a:defRPr>
            </a:lvl6pPr>
            <a:lvl7pPr algn="l">
              <a:defRPr sz="4200" b="1">
                <a:solidFill>
                  <a:srgbClr val="176B66"/>
                </a:solidFill>
                <a:latin typeface="Arial"/>
                <a:ea typeface="Arial"/>
                <a:cs typeface="Arial"/>
              </a:defRPr>
            </a:lvl7pPr>
            <a:lvl8pPr algn="l">
              <a:defRPr sz="4200" b="1">
                <a:solidFill>
                  <a:srgbClr val="176B66"/>
                </a:solidFill>
                <a:latin typeface="Arial"/>
                <a:ea typeface="Arial"/>
                <a:cs typeface="Arial"/>
              </a:defRPr>
            </a:lvl8pPr>
            <a:lvl9pPr algn="l">
              <a:defRPr sz="4200" b="1">
                <a:solidFill>
                  <a:srgbClr val="176B66"/>
                </a:solidFill>
                <a:latin typeface="Arial"/>
                <a:ea typeface="Arial"/>
                <a:cs typeface="Arial"/>
              </a:defRPr>
            </a:lvl9pPr>
          </a:lstStyle>
          <a:p xmlns:a="http://schemas.openxmlformats.org/drawingml/2006/main">
            <a:pPr algn="l">
              <a:defRPr sz="4200" b="1">
                <a:solidFill>
                  <a:srgbClr val="176B66"/>
                </a:solidFill>
                <a:latin typeface="Arial"/>
                <a:ea typeface="Arial"/>
                <a:cs typeface="Arial"/>
              </a:defRPr>
            </a:pPr>
            <a:r>
              <a:rPr sz="4200" b="1">
                <a:solidFill>
                  <a:srgbClr val="176B66"/>
                </a:solidFill>
                <a:latin typeface="Arial"/>
                <a:ea typeface="Arial"/>
                <a:cs typeface="Arial"/>
              </a:rPr>
              <a:t>Development diagnostics</a:t>
            </a:r>
          </a:p>
        </p:txBody>
      </p:sp>
      <p:pic>
        <p:nvPicPr>
          <p:cNvPr id="2" name="">
            <a:extLst xmlns:a="http://schemas.openxmlformats.org/drawingml/2006/main">
              <a:ext uri="{FF2B5EF4-FFF2-40B4-BE49-F238E27FC236}">
                <a16:creationId xmlns:a16="http://schemas.microsoft.com/office/drawing/2014/main" id="{6D5C10D8-BCB4-49A5-874B-12F8D93F8F03}"/>
              </a:ext>
            </a:extLst>
          </p:cNvPr>
          <p:cNvPicPr>
            <a:picLocks xmlns:a="http://schemas.openxmlformats.org/drawingml/2006/main" noChangeAspect="1"/>
          </p:cNvPicPr>
          <p:nvPr/>
        </p:nvPicPr>
        <p:blipFill>
          <a:blip xmlns:r="http://schemas.openxmlformats.org/officeDocument/2006/relationships" xmlns:a="http://schemas.openxmlformats.org/drawingml/2006/main" r:embed="R766986b0ca864c94"/>
          <a:stretch xmlns:a="http://schemas.openxmlformats.org/drawingml/2006/main"/>
        </p:blipFill>
        <p:spPr>
          <a:xfrm xmlns:a="http://schemas.openxmlformats.org/drawingml/2006/main">
            <a:off x="685800" y="2439865"/>
            <a:ext cx="6858000" cy="3692769"/>
          </a:xfrm>
          <a:prstGeom xmlns:a="http://schemas.openxmlformats.org/drawingml/2006/main" prst="rect">
            <a:avLst/>
          </a:prstGeom>
        </p:spPr>
      </p:pic>
      <p:sp>
        <p:nvSpPr>
          <p:cNvPr id="3" name="slide-4-bullets">
            <a:extLst xmlns:a="http://schemas.openxmlformats.org/drawingml/2006/main">
              <a:ext uri="{FF2B5EF4-FFF2-40B4-BE49-F238E27FC236}">
                <a16:creationId xmlns:a16="http://schemas.microsoft.com/office/drawing/2014/main" id="{08EE625F-F807-4D78-8B01-9A35546EC0D2}"/>
              </a:ext>
            </a:extLst>
          </p:cNvPr>
          <p:cNvSpPr>
            <a:spLocks xmlns:a="http://schemas.openxmlformats.org/drawingml/2006/main" noGrp="1"/>
          </p:cNvSpPr>
          <p:nvPr/>
        </p:nvSpPr>
        <p:spPr>
          <a:xfrm xmlns:a="http://schemas.openxmlformats.org/drawingml/2006/main">
            <a:off x="7905750" y="2362200"/>
            <a:ext cx="3600450" cy="3667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a:solidFill>
                  <a:srgbClr val="1E302F"/>
                </a:solidFill>
                <a:latin typeface="Arial"/>
                <a:ea typeface="Arial"/>
                <a:cs typeface="Arial"/>
              </a:defRPr>
            </a:defPPr>
            <a:lvl1pPr>
              <a:defRPr sz="1725">
                <a:solidFill>
                  <a:srgbClr val="1E302F"/>
                </a:solidFill>
                <a:latin typeface="Arial"/>
                <a:ea typeface="Arial"/>
                <a:cs typeface="Arial"/>
              </a:defRPr>
            </a:lvl1pPr>
            <a:lvl2pPr>
              <a:defRPr sz="1725">
                <a:solidFill>
                  <a:srgbClr val="1E302F"/>
                </a:solidFill>
                <a:latin typeface="Arial"/>
                <a:ea typeface="Arial"/>
                <a:cs typeface="Arial"/>
              </a:defRPr>
            </a:lvl2pPr>
            <a:lvl3pPr>
              <a:defRPr sz="1725">
                <a:solidFill>
                  <a:srgbClr val="1E302F"/>
                </a:solidFill>
                <a:latin typeface="Arial"/>
                <a:ea typeface="Arial"/>
                <a:cs typeface="Arial"/>
              </a:defRPr>
            </a:lvl3pPr>
            <a:lvl4pPr>
              <a:defRPr sz="1725">
                <a:solidFill>
                  <a:srgbClr val="1E302F"/>
                </a:solidFill>
                <a:latin typeface="Arial"/>
                <a:ea typeface="Arial"/>
                <a:cs typeface="Arial"/>
              </a:defRPr>
            </a:lvl4pPr>
            <a:lvl5pPr>
              <a:defRPr sz="1725">
                <a:solidFill>
                  <a:srgbClr val="1E302F"/>
                </a:solidFill>
                <a:latin typeface="Arial"/>
                <a:ea typeface="Arial"/>
                <a:cs typeface="Arial"/>
              </a:defRPr>
            </a:lvl5pPr>
            <a:lvl6pPr>
              <a:defRPr sz="1725">
                <a:solidFill>
                  <a:srgbClr val="1E302F"/>
                </a:solidFill>
                <a:latin typeface="Arial"/>
                <a:ea typeface="Arial"/>
                <a:cs typeface="Arial"/>
              </a:defRPr>
            </a:lvl6pPr>
            <a:lvl7pPr>
              <a:defRPr sz="1725">
                <a:solidFill>
                  <a:srgbClr val="1E302F"/>
                </a:solidFill>
                <a:latin typeface="Arial"/>
                <a:ea typeface="Arial"/>
                <a:cs typeface="Arial"/>
              </a:defRPr>
            </a:lvl7pPr>
            <a:lvl8pPr>
              <a:defRPr sz="1725">
                <a:solidFill>
                  <a:srgbClr val="1E302F"/>
                </a:solidFill>
                <a:latin typeface="Arial"/>
                <a:ea typeface="Arial"/>
                <a:cs typeface="Arial"/>
              </a:defRPr>
            </a:lvl8pPr>
            <a:lvl9pPr>
              <a:defRPr sz="1725">
                <a:solidFill>
                  <a:srgbClr val="1E302F"/>
                </a:solidFill>
                <a:latin typeface="Arial"/>
                <a:ea typeface="Arial"/>
                <a:cs typeface="Arial"/>
              </a:defRPr>
            </a:lvl9pPr>
          </a:lstStyle>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Diagnostic boundary: 2024-01-01T00:00:00+00:00.</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Development-only STL status: ok.</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ACF, periodogram, and stationarity checks guide candidates, not test conclusions.</a:t>
            </a:r>
          </a:p>
        </p:txBody>
      </p:sp>
      <p:sp>
        <p:nvSpPr>
          <p:cNvPr id="4" name="slide-4-caption">
            <a:extLst xmlns:a="http://schemas.openxmlformats.org/drawingml/2006/main">
              <a:ext uri="{FF2B5EF4-FFF2-40B4-BE49-F238E27FC236}">
                <a16:creationId xmlns:a16="http://schemas.microsoft.com/office/drawing/2014/main" id="{663747F2-B62B-4EFE-8CFB-53C2868D4D93}"/>
              </a:ext>
            </a:extLst>
          </p:cNvPr>
          <p:cNvSpPr>
            <a:spLocks xmlns:a="http://schemas.openxmlformats.org/drawingml/2006/main" noGrp="1"/>
          </p:cNvSpPr>
          <p:nvPr/>
        </p:nvSpPr>
        <p:spPr>
          <a:xfrm xmlns:a="http://schemas.openxmlformats.org/drawingml/2006/main">
            <a:off x="781050" y="6267450"/>
            <a:ext cx="6572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a:solidFill>
                  <a:srgbClr val="536468"/>
                </a:solidFill>
                <a:latin typeface="Arial"/>
                <a:ea typeface="Arial"/>
                <a:cs typeface="Arial"/>
              </a:defRPr>
            </a:defPPr>
            <a:lvl1pPr algn="l">
              <a:defRPr sz="1200">
                <a:solidFill>
                  <a:srgbClr val="536468"/>
                </a:solidFill>
                <a:latin typeface="Arial"/>
                <a:ea typeface="Arial"/>
                <a:cs typeface="Arial"/>
              </a:defRPr>
            </a:lvl1pPr>
            <a:lvl2pPr algn="l">
              <a:defRPr sz="1200">
                <a:solidFill>
                  <a:srgbClr val="536468"/>
                </a:solidFill>
                <a:latin typeface="Arial"/>
                <a:ea typeface="Arial"/>
                <a:cs typeface="Arial"/>
              </a:defRPr>
            </a:lvl2pPr>
            <a:lvl3pPr algn="l">
              <a:defRPr sz="1200">
                <a:solidFill>
                  <a:srgbClr val="536468"/>
                </a:solidFill>
                <a:latin typeface="Arial"/>
                <a:ea typeface="Arial"/>
                <a:cs typeface="Arial"/>
              </a:defRPr>
            </a:lvl3pPr>
            <a:lvl4pPr algn="l">
              <a:defRPr sz="1200">
                <a:solidFill>
                  <a:srgbClr val="536468"/>
                </a:solidFill>
                <a:latin typeface="Arial"/>
                <a:ea typeface="Arial"/>
                <a:cs typeface="Arial"/>
              </a:defRPr>
            </a:lvl4pPr>
            <a:lvl5pPr algn="l">
              <a:defRPr sz="1200">
                <a:solidFill>
                  <a:srgbClr val="536468"/>
                </a:solidFill>
                <a:latin typeface="Arial"/>
                <a:ea typeface="Arial"/>
                <a:cs typeface="Arial"/>
              </a:defRPr>
            </a:lvl5pPr>
            <a:lvl6pPr algn="l">
              <a:defRPr sz="1200">
                <a:solidFill>
                  <a:srgbClr val="536468"/>
                </a:solidFill>
                <a:latin typeface="Arial"/>
                <a:ea typeface="Arial"/>
                <a:cs typeface="Arial"/>
              </a:defRPr>
            </a:lvl6pPr>
            <a:lvl7pPr algn="l">
              <a:defRPr sz="1200">
                <a:solidFill>
                  <a:srgbClr val="536468"/>
                </a:solidFill>
                <a:latin typeface="Arial"/>
                <a:ea typeface="Arial"/>
                <a:cs typeface="Arial"/>
              </a:defRPr>
            </a:lvl7pPr>
            <a:lvl8pPr algn="l">
              <a:defRPr sz="1200">
                <a:solidFill>
                  <a:srgbClr val="536468"/>
                </a:solidFill>
                <a:latin typeface="Arial"/>
                <a:ea typeface="Arial"/>
                <a:cs typeface="Arial"/>
              </a:defRPr>
            </a:lvl8pPr>
            <a:lvl9pPr algn="l">
              <a:defRPr sz="1200">
                <a:solidFill>
                  <a:srgbClr val="536468"/>
                </a:solidFill>
                <a:latin typeface="Arial"/>
                <a:ea typeface="Arial"/>
                <a:cs typeface="Arial"/>
              </a:defRPr>
            </a:lvl9pPr>
          </a:lstStyle>
          <a:p xmlns:a="http://schemas.openxmlformats.org/drawingml/2006/main">
            <a:pPr algn="l">
              <a:defRPr sz="1200">
                <a:solidFill>
                  <a:srgbClr val="536468"/>
                </a:solidFill>
                <a:latin typeface="Arial"/>
                <a:ea typeface="Arial"/>
                <a:cs typeface="Arial"/>
              </a:defRPr>
            </a:pPr>
            <a:r>
              <a:rPr sz="1200">
                <a:solidFill>
                  <a:srgbClr val="536468"/>
                </a:solidFill>
                <a:latin typeface="Arial"/>
                <a:ea typeface="Arial"/>
                <a:cs typeface="Arial"/>
              </a:rPr>
              <a:t>Stored development-only robust STL components</a:t>
            </a:r>
          </a:p>
        </p:txBody>
      </p:sp>
    </p:spTree>
    <p:extLst>
      <p:ext uri="{BB962C8B-B14F-4D97-AF65-F5344CB8AC3E}">
        <p14:creationId xmlns:p14="http://schemas.microsoft.com/office/powerpoint/2010/main" val="1092617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slide-5-title">
            <a:extLst xmlns:a="http://schemas.openxmlformats.org/drawingml/2006/main">
              <a:ext uri="{FF2B5EF4-FFF2-40B4-BE49-F238E27FC236}">
                <a16:creationId xmlns:a16="http://schemas.microsoft.com/office/drawing/2014/main" id="{E8BEFF45-66A7-4306-9784-F4C6C77B89FE}"/>
              </a:ext>
            </a:extLst>
          </p:cNvPr>
          <p:cNvSpPr>
            <a:spLocks xmlns:a="http://schemas.openxmlformats.org/drawingml/2006/main" noGrp="1"/>
          </p:cNvSpPr>
          <p:nvPr/>
        </p:nvSpPr>
        <p:spPr>
          <a:xfrm xmlns:a="http://schemas.openxmlformats.org/drawingml/2006/main">
            <a:off x="685800" y="400050"/>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4200" b="1">
                <a:solidFill>
                  <a:srgbClr val="176B66"/>
                </a:solidFill>
                <a:latin typeface="Arial"/>
                <a:ea typeface="Arial"/>
                <a:cs typeface="Arial"/>
              </a:defRPr>
            </a:defPPr>
            <a:lvl1pPr algn="l">
              <a:defRPr sz="4200" b="1">
                <a:solidFill>
                  <a:srgbClr val="176B66"/>
                </a:solidFill>
                <a:latin typeface="Arial"/>
                <a:ea typeface="Arial"/>
                <a:cs typeface="Arial"/>
              </a:defRPr>
            </a:lvl1pPr>
            <a:lvl2pPr algn="l">
              <a:defRPr sz="4200" b="1">
                <a:solidFill>
                  <a:srgbClr val="176B66"/>
                </a:solidFill>
                <a:latin typeface="Arial"/>
                <a:ea typeface="Arial"/>
                <a:cs typeface="Arial"/>
              </a:defRPr>
            </a:lvl2pPr>
            <a:lvl3pPr algn="l">
              <a:defRPr sz="4200" b="1">
                <a:solidFill>
                  <a:srgbClr val="176B66"/>
                </a:solidFill>
                <a:latin typeface="Arial"/>
                <a:ea typeface="Arial"/>
                <a:cs typeface="Arial"/>
              </a:defRPr>
            </a:lvl3pPr>
            <a:lvl4pPr algn="l">
              <a:defRPr sz="4200" b="1">
                <a:solidFill>
                  <a:srgbClr val="176B66"/>
                </a:solidFill>
                <a:latin typeface="Arial"/>
                <a:ea typeface="Arial"/>
                <a:cs typeface="Arial"/>
              </a:defRPr>
            </a:lvl4pPr>
            <a:lvl5pPr algn="l">
              <a:defRPr sz="4200" b="1">
                <a:solidFill>
                  <a:srgbClr val="176B66"/>
                </a:solidFill>
                <a:latin typeface="Arial"/>
                <a:ea typeface="Arial"/>
                <a:cs typeface="Arial"/>
              </a:defRPr>
            </a:lvl5pPr>
            <a:lvl6pPr algn="l">
              <a:defRPr sz="4200" b="1">
                <a:solidFill>
                  <a:srgbClr val="176B66"/>
                </a:solidFill>
                <a:latin typeface="Arial"/>
                <a:ea typeface="Arial"/>
                <a:cs typeface="Arial"/>
              </a:defRPr>
            </a:lvl6pPr>
            <a:lvl7pPr algn="l">
              <a:defRPr sz="4200" b="1">
                <a:solidFill>
                  <a:srgbClr val="176B66"/>
                </a:solidFill>
                <a:latin typeface="Arial"/>
                <a:ea typeface="Arial"/>
                <a:cs typeface="Arial"/>
              </a:defRPr>
            </a:lvl7pPr>
            <a:lvl8pPr algn="l">
              <a:defRPr sz="4200" b="1">
                <a:solidFill>
                  <a:srgbClr val="176B66"/>
                </a:solidFill>
                <a:latin typeface="Arial"/>
                <a:ea typeface="Arial"/>
                <a:cs typeface="Arial"/>
              </a:defRPr>
            </a:lvl8pPr>
            <a:lvl9pPr algn="l">
              <a:defRPr sz="4200" b="1">
                <a:solidFill>
                  <a:srgbClr val="176B66"/>
                </a:solidFill>
                <a:latin typeface="Arial"/>
                <a:ea typeface="Arial"/>
                <a:cs typeface="Arial"/>
              </a:defRPr>
            </a:lvl9pPr>
          </a:lstStyle>
          <a:p xmlns:a="http://schemas.openxmlformats.org/drawingml/2006/main">
            <a:pPr algn="l">
              <a:defRPr sz="4200" b="1">
                <a:solidFill>
                  <a:srgbClr val="176B66"/>
                </a:solidFill>
                <a:latin typeface="Arial"/>
                <a:ea typeface="Arial"/>
                <a:cs typeface="Arial"/>
              </a:defRPr>
            </a:pPr>
            <a:r>
              <a:rPr sz="4200" b="1">
                <a:solidFill>
                  <a:srgbClr val="176B66"/>
                </a:solidFill>
                <a:latin typeface="Arial"/>
                <a:ea typeface="Arial"/>
                <a:cs typeface="Arial"/>
              </a:rPr>
              <a:t>Forecast model catalogue</a:t>
            </a:r>
          </a:p>
        </p:txBody>
      </p:sp>
      <p:sp>
        <p:nvSpPr>
          <p:cNvPr id="2" name="slide-5-bullets">
            <a:extLst xmlns:a="http://schemas.openxmlformats.org/drawingml/2006/main">
              <a:ext uri="{FF2B5EF4-FFF2-40B4-BE49-F238E27FC236}">
                <a16:creationId xmlns:a16="http://schemas.microsoft.com/office/drawing/2014/main" id="{8E15B689-7E5B-4CCC-8C8F-E919AF6450E6}"/>
              </a:ext>
            </a:extLst>
          </p:cNvPr>
          <p:cNvSpPr>
            <a:spLocks xmlns:a="http://schemas.openxmlformats.org/drawingml/2006/main" noGrp="1"/>
          </p:cNvSpPr>
          <p:nvPr/>
        </p:nvSpPr>
        <p:spPr>
          <a:xfrm xmlns:a="http://schemas.openxmlformats.org/drawingml/2006/main">
            <a:off x="742950" y="1238250"/>
            <a:ext cx="1066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a:solidFill>
                  <a:srgbClr val="1E302F"/>
                </a:solidFill>
                <a:latin typeface="Arial"/>
                <a:ea typeface="Arial"/>
                <a:cs typeface="Arial"/>
              </a:defRPr>
            </a:defPPr>
            <a:lvl1pPr>
              <a:defRPr sz="1725">
                <a:solidFill>
                  <a:srgbClr val="1E302F"/>
                </a:solidFill>
                <a:latin typeface="Arial"/>
                <a:ea typeface="Arial"/>
                <a:cs typeface="Arial"/>
              </a:defRPr>
            </a:lvl1pPr>
            <a:lvl2pPr>
              <a:defRPr sz="1725">
                <a:solidFill>
                  <a:srgbClr val="1E302F"/>
                </a:solidFill>
                <a:latin typeface="Arial"/>
                <a:ea typeface="Arial"/>
                <a:cs typeface="Arial"/>
              </a:defRPr>
            </a:lvl2pPr>
            <a:lvl3pPr>
              <a:defRPr sz="1725">
                <a:solidFill>
                  <a:srgbClr val="1E302F"/>
                </a:solidFill>
                <a:latin typeface="Arial"/>
                <a:ea typeface="Arial"/>
                <a:cs typeface="Arial"/>
              </a:defRPr>
            </a:lvl3pPr>
            <a:lvl4pPr>
              <a:defRPr sz="1725">
                <a:solidFill>
                  <a:srgbClr val="1E302F"/>
                </a:solidFill>
                <a:latin typeface="Arial"/>
                <a:ea typeface="Arial"/>
                <a:cs typeface="Arial"/>
              </a:defRPr>
            </a:lvl4pPr>
            <a:lvl5pPr>
              <a:defRPr sz="1725">
                <a:solidFill>
                  <a:srgbClr val="1E302F"/>
                </a:solidFill>
                <a:latin typeface="Arial"/>
                <a:ea typeface="Arial"/>
                <a:cs typeface="Arial"/>
              </a:defRPr>
            </a:lvl5pPr>
            <a:lvl6pPr>
              <a:defRPr sz="1725">
                <a:solidFill>
                  <a:srgbClr val="1E302F"/>
                </a:solidFill>
                <a:latin typeface="Arial"/>
                <a:ea typeface="Arial"/>
                <a:cs typeface="Arial"/>
              </a:defRPr>
            </a:lvl6pPr>
            <a:lvl7pPr>
              <a:defRPr sz="1725">
                <a:solidFill>
                  <a:srgbClr val="1E302F"/>
                </a:solidFill>
                <a:latin typeface="Arial"/>
                <a:ea typeface="Arial"/>
                <a:cs typeface="Arial"/>
              </a:defRPr>
            </a:lvl7pPr>
            <a:lvl8pPr>
              <a:defRPr sz="1725">
                <a:solidFill>
                  <a:srgbClr val="1E302F"/>
                </a:solidFill>
                <a:latin typeface="Arial"/>
                <a:ea typeface="Arial"/>
                <a:cs typeface="Arial"/>
              </a:defRPr>
            </a:lvl8pPr>
            <a:lvl9pPr>
              <a:defRPr sz="1725">
                <a:solidFill>
                  <a:srgbClr val="1E302F"/>
                </a:solidFill>
                <a:latin typeface="Arial"/>
                <a:ea typeface="Arial"/>
                <a:cs typeface="Arial"/>
              </a:defRPr>
            </a:lvl9pPr>
          </a:lstStyle>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AR, MA, ARMA, ARIMA, and daily-seasonal SARIMA.</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Persistence, seasonal-naive, and calendar-mean controls.</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Failed fits and null outcomes remain visible in the source tables.</a:t>
            </a:r>
          </a:p>
        </p:txBody>
      </p:sp>
      <p:graphicFrame>
        <p:nvGraphicFramePr>
          <p:cNvPr id="3" name="">
            <a:extLst xmlns:a="http://schemas.openxmlformats.org/drawingml/2006/main">
              <a:ext uri="{FF2B5EF4-FFF2-40B4-BE49-F238E27FC236}">
                <a16:creationId xmlns:a16="http://schemas.microsoft.com/office/drawing/2014/main" id="{E515B0A7-4A44-478A-BD06-38838957172F}"/>
              </a:ext>
            </a:extLst>
          </p:cNvPr>
          <p:cNvGraphicFramePr/>
          <p:nvPr/>
        </p:nvGraphicFramePr>
        <p:xfrm>
          <a:off xmlns:a="http://schemas.openxmlformats.org/drawingml/2006/main" x="685800" y="2333625"/>
          <a:ext xmlns:a="http://schemas.openxmlformats.org/drawingml/2006/main" cx="10820400" cy="3714750"/>
        </p:xfrm>
        <a:graphic xmlns:a="http://schemas.openxmlformats.org/drawingml/2006/main">
          <a:graphicData uri="http://schemas.openxmlformats.org/drawingml/2006/table">
            <a:tbl>
              <a:tblPr firstRow="1" bandRow="1"/>
              <a:tblGrid>
                <a:gridCol w="5951220"/>
                <a:gridCol w="4869180"/>
              </a:tblGrid>
              <a:tr h="742950">
                <a:tc>
                  <a:txBody>
                    <a:bodyPr/>
                    <a:lstStyle/>
                    <a:p>
                      <a:r>
                        <a:rPr sz="1575" b="1">
                          <a:solidFill>
                            <a:srgbClr val="FFFFFF"/>
                          </a:solidFill>
                          <a:latin typeface="Arial"/>
                          <a:ea typeface="Arial"/>
                          <a:cs typeface="Arial"/>
                        </a:rPr>
                        <a:t>Role</a:t>
                      </a:r>
                    </a:p>
                  </a:txBody>
                  <a:tcPr marL="91440" marR="91440" marT="45720" marB="45720">
                    <a:lnL w="7620">
                      <a:solidFill>
                        <a:srgbClr val="CED8D5"/>
                      </a:solidFill>
                      <a:prstDash val="solid"/>
                    </a:lnL>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c>
                  <a:txBody>
                    <a:bodyPr/>
                    <a:lstStyle/>
                    <a:p>
                      <a:r>
                        <a:rPr sz="1575" b="1">
                          <a:solidFill>
                            <a:srgbClr val="FFFFFF"/>
                          </a:solidFill>
                          <a:latin typeface="Arial"/>
                          <a:ea typeface="Arial"/>
                          <a:cs typeface="Arial"/>
                        </a:rPr>
                        <a:t>Recorded choice</a:t>
                      </a:r>
                    </a:p>
                  </a:txBody>
                  <a:tcPr marL="91440" marR="91440" marT="45720" marB="45720">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r>
              <a:tr h="742950">
                <a:tc>
                  <a:txBody>
                    <a:bodyPr/>
                    <a:lstStyle/>
                    <a:p>
                      <a:r>
                        <a:rPr sz="1575" b="0">
                          <a:solidFill>
                            <a:srgbClr val="1E302F"/>
                          </a:solidFill>
                          <a:latin typeface="Arial"/>
                          <a:ea typeface="Arial"/>
                          <a:cs typeface="Arial"/>
                        </a:rPr>
                        <a:t>Forecast champion</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SARIMA(1,0,1)x(1,0,0,48)</a:t>
                      </a:r>
                    </a:p>
                  </a:txBody>
                  <a:tcPr marL="91440" marR="91440" marT="45720" marB="45720">
                    <a:lnR w="7620">
                      <a:solidFill>
                        <a:srgbClr val="CED8D5"/>
                      </a:solidFill>
                      <a:prstDash val="solid"/>
                    </a:lnR>
                    <a:lnB w="7620">
                      <a:solidFill>
                        <a:srgbClr val="CED8D5"/>
                      </a:solidFill>
                      <a:prstDash val="solid"/>
                    </a:lnB>
                  </a:tcPr>
                </a:tc>
              </a:tr>
              <a:tr h="742950">
                <a:tc>
                  <a:txBody>
                    <a:bodyPr/>
                    <a:lstStyle/>
                    <a:p>
                      <a:r>
                        <a:rPr sz="1575" b="0">
                          <a:solidFill>
                            <a:srgbClr val="1E302F"/>
                          </a:solidFill>
                          <a:latin typeface="Arial"/>
                          <a:ea typeface="Arial"/>
                          <a:cs typeface="Arial"/>
                        </a:rPr>
                        <a:t>Strongest simple baseline</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persistence</a:t>
                      </a:r>
                    </a:p>
                  </a:txBody>
                  <a:tcPr marL="91440" marR="91440" marT="45720" marB="45720">
                    <a:lnR w="7620">
                      <a:solidFill>
                        <a:srgbClr val="CED8D5"/>
                      </a:solidFill>
                      <a:prstDash val="solid"/>
                    </a:lnR>
                    <a:lnB w="7620">
                      <a:solidFill>
                        <a:srgbClr val="CED8D5"/>
                      </a:solidFill>
                      <a:prstDash val="solid"/>
                    </a:lnB>
                  </a:tcPr>
                </a:tc>
              </a:tr>
              <a:tr h="742950">
                <a:tc>
                  <a:txBody>
                    <a:bodyPr/>
                    <a:lstStyle/>
                    <a:p>
                      <a:r>
                        <a:rPr sz="1575" b="0">
                          <a:solidFill>
                            <a:srgbClr val="1E302F"/>
                          </a:solidFill>
                          <a:latin typeface="Arial"/>
                          <a:ea typeface="Arial"/>
                          <a:cs typeface="Arial"/>
                        </a:rPr>
                        <a:t>Scheduling model</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calendar_mean</a:t>
                      </a:r>
                    </a:p>
                  </a:txBody>
                  <a:tcPr marL="91440" marR="91440" marT="45720" marB="45720">
                    <a:lnR w="7620">
                      <a:solidFill>
                        <a:srgbClr val="CED8D5"/>
                      </a:solidFill>
                      <a:prstDash val="solid"/>
                    </a:lnR>
                    <a:lnB w="7620">
                      <a:solidFill>
                        <a:srgbClr val="CED8D5"/>
                      </a:solidFill>
                      <a:prstDash val="solid"/>
                    </a:lnB>
                  </a:tcPr>
                </a:tc>
              </a:tr>
              <a:tr h="742950">
                <a:tc>
                  <a:txBody>
                    <a:bodyPr/>
                    <a:lstStyle/>
                    <a:p>
                      <a:r>
                        <a:rPr sz="1575" b="0">
                          <a:solidFill>
                            <a:srgbClr val="1E302F"/>
                          </a:solidFill>
                          <a:latin typeface="Arial"/>
                          <a:ea typeface="Arial"/>
                          <a:cs typeface="Arial"/>
                        </a:rPr>
                        <a:t>Selection boundary</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Validation only</a:t>
                      </a:r>
                    </a:p>
                  </a:txBody>
                  <a:tcPr marL="91440" marR="91440" marT="45720" marB="45720">
                    <a:lnR w="7620">
                      <a:solidFill>
                        <a:srgbClr val="CED8D5"/>
                      </a:solidFill>
                      <a:prstDash val="solid"/>
                    </a:lnR>
                    <a:lnB w="7620">
                      <a:solidFill>
                        <a:srgbClr val="CED8D5"/>
                      </a:solidFill>
                      <a:prstDash val="solid"/>
                    </a:lnB>
                  </a:tcPr>
                </a:tc>
              </a:tr>
            </a:tbl>
          </a:graphicData>
        </a:graphic>
      </p:graphicFrame>
    </p:spTree>
    <p:extLst>
      <p:ext uri="{BB962C8B-B14F-4D97-AF65-F5344CB8AC3E}">
        <p14:creationId xmlns:p14="http://schemas.microsoft.com/office/powerpoint/2010/main" val="151297877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slide-6-title">
            <a:extLst xmlns:a="http://schemas.openxmlformats.org/drawingml/2006/main">
              <a:ext uri="{FF2B5EF4-FFF2-40B4-BE49-F238E27FC236}">
                <a16:creationId xmlns:a16="http://schemas.microsoft.com/office/drawing/2014/main" id="{1001E10F-74DA-4405-B122-3EBD7370D2A8}"/>
              </a:ext>
            </a:extLst>
          </p:cNvPr>
          <p:cNvSpPr>
            <a:spLocks xmlns:a="http://schemas.openxmlformats.org/drawingml/2006/main" noGrp="1"/>
          </p:cNvSpPr>
          <p:nvPr/>
        </p:nvSpPr>
        <p:spPr>
          <a:xfrm xmlns:a="http://schemas.openxmlformats.org/drawingml/2006/main">
            <a:off x="685800" y="400050"/>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4200" b="1">
                <a:solidFill>
                  <a:srgbClr val="176B66"/>
                </a:solidFill>
                <a:latin typeface="Arial"/>
                <a:ea typeface="Arial"/>
                <a:cs typeface="Arial"/>
              </a:defRPr>
            </a:defPPr>
            <a:lvl1pPr algn="l">
              <a:defRPr sz="4200" b="1">
                <a:solidFill>
                  <a:srgbClr val="176B66"/>
                </a:solidFill>
                <a:latin typeface="Arial"/>
                <a:ea typeface="Arial"/>
                <a:cs typeface="Arial"/>
              </a:defRPr>
            </a:lvl1pPr>
            <a:lvl2pPr algn="l">
              <a:defRPr sz="4200" b="1">
                <a:solidFill>
                  <a:srgbClr val="176B66"/>
                </a:solidFill>
                <a:latin typeface="Arial"/>
                <a:ea typeface="Arial"/>
                <a:cs typeface="Arial"/>
              </a:defRPr>
            </a:lvl2pPr>
            <a:lvl3pPr algn="l">
              <a:defRPr sz="4200" b="1">
                <a:solidFill>
                  <a:srgbClr val="176B66"/>
                </a:solidFill>
                <a:latin typeface="Arial"/>
                <a:ea typeface="Arial"/>
                <a:cs typeface="Arial"/>
              </a:defRPr>
            </a:lvl3pPr>
            <a:lvl4pPr algn="l">
              <a:defRPr sz="4200" b="1">
                <a:solidFill>
                  <a:srgbClr val="176B66"/>
                </a:solidFill>
                <a:latin typeface="Arial"/>
                <a:ea typeface="Arial"/>
                <a:cs typeface="Arial"/>
              </a:defRPr>
            </a:lvl4pPr>
            <a:lvl5pPr algn="l">
              <a:defRPr sz="4200" b="1">
                <a:solidFill>
                  <a:srgbClr val="176B66"/>
                </a:solidFill>
                <a:latin typeface="Arial"/>
                <a:ea typeface="Arial"/>
                <a:cs typeface="Arial"/>
              </a:defRPr>
            </a:lvl5pPr>
            <a:lvl6pPr algn="l">
              <a:defRPr sz="4200" b="1">
                <a:solidFill>
                  <a:srgbClr val="176B66"/>
                </a:solidFill>
                <a:latin typeface="Arial"/>
                <a:ea typeface="Arial"/>
                <a:cs typeface="Arial"/>
              </a:defRPr>
            </a:lvl6pPr>
            <a:lvl7pPr algn="l">
              <a:defRPr sz="4200" b="1">
                <a:solidFill>
                  <a:srgbClr val="176B66"/>
                </a:solidFill>
                <a:latin typeface="Arial"/>
                <a:ea typeface="Arial"/>
                <a:cs typeface="Arial"/>
              </a:defRPr>
            </a:lvl7pPr>
            <a:lvl8pPr algn="l">
              <a:defRPr sz="4200" b="1">
                <a:solidFill>
                  <a:srgbClr val="176B66"/>
                </a:solidFill>
                <a:latin typeface="Arial"/>
                <a:ea typeface="Arial"/>
                <a:cs typeface="Arial"/>
              </a:defRPr>
            </a:lvl8pPr>
            <a:lvl9pPr algn="l">
              <a:defRPr sz="4200" b="1">
                <a:solidFill>
                  <a:srgbClr val="176B66"/>
                </a:solidFill>
                <a:latin typeface="Arial"/>
                <a:ea typeface="Arial"/>
                <a:cs typeface="Arial"/>
              </a:defRPr>
            </a:lvl9pPr>
          </a:lstStyle>
          <a:p xmlns:a="http://schemas.openxmlformats.org/drawingml/2006/main">
            <a:pPr algn="l">
              <a:defRPr sz="4200" b="1">
                <a:solidFill>
                  <a:srgbClr val="176B66"/>
                </a:solidFill>
                <a:latin typeface="Arial"/>
                <a:ea typeface="Arial"/>
                <a:cs typeface="Arial"/>
              </a:defRPr>
            </a:pPr>
            <a:r>
              <a:rPr sz="4200" b="1">
                <a:solidFill>
                  <a:srgbClr val="176B66"/>
                </a:solidFill>
                <a:latin typeface="Arial"/>
                <a:ea typeface="Arial"/>
                <a:cs typeface="Arial"/>
              </a:rPr>
              <a:t>Evaluation design</a:t>
            </a:r>
          </a:p>
        </p:txBody>
      </p:sp>
      <p:sp>
        <p:nvSpPr>
          <p:cNvPr id="2" name="slide-6-bullets">
            <a:extLst xmlns:a="http://schemas.openxmlformats.org/drawingml/2006/main">
              <a:ext uri="{FF2B5EF4-FFF2-40B4-BE49-F238E27FC236}">
                <a16:creationId xmlns:a16="http://schemas.microsoft.com/office/drawing/2014/main" id="{A380B149-7AC4-437F-80DA-F010AC560B0B}"/>
              </a:ext>
            </a:extLst>
          </p:cNvPr>
          <p:cNvSpPr>
            <a:spLocks xmlns:a="http://schemas.openxmlformats.org/drawingml/2006/main" noGrp="1"/>
          </p:cNvSpPr>
          <p:nvPr/>
        </p:nvSpPr>
        <p:spPr>
          <a:xfrm xmlns:a="http://schemas.openxmlformats.org/drawingml/2006/main">
            <a:off x="742950" y="1238250"/>
            <a:ext cx="1066800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a:solidFill>
                  <a:srgbClr val="1E302F"/>
                </a:solidFill>
                <a:latin typeface="Arial"/>
                <a:ea typeface="Arial"/>
                <a:cs typeface="Arial"/>
              </a:defRPr>
            </a:defPPr>
            <a:lvl1pPr>
              <a:defRPr sz="1725">
                <a:solidFill>
                  <a:srgbClr val="1E302F"/>
                </a:solidFill>
                <a:latin typeface="Arial"/>
                <a:ea typeface="Arial"/>
                <a:cs typeface="Arial"/>
              </a:defRPr>
            </a:lvl1pPr>
            <a:lvl2pPr>
              <a:defRPr sz="1725">
                <a:solidFill>
                  <a:srgbClr val="1E302F"/>
                </a:solidFill>
                <a:latin typeface="Arial"/>
                <a:ea typeface="Arial"/>
                <a:cs typeface="Arial"/>
              </a:defRPr>
            </a:lvl2pPr>
            <a:lvl3pPr>
              <a:defRPr sz="1725">
                <a:solidFill>
                  <a:srgbClr val="1E302F"/>
                </a:solidFill>
                <a:latin typeface="Arial"/>
                <a:ea typeface="Arial"/>
                <a:cs typeface="Arial"/>
              </a:defRPr>
            </a:lvl3pPr>
            <a:lvl4pPr>
              <a:defRPr sz="1725">
                <a:solidFill>
                  <a:srgbClr val="1E302F"/>
                </a:solidFill>
                <a:latin typeface="Arial"/>
                <a:ea typeface="Arial"/>
                <a:cs typeface="Arial"/>
              </a:defRPr>
            </a:lvl4pPr>
            <a:lvl5pPr>
              <a:defRPr sz="1725">
                <a:solidFill>
                  <a:srgbClr val="1E302F"/>
                </a:solidFill>
                <a:latin typeface="Arial"/>
                <a:ea typeface="Arial"/>
                <a:cs typeface="Arial"/>
              </a:defRPr>
            </a:lvl5pPr>
            <a:lvl6pPr>
              <a:defRPr sz="1725">
                <a:solidFill>
                  <a:srgbClr val="1E302F"/>
                </a:solidFill>
                <a:latin typeface="Arial"/>
                <a:ea typeface="Arial"/>
                <a:cs typeface="Arial"/>
              </a:defRPr>
            </a:lvl6pPr>
            <a:lvl7pPr>
              <a:defRPr sz="1725">
                <a:solidFill>
                  <a:srgbClr val="1E302F"/>
                </a:solidFill>
                <a:latin typeface="Arial"/>
                <a:ea typeface="Arial"/>
                <a:cs typeface="Arial"/>
              </a:defRPr>
            </a:lvl7pPr>
            <a:lvl8pPr>
              <a:defRPr sz="1725">
                <a:solidFill>
                  <a:srgbClr val="1E302F"/>
                </a:solidFill>
                <a:latin typeface="Arial"/>
                <a:ea typeface="Arial"/>
                <a:cs typeface="Arial"/>
              </a:defRPr>
            </a:lvl8pPr>
            <a:lvl9pPr>
              <a:defRPr sz="1725">
                <a:solidFill>
                  <a:srgbClr val="1E302F"/>
                </a:solidFill>
                <a:latin typeface="Arial"/>
                <a:ea typeface="Arial"/>
                <a:cs typeface="Arial"/>
              </a:defRPr>
            </a:lvl9pPr>
          </a:lstStyle>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Chronological development, validation, and locked-test partitions.</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Common eligible targets and counts by lead time.</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Paired block uncertainty for the primary scheduling contrast.</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AIC and BIC compare only compatible likelihood groups.</a:t>
            </a:r>
          </a:p>
        </p:txBody>
      </p:sp>
      <p:graphicFrame>
        <p:nvGraphicFramePr>
          <p:cNvPr id="3" name="">
            <a:extLst xmlns:a="http://schemas.openxmlformats.org/drawingml/2006/main">
              <a:ext uri="{FF2B5EF4-FFF2-40B4-BE49-F238E27FC236}">
                <a16:creationId xmlns:a16="http://schemas.microsoft.com/office/drawing/2014/main" id="{FAC6CF04-1EA4-4304-B351-1866BA3EF5E0}"/>
              </a:ext>
            </a:extLst>
          </p:cNvPr>
          <p:cNvGraphicFramePr/>
          <p:nvPr/>
        </p:nvGraphicFramePr>
        <p:xfrm>
          <a:off xmlns:a="http://schemas.openxmlformats.org/drawingml/2006/main" x="685800" y="2762250"/>
          <a:ext xmlns:a="http://schemas.openxmlformats.org/drawingml/2006/main" cx="10820400" cy="3286125"/>
        </p:xfrm>
        <a:graphic xmlns:a="http://schemas.openxmlformats.org/drawingml/2006/main">
          <a:graphicData uri="http://schemas.openxmlformats.org/drawingml/2006/table">
            <a:tbl>
              <a:tblPr firstRow="1" bandRow="1"/>
              <a:tblGrid>
                <a:gridCol w="5951220"/>
                <a:gridCol w="4869180"/>
              </a:tblGrid>
              <a:tr h="657225">
                <a:tc>
                  <a:txBody>
                    <a:bodyPr/>
                    <a:lstStyle/>
                    <a:p>
                      <a:r>
                        <a:rPr sz="1575" b="1">
                          <a:solidFill>
                            <a:srgbClr val="FFFFFF"/>
                          </a:solidFill>
                          <a:latin typeface="Arial"/>
                          <a:ea typeface="Arial"/>
                          <a:cs typeface="Arial"/>
                        </a:rPr>
                        <a:t>Design item</a:t>
                      </a:r>
                    </a:p>
                  </a:txBody>
                  <a:tcPr marL="91440" marR="91440" marT="45720" marB="45720">
                    <a:lnL w="7620">
                      <a:solidFill>
                        <a:srgbClr val="CED8D5"/>
                      </a:solidFill>
                      <a:prstDash val="solid"/>
                    </a:lnL>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c>
                  <a:txBody>
                    <a:bodyPr/>
                    <a:lstStyle/>
                    <a:p>
                      <a:r>
                        <a:rPr sz="1575" b="1">
                          <a:solidFill>
                            <a:srgbClr val="FFFFFF"/>
                          </a:solidFill>
                          <a:latin typeface="Arial"/>
                          <a:ea typeface="Arial"/>
                          <a:cs typeface="Arial"/>
                        </a:rPr>
                        <a:t>Configured value</a:t>
                      </a:r>
                    </a:p>
                  </a:txBody>
                  <a:tcPr marL="91440" marR="91440" marT="45720" marB="45720">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r>
              <a:tr h="657225">
                <a:tc>
                  <a:txBody>
                    <a:bodyPr/>
                    <a:lstStyle/>
                    <a:p>
                      <a:r>
                        <a:rPr sz="1575" b="0">
                          <a:solidFill>
                            <a:srgbClr val="1E302F"/>
                          </a:solidFill>
                          <a:latin typeface="Arial"/>
                          <a:ea typeface="Arial"/>
                          <a:cs typeface="Arial"/>
                        </a:rPr>
                        <a:t>Validation</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2024-01-01T00:00:00Z to 2025-01-01T00:00:00Z</a:t>
                      </a:r>
                    </a:p>
                  </a:txBody>
                  <a:tcPr marL="91440" marR="91440" marT="45720" marB="45720">
                    <a:lnR w="7620">
                      <a:solidFill>
                        <a:srgbClr val="CED8D5"/>
                      </a:solidFill>
                      <a:prstDash val="solid"/>
                    </a:lnR>
                    <a:lnB w="7620">
                      <a:solidFill>
                        <a:srgbClr val="CED8D5"/>
                      </a:solidFill>
                      <a:prstDash val="solid"/>
                    </a:lnB>
                  </a:tcPr>
                </a:tc>
              </a:tr>
              <a:tr h="657225">
                <a:tc>
                  <a:txBody>
                    <a:bodyPr/>
                    <a:lstStyle/>
                    <a:p>
                      <a:r>
                        <a:rPr sz="1575" b="0">
                          <a:solidFill>
                            <a:srgbClr val="1E302F"/>
                          </a:solidFill>
                          <a:latin typeface="Arial"/>
                          <a:ea typeface="Arial"/>
                          <a:cs typeface="Arial"/>
                        </a:rPr>
                        <a:t>Locked test</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2025-01-01T00:00:00Z to 2026-01-01T00:00:00Z</a:t>
                      </a:r>
                    </a:p>
                  </a:txBody>
                  <a:tcPr marL="91440" marR="91440" marT="45720" marB="45720">
                    <a:lnR w="7620">
                      <a:solidFill>
                        <a:srgbClr val="CED8D5"/>
                      </a:solidFill>
                      <a:prstDash val="solid"/>
                    </a:lnR>
                    <a:lnB w="7620">
                      <a:solidFill>
                        <a:srgbClr val="CED8D5"/>
                      </a:solidFill>
                      <a:prstDash val="solid"/>
                    </a:lnB>
                  </a:tcPr>
                </a:tc>
              </a:tr>
              <a:tr h="657225">
                <a:tc>
                  <a:txBody>
                    <a:bodyPr/>
                    <a:lstStyle/>
                    <a:p>
                      <a:r>
                        <a:rPr sz="1575" b="0">
                          <a:solidFill>
                            <a:srgbClr val="1E302F"/>
                          </a:solidFill>
                          <a:latin typeface="Arial"/>
                          <a:ea typeface="Arial"/>
                          <a:cs typeface="Arial"/>
                        </a:rPr>
                        <a:t>Horizons</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[1, 4, 12, 24, 48]</a:t>
                      </a:r>
                    </a:p>
                  </a:txBody>
                  <a:tcPr marL="91440" marR="91440" marT="45720" marB="45720">
                    <a:lnR w="7620">
                      <a:solidFill>
                        <a:srgbClr val="CED8D5"/>
                      </a:solidFill>
                      <a:prstDash val="solid"/>
                    </a:lnR>
                    <a:lnB w="7620">
                      <a:solidFill>
                        <a:srgbClr val="CED8D5"/>
                      </a:solidFill>
                      <a:prstDash val="solid"/>
                    </a:lnB>
                  </a:tcPr>
                </a:tc>
              </a:tr>
              <a:tr h="657225">
                <a:tc>
                  <a:txBody>
                    <a:bodyPr/>
                    <a:lstStyle/>
                    <a:p>
                      <a:r>
                        <a:rPr sz="1575" b="0">
                          <a:solidFill>
                            <a:srgbClr val="1E302F"/>
                          </a:solidFill>
                          <a:latin typeface="Arial"/>
                          <a:ea typeface="Arial"/>
                          <a:cs typeface="Arial"/>
                        </a:rPr>
                        <a:t>Bootstrap resamples</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2000</a:t>
                      </a:r>
                    </a:p>
                  </a:txBody>
                  <a:tcPr marL="91440" marR="91440" marT="45720" marB="45720">
                    <a:lnR w="7620">
                      <a:solidFill>
                        <a:srgbClr val="CED8D5"/>
                      </a:solidFill>
                      <a:prstDash val="solid"/>
                    </a:lnR>
                    <a:lnB w="7620">
                      <a:solidFill>
                        <a:srgbClr val="CED8D5"/>
                      </a:solidFill>
                      <a:prstDash val="solid"/>
                    </a:lnB>
                  </a:tcPr>
                </a:tc>
              </a:tr>
            </a:tbl>
          </a:graphicData>
        </a:graphic>
      </p:graphicFrame>
    </p:spTree>
    <p:extLst>
      <p:ext uri="{BB962C8B-B14F-4D97-AF65-F5344CB8AC3E}">
        <p14:creationId xmlns:p14="http://schemas.microsoft.com/office/powerpoint/2010/main" val="56956184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7-title">
            <a:extLst xmlns:a="http://schemas.openxmlformats.org/drawingml/2006/main">
              <a:ext uri="{FF2B5EF4-FFF2-40B4-BE49-F238E27FC236}">
                <a16:creationId xmlns:a16="http://schemas.microsoft.com/office/drawing/2014/main" id="{E86365B7-C9BD-4C87-A0E7-99D3C3BAC946}"/>
              </a:ext>
            </a:extLst>
          </p:cNvPr>
          <p:cNvSpPr>
            <a:spLocks xmlns:a="http://schemas.openxmlformats.org/drawingml/2006/main" noGrp="1"/>
          </p:cNvSpPr>
          <p:nvPr/>
        </p:nvSpPr>
        <p:spPr>
          <a:xfrm xmlns:a="http://schemas.openxmlformats.org/drawingml/2006/main">
            <a:off x="685800" y="400050"/>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4200" b="1">
                <a:solidFill>
                  <a:srgbClr val="176B66"/>
                </a:solidFill>
                <a:latin typeface="Arial"/>
                <a:ea typeface="Arial"/>
                <a:cs typeface="Arial"/>
              </a:defRPr>
            </a:defPPr>
            <a:lvl1pPr algn="l">
              <a:defRPr sz="4200" b="1">
                <a:solidFill>
                  <a:srgbClr val="176B66"/>
                </a:solidFill>
                <a:latin typeface="Arial"/>
                <a:ea typeface="Arial"/>
                <a:cs typeface="Arial"/>
              </a:defRPr>
            </a:lvl1pPr>
            <a:lvl2pPr algn="l">
              <a:defRPr sz="4200" b="1">
                <a:solidFill>
                  <a:srgbClr val="176B66"/>
                </a:solidFill>
                <a:latin typeface="Arial"/>
                <a:ea typeface="Arial"/>
                <a:cs typeface="Arial"/>
              </a:defRPr>
            </a:lvl2pPr>
            <a:lvl3pPr algn="l">
              <a:defRPr sz="4200" b="1">
                <a:solidFill>
                  <a:srgbClr val="176B66"/>
                </a:solidFill>
                <a:latin typeface="Arial"/>
                <a:ea typeface="Arial"/>
                <a:cs typeface="Arial"/>
              </a:defRPr>
            </a:lvl3pPr>
            <a:lvl4pPr algn="l">
              <a:defRPr sz="4200" b="1">
                <a:solidFill>
                  <a:srgbClr val="176B66"/>
                </a:solidFill>
                <a:latin typeface="Arial"/>
                <a:ea typeface="Arial"/>
                <a:cs typeface="Arial"/>
              </a:defRPr>
            </a:lvl4pPr>
            <a:lvl5pPr algn="l">
              <a:defRPr sz="4200" b="1">
                <a:solidFill>
                  <a:srgbClr val="176B66"/>
                </a:solidFill>
                <a:latin typeface="Arial"/>
                <a:ea typeface="Arial"/>
                <a:cs typeface="Arial"/>
              </a:defRPr>
            </a:lvl5pPr>
            <a:lvl6pPr algn="l">
              <a:defRPr sz="4200" b="1">
                <a:solidFill>
                  <a:srgbClr val="176B66"/>
                </a:solidFill>
                <a:latin typeface="Arial"/>
                <a:ea typeface="Arial"/>
                <a:cs typeface="Arial"/>
              </a:defRPr>
            </a:lvl6pPr>
            <a:lvl7pPr algn="l">
              <a:defRPr sz="4200" b="1">
                <a:solidFill>
                  <a:srgbClr val="176B66"/>
                </a:solidFill>
                <a:latin typeface="Arial"/>
                <a:ea typeface="Arial"/>
                <a:cs typeface="Arial"/>
              </a:defRPr>
            </a:lvl7pPr>
            <a:lvl8pPr algn="l">
              <a:defRPr sz="4200" b="1">
                <a:solidFill>
                  <a:srgbClr val="176B66"/>
                </a:solidFill>
                <a:latin typeface="Arial"/>
                <a:ea typeface="Arial"/>
                <a:cs typeface="Arial"/>
              </a:defRPr>
            </a:lvl8pPr>
            <a:lvl9pPr algn="l">
              <a:defRPr sz="4200" b="1">
                <a:solidFill>
                  <a:srgbClr val="176B66"/>
                </a:solidFill>
                <a:latin typeface="Arial"/>
                <a:ea typeface="Arial"/>
                <a:cs typeface="Arial"/>
              </a:defRPr>
            </a:lvl9pPr>
          </a:lstStyle>
          <a:p xmlns:a="http://schemas.openxmlformats.org/drawingml/2006/main">
            <a:pPr algn="l">
              <a:defRPr sz="4200" b="1">
                <a:solidFill>
                  <a:srgbClr val="176B66"/>
                </a:solidFill>
                <a:latin typeface="Arial"/>
                <a:ea typeface="Arial"/>
                <a:cs typeface="Arial"/>
              </a:defRPr>
            </a:pPr>
            <a:r>
              <a:rPr sz="4200" b="1">
                <a:solidFill>
                  <a:srgbClr val="176B66"/>
                </a:solidFill>
                <a:latin typeface="Arial"/>
                <a:ea typeface="Arial"/>
                <a:cs typeface="Arial"/>
              </a:rPr>
              <a:t>Validation forecast outcomes</a:t>
            </a:r>
          </a:p>
        </p:txBody>
      </p:sp>
      <p:sp>
        <p:nvSpPr>
          <p:cNvPr id="2" name="slide-7-bullets">
            <a:extLst xmlns:a="http://schemas.openxmlformats.org/drawingml/2006/main">
              <a:ext uri="{FF2B5EF4-FFF2-40B4-BE49-F238E27FC236}">
                <a16:creationId xmlns:a16="http://schemas.microsoft.com/office/drawing/2014/main" id="{2499A1C4-53C5-413F-A70D-36BECC2D93A4}"/>
              </a:ext>
            </a:extLst>
          </p:cNvPr>
          <p:cNvSpPr>
            <a:spLocks xmlns:a="http://schemas.openxmlformats.org/drawingml/2006/main" noGrp="1"/>
          </p:cNvSpPr>
          <p:nvPr/>
        </p:nvSpPr>
        <p:spPr>
          <a:xfrm xmlns:a="http://schemas.openxmlformats.org/drawingml/2006/main">
            <a:off x="742950" y="1238250"/>
            <a:ext cx="10715625"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a:solidFill>
                  <a:srgbClr val="1E302F"/>
                </a:solidFill>
                <a:latin typeface="Arial"/>
                <a:ea typeface="Arial"/>
                <a:cs typeface="Arial"/>
              </a:defRPr>
            </a:defPPr>
            <a:lvl1pPr>
              <a:defRPr sz="1725">
                <a:solidFill>
                  <a:srgbClr val="1E302F"/>
                </a:solidFill>
                <a:latin typeface="Arial"/>
                <a:ea typeface="Arial"/>
                <a:cs typeface="Arial"/>
              </a:defRPr>
            </a:lvl1pPr>
            <a:lvl2pPr>
              <a:defRPr sz="1725">
                <a:solidFill>
                  <a:srgbClr val="1E302F"/>
                </a:solidFill>
                <a:latin typeface="Arial"/>
                <a:ea typeface="Arial"/>
                <a:cs typeface="Arial"/>
              </a:defRPr>
            </a:lvl2pPr>
            <a:lvl3pPr>
              <a:defRPr sz="1725">
                <a:solidFill>
                  <a:srgbClr val="1E302F"/>
                </a:solidFill>
                <a:latin typeface="Arial"/>
                <a:ea typeface="Arial"/>
                <a:cs typeface="Arial"/>
              </a:defRPr>
            </a:lvl3pPr>
            <a:lvl4pPr>
              <a:defRPr sz="1725">
                <a:solidFill>
                  <a:srgbClr val="1E302F"/>
                </a:solidFill>
                <a:latin typeface="Arial"/>
                <a:ea typeface="Arial"/>
                <a:cs typeface="Arial"/>
              </a:defRPr>
            </a:lvl4pPr>
            <a:lvl5pPr>
              <a:defRPr sz="1725">
                <a:solidFill>
                  <a:srgbClr val="1E302F"/>
                </a:solidFill>
                <a:latin typeface="Arial"/>
                <a:ea typeface="Arial"/>
                <a:cs typeface="Arial"/>
              </a:defRPr>
            </a:lvl5pPr>
            <a:lvl6pPr>
              <a:defRPr sz="1725">
                <a:solidFill>
                  <a:srgbClr val="1E302F"/>
                </a:solidFill>
                <a:latin typeface="Arial"/>
                <a:ea typeface="Arial"/>
                <a:cs typeface="Arial"/>
              </a:defRPr>
            </a:lvl6pPr>
            <a:lvl7pPr>
              <a:defRPr sz="1725">
                <a:solidFill>
                  <a:srgbClr val="1E302F"/>
                </a:solidFill>
                <a:latin typeface="Arial"/>
                <a:ea typeface="Arial"/>
                <a:cs typeface="Arial"/>
              </a:defRPr>
            </a:lvl7pPr>
            <a:lvl8pPr>
              <a:defRPr sz="1725">
                <a:solidFill>
                  <a:srgbClr val="1E302F"/>
                </a:solidFill>
                <a:latin typeface="Arial"/>
                <a:ea typeface="Arial"/>
                <a:cs typeface="Arial"/>
              </a:defRPr>
            </a:lvl8pPr>
            <a:lvl9pPr>
              <a:defRPr sz="1725">
                <a:solidFill>
                  <a:srgbClr val="1E302F"/>
                </a:solidFill>
                <a:latin typeface="Arial"/>
                <a:ea typeface="Arial"/>
                <a:cs typeface="Arial"/>
              </a:defRPr>
            </a:lvl9pPr>
          </a:lstStyle>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Validation champion: SARIMA(1,0,1)x(1,0,0,48).</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Strongest simple baseline: persistence.</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The chart shows MAE by lead time only where the source table has a numeric value.</a:t>
            </a:r>
          </a:p>
        </p:txBody>
      </p:sp>
      <p:graphicFrame>
        <p:nvGraphicFramePr>
          <p:cNvPr id="3" name="Chart">
            <a:extLst xmlns:a="http://schemas.openxmlformats.org/drawingml/2006/main">
              <a:ext uri="{FF2B5EF4-FFF2-40B4-BE49-F238E27FC236}">
                <a16:creationId xmlns:a16="http://schemas.microsoft.com/office/drawing/2014/main" id="{2B9A1C63-214B-4ED3-93D3-BA2461CF3C86}"/>
              </a:ext>
            </a:extLst>
          </p:cNvPr>
          <p:cNvGraphicFramePr/>
          <p:nvPr/>
        </p:nvGraphicFramePr>
        <p:xfrm>
          <a:off xmlns:a="http://schemas.openxmlformats.org/drawingml/2006/main" x="685800" y="2333625"/>
          <a:ext xmlns:a="http://schemas.openxmlformats.org/drawingml/2006/main" cx="6572250" cy="3857625"/>
        </p:xfrm>
        <a:graphic xmlns:a="http://schemas.openxmlformats.org/drawingml/2006/main">
          <a:graphicData uri="http://schemas.openxmlformats.org/drawingml/2006/chart">
            <c:chart xmlns:r="http://schemas.openxmlformats.org/officeDocument/2006/relationships" xmlns:c="http://schemas.openxmlformats.org/drawingml/2006/chart" r:id="R2613366237934904"/>
          </a:graphicData>
        </a:graphic>
      </p:graphicFrame>
      <p:graphicFrame>
        <p:nvGraphicFramePr>
          <p:cNvPr id="4" name="">
            <a:extLst xmlns:a="http://schemas.openxmlformats.org/drawingml/2006/main">
              <a:ext uri="{FF2B5EF4-FFF2-40B4-BE49-F238E27FC236}">
                <a16:creationId xmlns:a16="http://schemas.microsoft.com/office/drawing/2014/main" id="{0EB677B6-225D-4140-9FD8-B9603EDAB82F}"/>
              </a:ext>
            </a:extLst>
          </p:cNvPr>
          <p:cNvGraphicFramePr/>
          <p:nvPr/>
        </p:nvGraphicFramePr>
        <p:xfrm>
          <a:off xmlns:a="http://schemas.openxmlformats.org/drawingml/2006/main" x="7524750" y="2381250"/>
          <a:ext xmlns:a="http://schemas.openxmlformats.org/drawingml/2006/main" cx="3981450" cy="3714750"/>
        </p:xfrm>
        <a:graphic xmlns:a="http://schemas.openxmlformats.org/drawingml/2006/main">
          <a:graphicData uri="http://schemas.openxmlformats.org/drawingml/2006/table">
            <a:tbl>
              <a:tblPr firstRow="1" bandRow="1"/>
              <a:tblGrid>
                <a:gridCol w="2189798"/>
                <a:gridCol w="1791653"/>
              </a:tblGrid>
              <a:tr h="1238250">
                <a:tc>
                  <a:txBody>
                    <a:bodyPr/>
                    <a:lstStyle/>
                    <a:p>
                      <a:r>
                        <a:rPr sz="1575" b="1">
                          <a:solidFill>
                            <a:srgbClr val="FFFFFF"/>
                          </a:solidFill>
                          <a:latin typeface="Arial"/>
                          <a:ea typeface="Arial"/>
                          <a:cs typeface="Arial"/>
                        </a:rPr>
                        <a:t>Model</a:t>
                      </a:r>
                    </a:p>
                  </a:txBody>
                  <a:tcPr marL="91440" marR="91440" marT="45720" marB="45720">
                    <a:lnL w="7620">
                      <a:solidFill>
                        <a:srgbClr val="CED8D5"/>
                      </a:solidFill>
                      <a:prstDash val="solid"/>
                    </a:lnL>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c>
                  <a:txBody>
                    <a:bodyPr/>
                    <a:lstStyle/>
                    <a:p>
                      <a:r>
                        <a:rPr sz="1575" b="1">
                          <a:solidFill>
                            <a:srgbClr val="FFFFFF"/>
                          </a:solidFill>
                          <a:latin typeface="Arial"/>
                          <a:ea typeface="Arial"/>
                          <a:cs typeface="Arial"/>
                        </a:rPr>
                        <a:t>Mean endpoint MAE</a:t>
                      </a:r>
                    </a:p>
                  </a:txBody>
                  <a:tcPr marL="91440" marR="91440" marT="45720" marB="45720">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r>
              <a:tr h="1238250">
                <a:tc>
                  <a:txBody>
                    <a:bodyPr/>
                    <a:lstStyle/>
                    <a:p>
                      <a:r>
                        <a:rPr sz="1575" b="0">
                          <a:solidFill>
                            <a:srgbClr val="1E302F"/>
                          </a:solidFill>
                          <a:latin typeface="Arial"/>
                          <a:ea typeface="Arial"/>
                          <a:cs typeface="Arial"/>
                        </a:rPr>
                        <a:t>SARIMA(1,0,1)x(1,0,0,48)</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24.823</a:t>
                      </a:r>
                    </a:p>
                  </a:txBody>
                  <a:tcPr marL="91440" marR="91440" marT="45720" marB="45720">
                    <a:lnR w="7620">
                      <a:solidFill>
                        <a:srgbClr val="CED8D5"/>
                      </a:solidFill>
                      <a:prstDash val="solid"/>
                    </a:lnR>
                    <a:lnB w="7620">
                      <a:solidFill>
                        <a:srgbClr val="CED8D5"/>
                      </a:solidFill>
                      <a:prstDash val="solid"/>
                    </a:lnB>
                  </a:tcPr>
                </a:tc>
              </a:tr>
              <a:tr h="1238250">
                <a:tc>
                  <a:txBody>
                    <a:bodyPr/>
                    <a:lstStyle/>
                    <a:p>
                      <a:r>
                        <a:rPr sz="1575" b="0">
                          <a:solidFill>
                            <a:srgbClr val="1E302F"/>
                          </a:solidFill>
                          <a:latin typeface="Arial"/>
                          <a:ea typeface="Arial"/>
                          <a:cs typeface="Arial"/>
                        </a:rPr>
                        <a:t>persistence</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28.754</a:t>
                      </a:r>
                    </a:p>
                  </a:txBody>
                  <a:tcPr marL="91440" marR="91440" marT="45720" marB="45720">
                    <a:lnR w="7620">
                      <a:solidFill>
                        <a:srgbClr val="CED8D5"/>
                      </a:solidFill>
                      <a:prstDash val="solid"/>
                    </a:lnR>
                    <a:lnB w="7620">
                      <a:solidFill>
                        <a:srgbClr val="CED8D5"/>
                      </a:solidFill>
                      <a:prstDash val="solid"/>
                    </a:lnB>
                  </a:tcPr>
                </a:tc>
              </a:tr>
            </a:tbl>
          </a:graphicData>
        </a:graphic>
      </p:graphicFrame>
    </p:spTree>
    <p:extLst>
      <p:ext uri="{BB962C8B-B14F-4D97-AF65-F5344CB8AC3E}">
        <p14:creationId xmlns:p14="http://schemas.microsoft.com/office/powerpoint/2010/main" val="156693383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8-title">
            <a:extLst xmlns:a="http://schemas.openxmlformats.org/drawingml/2006/main">
              <a:ext uri="{FF2B5EF4-FFF2-40B4-BE49-F238E27FC236}">
                <a16:creationId xmlns:a16="http://schemas.microsoft.com/office/drawing/2014/main" id="{CB89B9F1-88BF-4729-8BAD-423FE2B02435}"/>
              </a:ext>
            </a:extLst>
          </p:cNvPr>
          <p:cNvSpPr>
            <a:spLocks xmlns:a="http://schemas.openxmlformats.org/drawingml/2006/main" noGrp="1"/>
          </p:cNvSpPr>
          <p:nvPr/>
        </p:nvSpPr>
        <p:spPr>
          <a:xfrm xmlns:a="http://schemas.openxmlformats.org/drawingml/2006/main">
            <a:off x="685800" y="400050"/>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4200" b="1">
                <a:solidFill>
                  <a:srgbClr val="176B66"/>
                </a:solidFill>
                <a:latin typeface="Arial"/>
                <a:ea typeface="Arial"/>
                <a:cs typeface="Arial"/>
              </a:defRPr>
            </a:defPPr>
            <a:lvl1pPr algn="l">
              <a:defRPr sz="4200" b="1">
                <a:solidFill>
                  <a:srgbClr val="176B66"/>
                </a:solidFill>
                <a:latin typeface="Arial"/>
                <a:ea typeface="Arial"/>
                <a:cs typeface="Arial"/>
              </a:defRPr>
            </a:lvl1pPr>
            <a:lvl2pPr algn="l">
              <a:defRPr sz="4200" b="1">
                <a:solidFill>
                  <a:srgbClr val="176B66"/>
                </a:solidFill>
                <a:latin typeface="Arial"/>
                <a:ea typeface="Arial"/>
                <a:cs typeface="Arial"/>
              </a:defRPr>
            </a:lvl2pPr>
            <a:lvl3pPr algn="l">
              <a:defRPr sz="4200" b="1">
                <a:solidFill>
                  <a:srgbClr val="176B66"/>
                </a:solidFill>
                <a:latin typeface="Arial"/>
                <a:ea typeface="Arial"/>
                <a:cs typeface="Arial"/>
              </a:defRPr>
            </a:lvl3pPr>
            <a:lvl4pPr algn="l">
              <a:defRPr sz="4200" b="1">
                <a:solidFill>
                  <a:srgbClr val="176B66"/>
                </a:solidFill>
                <a:latin typeface="Arial"/>
                <a:ea typeface="Arial"/>
                <a:cs typeface="Arial"/>
              </a:defRPr>
            </a:lvl4pPr>
            <a:lvl5pPr algn="l">
              <a:defRPr sz="4200" b="1">
                <a:solidFill>
                  <a:srgbClr val="176B66"/>
                </a:solidFill>
                <a:latin typeface="Arial"/>
                <a:ea typeface="Arial"/>
                <a:cs typeface="Arial"/>
              </a:defRPr>
            </a:lvl5pPr>
            <a:lvl6pPr algn="l">
              <a:defRPr sz="4200" b="1">
                <a:solidFill>
                  <a:srgbClr val="176B66"/>
                </a:solidFill>
                <a:latin typeface="Arial"/>
                <a:ea typeface="Arial"/>
                <a:cs typeface="Arial"/>
              </a:defRPr>
            </a:lvl6pPr>
            <a:lvl7pPr algn="l">
              <a:defRPr sz="4200" b="1">
                <a:solidFill>
                  <a:srgbClr val="176B66"/>
                </a:solidFill>
                <a:latin typeface="Arial"/>
                <a:ea typeface="Arial"/>
                <a:cs typeface="Arial"/>
              </a:defRPr>
            </a:lvl7pPr>
            <a:lvl8pPr algn="l">
              <a:defRPr sz="4200" b="1">
                <a:solidFill>
                  <a:srgbClr val="176B66"/>
                </a:solidFill>
                <a:latin typeface="Arial"/>
                <a:ea typeface="Arial"/>
                <a:cs typeface="Arial"/>
              </a:defRPr>
            </a:lvl8pPr>
            <a:lvl9pPr algn="l">
              <a:defRPr sz="4200" b="1">
                <a:solidFill>
                  <a:srgbClr val="176B66"/>
                </a:solidFill>
                <a:latin typeface="Arial"/>
                <a:ea typeface="Arial"/>
                <a:cs typeface="Arial"/>
              </a:defRPr>
            </a:lvl9pPr>
          </a:lstStyle>
          <a:p xmlns:a="http://schemas.openxmlformats.org/drawingml/2006/main">
            <a:pPr algn="l">
              <a:defRPr sz="4200" b="1">
                <a:solidFill>
                  <a:srgbClr val="176B66"/>
                </a:solidFill>
                <a:latin typeface="Arial"/>
                <a:ea typeface="Arial"/>
                <a:cs typeface="Arial"/>
              </a:defRPr>
            </a:pPr>
            <a:r>
              <a:rPr sz="4200" b="1">
                <a:solidFill>
                  <a:srgbClr val="176B66"/>
                </a:solidFill>
                <a:latin typeface="Arial"/>
                <a:ea typeface="Arial"/>
                <a:cs typeface="Arial"/>
              </a:rPr>
              <a:t>Locked-test forecast outcomes</a:t>
            </a:r>
          </a:p>
        </p:txBody>
      </p:sp>
      <p:sp>
        <p:nvSpPr>
          <p:cNvPr id="2" name="slide-8-bullets">
            <a:extLst xmlns:a="http://schemas.openxmlformats.org/drawingml/2006/main">
              <a:ext uri="{FF2B5EF4-FFF2-40B4-BE49-F238E27FC236}">
                <a16:creationId xmlns:a16="http://schemas.microsoft.com/office/drawing/2014/main" id="{D3F05BB5-65A7-4263-8C9A-EE8AB0D639CF}"/>
              </a:ext>
            </a:extLst>
          </p:cNvPr>
          <p:cNvSpPr>
            <a:spLocks xmlns:a="http://schemas.openxmlformats.org/drawingml/2006/main" noGrp="1"/>
          </p:cNvSpPr>
          <p:nvPr/>
        </p:nvSpPr>
        <p:spPr>
          <a:xfrm xmlns:a="http://schemas.openxmlformats.org/drawingml/2006/main">
            <a:off x="742950" y="1238250"/>
            <a:ext cx="10715625"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a:solidFill>
                  <a:srgbClr val="1E302F"/>
                </a:solidFill>
                <a:latin typeface="Arial"/>
                <a:ea typeface="Arial"/>
                <a:cs typeface="Arial"/>
              </a:defRPr>
            </a:defPPr>
            <a:lvl1pPr>
              <a:defRPr sz="1725">
                <a:solidFill>
                  <a:srgbClr val="1E302F"/>
                </a:solidFill>
                <a:latin typeface="Arial"/>
                <a:ea typeface="Arial"/>
                <a:cs typeface="Arial"/>
              </a:defRPr>
            </a:lvl1pPr>
            <a:lvl2pPr>
              <a:defRPr sz="1725">
                <a:solidFill>
                  <a:srgbClr val="1E302F"/>
                </a:solidFill>
                <a:latin typeface="Arial"/>
                <a:ea typeface="Arial"/>
                <a:cs typeface="Arial"/>
              </a:defRPr>
            </a:lvl2pPr>
            <a:lvl3pPr>
              <a:defRPr sz="1725">
                <a:solidFill>
                  <a:srgbClr val="1E302F"/>
                </a:solidFill>
                <a:latin typeface="Arial"/>
                <a:ea typeface="Arial"/>
                <a:cs typeface="Arial"/>
              </a:defRPr>
            </a:lvl3pPr>
            <a:lvl4pPr>
              <a:defRPr sz="1725">
                <a:solidFill>
                  <a:srgbClr val="1E302F"/>
                </a:solidFill>
                <a:latin typeface="Arial"/>
                <a:ea typeface="Arial"/>
                <a:cs typeface="Arial"/>
              </a:defRPr>
            </a:lvl4pPr>
            <a:lvl5pPr>
              <a:defRPr sz="1725">
                <a:solidFill>
                  <a:srgbClr val="1E302F"/>
                </a:solidFill>
                <a:latin typeface="Arial"/>
                <a:ea typeface="Arial"/>
                <a:cs typeface="Arial"/>
              </a:defRPr>
            </a:lvl5pPr>
            <a:lvl6pPr>
              <a:defRPr sz="1725">
                <a:solidFill>
                  <a:srgbClr val="1E302F"/>
                </a:solidFill>
                <a:latin typeface="Arial"/>
                <a:ea typeface="Arial"/>
                <a:cs typeface="Arial"/>
              </a:defRPr>
            </a:lvl6pPr>
            <a:lvl7pPr>
              <a:defRPr sz="1725">
                <a:solidFill>
                  <a:srgbClr val="1E302F"/>
                </a:solidFill>
                <a:latin typeface="Arial"/>
                <a:ea typeface="Arial"/>
                <a:cs typeface="Arial"/>
              </a:defRPr>
            </a:lvl7pPr>
            <a:lvl8pPr>
              <a:defRPr sz="1725">
                <a:solidFill>
                  <a:srgbClr val="1E302F"/>
                </a:solidFill>
                <a:latin typeface="Arial"/>
                <a:ea typeface="Arial"/>
                <a:cs typeface="Arial"/>
              </a:defRPr>
            </a:lvl8pPr>
            <a:lvl9pPr>
              <a:defRPr sz="1725">
                <a:solidFill>
                  <a:srgbClr val="1E302F"/>
                </a:solidFill>
                <a:latin typeface="Arial"/>
                <a:ea typeface="Arial"/>
                <a:cs typeface="Arial"/>
              </a:defRPr>
            </a:lvl9pPr>
          </a:lstStyle>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Test rows report the validation-selected champion and simple baseline.</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The test does not change the selected model.</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Null metrics and zero-count groups remain unfilled.</a:t>
            </a:r>
          </a:p>
        </p:txBody>
      </p:sp>
      <p:graphicFrame>
        <p:nvGraphicFramePr>
          <p:cNvPr id="3" name="Chart">
            <a:extLst xmlns:a="http://schemas.openxmlformats.org/drawingml/2006/main">
              <a:ext uri="{FF2B5EF4-FFF2-40B4-BE49-F238E27FC236}">
                <a16:creationId xmlns:a16="http://schemas.microsoft.com/office/drawing/2014/main" id="{86D6DB3C-5515-4CB1-A1D6-080699F87D66}"/>
              </a:ext>
            </a:extLst>
          </p:cNvPr>
          <p:cNvGraphicFramePr/>
          <p:nvPr/>
        </p:nvGraphicFramePr>
        <p:xfrm>
          <a:off xmlns:a="http://schemas.openxmlformats.org/drawingml/2006/main" x="685800" y="2333625"/>
          <a:ext xmlns:a="http://schemas.openxmlformats.org/drawingml/2006/main" cx="6572250" cy="3857625"/>
        </p:xfrm>
        <a:graphic xmlns:a="http://schemas.openxmlformats.org/drawingml/2006/main">
          <a:graphicData uri="http://schemas.openxmlformats.org/drawingml/2006/chart">
            <c:chart xmlns:r="http://schemas.openxmlformats.org/officeDocument/2006/relationships" xmlns:c="http://schemas.openxmlformats.org/drawingml/2006/chart" r:id="Rfcafb83102844e7a"/>
          </a:graphicData>
        </a:graphic>
      </p:graphicFrame>
      <p:graphicFrame>
        <p:nvGraphicFramePr>
          <p:cNvPr id="4" name="">
            <a:extLst xmlns:a="http://schemas.openxmlformats.org/drawingml/2006/main">
              <a:ext uri="{FF2B5EF4-FFF2-40B4-BE49-F238E27FC236}">
                <a16:creationId xmlns:a16="http://schemas.microsoft.com/office/drawing/2014/main" id="{64F4C380-D816-49BD-AAF2-79C9D0B0314D}"/>
              </a:ext>
            </a:extLst>
          </p:cNvPr>
          <p:cNvGraphicFramePr/>
          <p:nvPr/>
        </p:nvGraphicFramePr>
        <p:xfrm>
          <a:off xmlns:a="http://schemas.openxmlformats.org/drawingml/2006/main" x="7524750" y="2381250"/>
          <a:ext xmlns:a="http://schemas.openxmlformats.org/drawingml/2006/main" cx="3981450" cy="3714750"/>
        </p:xfrm>
        <a:graphic xmlns:a="http://schemas.openxmlformats.org/drawingml/2006/main">
          <a:graphicData uri="http://schemas.openxmlformats.org/drawingml/2006/table">
            <a:tbl>
              <a:tblPr firstRow="1" bandRow="1"/>
              <a:tblGrid>
                <a:gridCol w="2189798"/>
                <a:gridCol w="1791653"/>
              </a:tblGrid>
              <a:tr h="1238250">
                <a:tc>
                  <a:txBody>
                    <a:bodyPr/>
                    <a:lstStyle/>
                    <a:p>
                      <a:r>
                        <a:rPr sz="1575" b="1">
                          <a:solidFill>
                            <a:srgbClr val="FFFFFF"/>
                          </a:solidFill>
                          <a:latin typeface="Arial"/>
                          <a:ea typeface="Arial"/>
                          <a:cs typeface="Arial"/>
                        </a:rPr>
                        <a:t>Model</a:t>
                      </a:r>
                    </a:p>
                  </a:txBody>
                  <a:tcPr marL="91440" marR="91440" marT="45720" marB="45720">
                    <a:lnL w="7620">
                      <a:solidFill>
                        <a:srgbClr val="CED8D5"/>
                      </a:solidFill>
                      <a:prstDash val="solid"/>
                    </a:lnL>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c>
                  <a:txBody>
                    <a:bodyPr/>
                    <a:lstStyle/>
                    <a:p>
                      <a:r>
                        <a:rPr sz="1575" b="1">
                          <a:solidFill>
                            <a:srgbClr val="FFFFFF"/>
                          </a:solidFill>
                          <a:latin typeface="Arial"/>
                          <a:ea typeface="Arial"/>
                          <a:cs typeface="Arial"/>
                        </a:rPr>
                        <a:t>Mean endpoint MAE</a:t>
                      </a:r>
                    </a:p>
                  </a:txBody>
                  <a:tcPr marL="91440" marR="91440" marT="45720" marB="45720">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r>
              <a:tr h="1238250">
                <a:tc>
                  <a:txBody>
                    <a:bodyPr/>
                    <a:lstStyle/>
                    <a:p>
                      <a:r>
                        <a:rPr sz="1575" b="0">
                          <a:solidFill>
                            <a:srgbClr val="1E302F"/>
                          </a:solidFill>
                          <a:latin typeface="Arial"/>
                          <a:ea typeface="Arial"/>
                          <a:cs typeface="Arial"/>
                        </a:rPr>
                        <a:t>SARIMA(1,0,1)x(1,0,0,48)</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24.453</a:t>
                      </a:r>
                    </a:p>
                  </a:txBody>
                  <a:tcPr marL="91440" marR="91440" marT="45720" marB="45720">
                    <a:lnR w="7620">
                      <a:solidFill>
                        <a:srgbClr val="CED8D5"/>
                      </a:solidFill>
                      <a:prstDash val="solid"/>
                    </a:lnR>
                    <a:lnB w="7620">
                      <a:solidFill>
                        <a:srgbClr val="CED8D5"/>
                      </a:solidFill>
                      <a:prstDash val="solid"/>
                    </a:lnB>
                  </a:tcPr>
                </a:tc>
              </a:tr>
              <a:tr h="1238250">
                <a:tc>
                  <a:txBody>
                    <a:bodyPr/>
                    <a:lstStyle/>
                    <a:p>
                      <a:r>
                        <a:rPr sz="1575" b="0">
                          <a:solidFill>
                            <a:srgbClr val="1E302F"/>
                          </a:solidFill>
                          <a:latin typeface="Arial"/>
                          <a:ea typeface="Arial"/>
                          <a:cs typeface="Arial"/>
                        </a:rPr>
                        <a:t>persistence</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29.122</a:t>
                      </a:r>
                    </a:p>
                  </a:txBody>
                  <a:tcPr marL="91440" marR="91440" marT="45720" marB="45720">
                    <a:lnR w="7620">
                      <a:solidFill>
                        <a:srgbClr val="CED8D5"/>
                      </a:solidFill>
                      <a:prstDash val="solid"/>
                    </a:lnR>
                    <a:lnB w="7620">
                      <a:solidFill>
                        <a:srgbClr val="CED8D5"/>
                      </a:solidFill>
                      <a:prstDash val="solid"/>
                    </a:lnB>
                  </a:tcPr>
                </a:tc>
              </a:tr>
            </a:tbl>
          </a:graphicData>
        </a:graphic>
      </p:graphicFrame>
    </p:spTree>
    <p:extLst>
      <p:ext uri="{BB962C8B-B14F-4D97-AF65-F5344CB8AC3E}">
        <p14:creationId xmlns:p14="http://schemas.microsoft.com/office/powerpoint/2010/main" val="12242482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slide-9-title">
            <a:extLst xmlns:a="http://schemas.openxmlformats.org/drawingml/2006/main">
              <a:ext uri="{FF2B5EF4-FFF2-40B4-BE49-F238E27FC236}">
                <a16:creationId xmlns:a16="http://schemas.microsoft.com/office/drawing/2014/main" id="{9EA3360C-B52F-49F9-B2A4-6DF4A4A54EC2}"/>
              </a:ext>
            </a:extLst>
          </p:cNvPr>
          <p:cNvSpPr>
            <a:spLocks xmlns:a="http://schemas.openxmlformats.org/drawingml/2006/main" noGrp="1"/>
          </p:cNvSpPr>
          <p:nvPr/>
        </p:nvSpPr>
        <p:spPr>
          <a:xfrm xmlns:a="http://schemas.openxmlformats.org/drawingml/2006/main">
            <a:off x="685800" y="400050"/>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4200" b="1">
                <a:solidFill>
                  <a:srgbClr val="176B66"/>
                </a:solidFill>
                <a:latin typeface="Arial"/>
                <a:ea typeface="Arial"/>
                <a:cs typeface="Arial"/>
              </a:defRPr>
            </a:defPPr>
            <a:lvl1pPr algn="l">
              <a:defRPr sz="4200" b="1">
                <a:solidFill>
                  <a:srgbClr val="176B66"/>
                </a:solidFill>
                <a:latin typeface="Arial"/>
                <a:ea typeface="Arial"/>
                <a:cs typeface="Arial"/>
              </a:defRPr>
            </a:lvl1pPr>
            <a:lvl2pPr algn="l">
              <a:defRPr sz="4200" b="1">
                <a:solidFill>
                  <a:srgbClr val="176B66"/>
                </a:solidFill>
                <a:latin typeface="Arial"/>
                <a:ea typeface="Arial"/>
                <a:cs typeface="Arial"/>
              </a:defRPr>
            </a:lvl2pPr>
            <a:lvl3pPr algn="l">
              <a:defRPr sz="4200" b="1">
                <a:solidFill>
                  <a:srgbClr val="176B66"/>
                </a:solidFill>
                <a:latin typeface="Arial"/>
                <a:ea typeface="Arial"/>
                <a:cs typeface="Arial"/>
              </a:defRPr>
            </a:lvl3pPr>
            <a:lvl4pPr algn="l">
              <a:defRPr sz="4200" b="1">
                <a:solidFill>
                  <a:srgbClr val="176B66"/>
                </a:solidFill>
                <a:latin typeface="Arial"/>
                <a:ea typeface="Arial"/>
                <a:cs typeface="Arial"/>
              </a:defRPr>
            </a:lvl4pPr>
            <a:lvl5pPr algn="l">
              <a:defRPr sz="4200" b="1">
                <a:solidFill>
                  <a:srgbClr val="176B66"/>
                </a:solidFill>
                <a:latin typeface="Arial"/>
                <a:ea typeface="Arial"/>
                <a:cs typeface="Arial"/>
              </a:defRPr>
            </a:lvl5pPr>
            <a:lvl6pPr algn="l">
              <a:defRPr sz="4200" b="1">
                <a:solidFill>
                  <a:srgbClr val="176B66"/>
                </a:solidFill>
                <a:latin typeface="Arial"/>
                <a:ea typeface="Arial"/>
                <a:cs typeface="Arial"/>
              </a:defRPr>
            </a:lvl6pPr>
            <a:lvl7pPr algn="l">
              <a:defRPr sz="4200" b="1">
                <a:solidFill>
                  <a:srgbClr val="176B66"/>
                </a:solidFill>
                <a:latin typeface="Arial"/>
                <a:ea typeface="Arial"/>
                <a:cs typeface="Arial"/>
              </a:defRPr>
            </a:lvl7pPr>
            <a:lvl8pPr algn="l">
              <a:defRPr sz="4200" b="1">
                <a:solidFill>
                  <a:srgbClr val="176B66"/>
                </a:solidFill>
                <a:latin typeface="Arial"/>
                <a:ea typeface="Arial"/>
                <a:cs typeface="Arial"/>
              </a:defRPr>
            </a:lvl8pPr>
            <a:lvl9pPr algn="l">
              <a:defRPr sz="4200" b="1">
                <a:solidFill>
                  <a:srgbClr val="176B66"/>
                </a:solidFill>
                <a:latin typeface="Arial"/>
                <a:ea typeface="Arial"/>
                <a:cs typeface="Arial"/>
              </a:defRPr>
            </a:lvl9pPr>
          </a:lstStyle>
          <a:p xmlns:a="http://schemas.openxmlformats.org/drawingml/2006/main">
            <a:pPr algn="l">
              <a:defRPr sz="4200" b="1">
                <a:solidFill>
                  <a:srgbClr val="176B66"/>
                </a:solidFill>
                <a:latin typeface="Arial"/>
                <a:ea typeface="Arial"/>
                <a:cs typeface="Arial"/>
              </a:defRPr>
            </a:pPr>
            <a:r>
              <a:rPr sz="4200" b="1">
                <a:solidFill>
                  <a:srgbClr val="176B66"/>
                </a:solidFill>
                <a:latin typeface="Arial"/>
                <a:ea typeface="Arial"/>
                <a:cs typeface="Arial"/>
              </a:rPr>
              <a:t>Scheduling formulation</a:t>
            </a:r>
          </a:p>
        </p:txBody>
      </p:sp>
      <p:sp>
        <p:nvSpPr>
          <p:cNvPr id="2" name="slide-9-bullets">
            <a:extLst xmlns:a="http://schemas.openxmlformats.org/drawingml/2006/main">
              <a:ext uri="{FF2B5EF4-FFF2-40B4-BE49-F238E27FC236}">
                <a16:creationId xmlns:a16="http://schemas.microsoft.com/office/drawing/2014/main" id="{AAD68DC5-42CE-42F7-8EC7-2D63797EBCE4}"/>
              </a:ext>
            </a:extLst>
          </p:cNvPr>
          <p:cNvSpPr>
            <a:spLocks xmlns:a="http://schemas.openxmlformats.org/drawingml/2006/main" noGrp="1"/>
          </p:cNvSpPr>
          <p:nvPr/>
        </p:nvSpPr>
        <p:spPr>
          <a:xfrm xmlns:a="http://schemas.openxmlformats.org/drawingml/2006/main">
            <a:off x="742950" y="1238250"/>
            <a:ext cx="1066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a:solidFill>
                  <a:srgbClr val="1E302F"/>
                </a:solidFill>
                <a:latin typeface="Arial"/>
                <a:ea typeface="Arial"/>
                <a:cs typeface="Arial"/>
              </a:defRPr>
            </a:defPPr>
            <a:lvl1pPr>
              <a:defRPr sz="1725">
                <a:solidFill>
                  <a:srgbClr val="1E302F"/>
                </a:solidFill>
                <a:latin typeface="Arial"/>
                <a:ea typeface="Arial"/>
                <a:cs typeface="Arial"/>
              </a:defRPr>
            </a:lvl1pPr>
            <a:lvl2pPr>
              <a:defRPr sz="1725">
                <a:solidFill>
                  <a:srgbClr val="1E302F"/>
                </a:solidFill>
                <a:latin typeface="Arial"/>
                <a:ea typeface="Arial"/>
                <a:cs typeface="Arial"/>
              </a:defRPr>
            </a:lvl2pPr>
            <a:lvl3pPr>
              <a:defRPr sz="1725">
                <a:solidFill>
                  <a:srgbClr val="1E302F"/>
                </a:solidFill>
                <a:latin typeface="Arial"/>
                <a:ea typeface="Arial"/>
                <a:cs typeface="Arial"/>
              </a:defRPr>
            </a:lvl3pPr>
            <a:lvl4pPr>
              <a:defRPr sz="1725">
                <a:solidFill>
                  <a:srgbClr val="1E302F"/>
                </a:solidFill>
                <a:latin typeface="Arial"/>
                <a:ea typeface="Arial"/>
                <a:cs typeface="Arial"/>
              </a:defRPr>
            </a:lvl4pPr>
            <a:lvl5pPr>
              <a:defRPr sz="1725">
                <a:solidFill>
                  <a:srgbClr val="1E302F"/>
                </a:solidFill>
                <a:latin typeface="Arial"/>
                <a:ea typeface="Arial"/>
                <a:cs typeface="Arial"/>
              </a:defRPr>
            </a:lvl5pPr>
            <a:lvl6pPr>
              <a:defRPr sz="1725">
                <a:solidFill>
                  <a:srgbClr val="1E302F"/>
                </a:solidFill>
                <a:latin typeface="Arial"/>
                <a:ea typeface="Arial"/>
                <a:cs typeface="Arial"/>
              </a:defRPr>
            </a:lvl6pPr>
            <a:lvl7pPr>
              <a:defRPr sz="1725">
                <a:solidFill>
                  <a:srgbClr val="1E302F"/>
                </a:solidFill>
                <a:latin typeface="Arial"/>
                <a:ea typeface="Arial"/>
                <a:cs typeface="Arial"/>
              </a:defRPr>
            </a:lvl7pPr>
            <a:lvl8pPr>
              <a:defRPr sz="1725">
                <a:solidFill>
                  <a:srgbClr val="1E302F"/>
                </a:solidFill>
                <a:latin typeface="Arial"/>
                <a:ea typeface="Arial"/>
                <a:cs typeface="Arial"/>
              </a:defRPr>
            </a:lvl8pPr>
            <a:lvl9pPr>
              <a:defRPr sz="1725">
                <a:solidFill>
                  <a:srgbClr val="1E302F"/>
                </a:solidFill>
                <a:latin typeface="Arial"/>
                <a:ea typeface="Arial"/>
                <a:cs typeface="Arial"/>
              </a:defRPr>
            </a:lvl9pPr>
          </a:lstStyle>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Minimize forecast intensity integrated over full job energy.</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Keep deadlines, capacity, and reservations as hard constraints.</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Use an oracle only as an unattainable opportunity bound.</a:t>
            </a:r>
          </a:p>
        </p:txBody>
      </p:sp>
      <p:graphicFrame>
        <p:nvGraphicFramePr>
          <p:cNvPr id="3" name="">
            <a:extLst xmlns:a="http://schemas.openxmlformats.org/drawingml/2006/main">
              <a:ext uri="{FF2B5EF4-FFF2-40B4-BE49-F238E27FC236}">
                <a16:creationId xmlns:a16="http://schemas.microsoft.com/office/drawing/2014/main" id="{684C209A-E00D-4FD8-A5B6-AD7BAD5CDFD6}"/>
              </a:ext>
            </a:extLst>
          </p:cNvPr>
          <p:cNvGraphicFramePr/>
          <p:nvPr/>
        </p:nvGraphicFramePr>
        <p:xfrm>
          <a:off xmlns:a="http://schemas.openxmlformats.org/drawingml/2006/main" x="685800" y="2333625"/>
          <a:ext xmlns:a="http://schemas.openxmlformats.org/drawingml/2006/main" cx="10820400" cy="3714750"/>
        </p:xfrm>
        <a:graphic xmlns:a="http://schemas.openxmlformats.org/drawingml/2006/main">
          <a:graphicData uri="http://schemas.openxmlformats.org/drawingml/2006/table">
            <a:tbl>
              <a:tblPr firstRow="1" bandRow="1"/>
              <a:tblGrid>
                <a:gridCol w="5951220"/>
                <a:gridCol w="4869180"/>
              </a:tblGrid>
              <a:tr h="619125">
                <a:tc>
                  <a:txBody>
                    <a:bodyPr/>
                    <a:lstStyle/>
                    <a:p>
                      <a:r>
                        <a:rPr sz="1575" b="1">
                          <a:solidFill>
                            <a:srgbClr val="FFFFFF"/>
                          </a:solidFill>
                          <a:latin typeface="Arial"/>
                          <a:ea typeface="Arial"/>
                          <a:cs typeface="Arial"/>
                        </a:rPr>
                        <a:t>Declared assumption</a:t>
                      </a:r>
                    </a:p>
                  </a:txBody>
                  <a:tcPr marL="91440" marR="91440" marT="45720" marB="45720">
                    <a:lnL w="7620">
                      <a:solidFill>
                        <a:srgbClr val="CED8D5"/>
                      </a:solidFill>
                      <a:prstDash val="solid"/>
                    </a:lnL>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c>
                  <a:txBody>
                    <a:bodyPr/>
                    <a:lstStyle/>
                    <a:p>
                      <a:r>
                        <a:rPr sz="1575" b="1">
                          <a:solidFill>
                            <a:srgbClr val="FFFFFF"/>
                          </a:solidFill>
                          <a:latin typeface="Arial"/>
                          <a:ea typeface="Arial"/>
                          <a:cs typeface="Arial"/>
                        </a:rPr>
                        <a:t>Value</a:t>
                      </a:r>
                    </a:p>
                  </a:txBody>
                  <a:tcPr marL="91440" marR="91440" marT="45720" marB="45720">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r>
              <a:tr h="619125">
                <a:tc>
                  <a:txBody>
                    <a:bodyPr/>
                    <a:lstStyle/>
                    <a:p>
                      <a:r>
                        <a:rPr sz="1575" b="0">
                          <a:solidFill>
                            <a:srgbClr val="1E302F"/>
                          </a:solidFill>
                          <a:latin typeface="Arial"/>
                          <a:ea typeface="Arial"/>
                          <a:cs typeface="Arial"/>
                        </a:rPr>
                        <a:t>Default duration (hours)</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2</a:t>
                      </a:r>
                    </a:p>
                  </a:txBody>
                  <a:tcPr marL="91440" marR="91440" marT="45720" marB="45720">
                    <a:lnR w="7620">
                      <a:solidFill>
                        <a:srgbClr val="CED8D5"/>
                      </a:solidFill>
                      <a:prstDash val="solid"/>
                    </a:lnR>
                    <a:lnB w="7620">
                      <a:solidFill>
                        <a:srgbClr val="CED8D5"/>
                      </a:solidFill>
                      <a:prstDash val="solid"/>
                    </a:lnB>
                  </a:tcPr>
                </a:tc>
              </a:tr>
              <a:tr h="619125">
                <a:tc>
                  <a:txBody>
                    <a:bodyPr/>
                    <a:lstStyle/>
                    <a:p>
                      <a:r>
                        <a:rPr sz="1575" b="0">
                          <a:solidFill>
                            <a:srgbClr val="1E302F"/>
                          </a:solidFill>
                          <a:latin typeface="Arial"/>
                          <a:ea typeface="Arial"/>
                          <a:cs typeface="Arial"/>
                        </a:rPr>
                        <a:t>Default slack (hours)</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10</a:t>
                      </a:r>
                    </a:p>
                  </a:txBody>
                  <a:tcPr marL="91440" marR="91440" marT="45720" marB="45720">
                    <a:lnR w="7620">
                      <a:solidFill>
                        <a:srgbClr val="CED8D5"/>
                      </a:solidFill>
                      <a:prstDash val="solid"/>
                    </a:lnR>
                    <a:lnB w="7620">
                      <a:solidFill>
                        <a:srgbClr val="CED8D5"/>
                      </a:solidFill>
                      <a:prstDash val="solid"/>
                    </a:lnB>
                  </a:tcPr>
                </a:tc>
              </a:tr>
              <a:tr h="619125">
                <a:tc>
                  <a:txBody>
                    <a:bodyPr/>
                    <a:lstStyle/>
                    <a:p>
                      <a:r>
                        <a:rPr sz="1575" b="0">
                          <a:solidFill>
                            <a:srgbClr val="1E302F"/>
                          </a:solidFill>
                          <a:latin typeface="Arial"/>
                          <a:ea typeface="Arial"/>
                          <a:cs typeface="Arial"/>
                        </a:rPr>
                        <a:t>Power (kW)</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0.4</a:t>
                      </a:r>
                    </a:p>
                  </a:txBody>
                  <a:tcPr marL="91440" marR="91440" marT="45720" marB="45720">
                    <a:lnR w="7620">
                      <a:solidFill>
                        <a:srgbClr val="CED8D5"/>
                      </a:solidFill>
                      <a:prstDash val="solid"/>
                    </a:lnR>
                    <a:lnB w="7620">
                      <a:solidFill>
                        <a:srgbClr val="CED8D5"/>
                      </a:solidFill>
                      <a:prstDash val="solid"/>
                    </a:lnB>
                  </a:tcPr>
                </a:tc>
              </a:tr>
              <a:tr h="619125">
                <a:tc>
                  <a:txBody>
                    <a:bodyPr/>
                    <a:lstStyle/>
                    <a:p>
                      <a:r>
                        <a:rPr sz="1575" b="0">
                          <a:solidFill>
                            <a:srgbClr val="1E302F"/>
                          </a:solidFill>
                          <a:latin typeface="Arial"/>
                          <a:ea typeface="Arial"/>
                          <a:cs typeface="Arial"/>
                        </a:rPr>
                        <a:t>PUE</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1.2</a:t>
                      </a:r>
                    </a:p>
                  </a:txBody>
                  <a:tcPr marL="91440" marR="91440" marT="45720" marB="45720">
                    <a:lnR w="7620">
                      <a:solidFill>
                        <a:srgbClr val="CED8D5"/>
                      </a:solidFill>
                      <a:prstDash val="solid"/>
                    </a:lnR>
                    <a:lnB w="7620">
                      <a:solidFill>
                        <a:srgbClr val="CED8D5"/>
                      </a:solidFill>
                      <a:prstDash val="solid"/>
                    </a:lnB>
                  </a:tcPr>
                </a:tc>
              </a:tr>
              <a:tr h="619125">
                <a:tc>
                  <a:txBody>
                    <a:bodyPr/>
                    <a:lstStyle/>
                    <a:p>
                      <a:r>
                        <a:rPr sz="1575" b="0">
                          <a:solidFill>
                            <a:srgbClr val="1E302F"/>
                          </a:solidFill>
                          <a:latin typeface="Arial"/>
                          <a:ea typeface="Arial"/>
                          <a:cs typeface="Arial"/>
                        </a:rPr>
                        <a:t>Primary model</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calendar_mean</a:t>
                      </a:r>
                    </a:p>
                  </a:txBody>
                  <a:tcPr marL="91440" marR="91440" marT="45720" marB="45720">
                    <a:lnR w="7620">
                      <a:solidFill>
                        <a:srgbClr val="CED8D5"/>
                      </a:solidFill>
                      <a:prstDash val="solid"/>
                    </a:lnR>
                    <a:lnB w="7620">
                      <a:solidFill>
                        <a:srgbClr val="CED8D5"/>
                      </a:solidFill>
                      <a:prstDash val="solid"/>
                    </a:lnB>
                  </a:tcPr>
                </a:tc>
              </a:tr>
            </a:tbl>
          </a:graphicData>
        </a:graphic>
      </p:graphicFrame>
    </p:spTree>
    <p:extLst>
      <p:ext uri="{BB962C8B-B14F-4D97-AF65-F5344CB8AC3E}">
        <p14:creationId xmlns:p14="http://schemas.microsoft.com/office/powerpoint/2010/main" val="62096153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10-title">
            <a:extLst xmlns:a="http://schemas.openxmlformats.org/drawingml/2006/main">
              <a:ext uri="{FF2B5EF4-FFF2-40B4-BE49-F238E27FC236}">
                <a16:creationId xmlns:a16="http://schemas.microsoft.com/office/drawing/2014/main" id="{B861AF9C-6309-49C5-B75B-31B69B9D632D}"/>
              </a:ext>
            </a:extLst>
          </p:cNvPr>
          <p:cNvSpPr>
            <a:spLocks xmlns:a="http://schemas.openxmlformats.org/drawingml/2006/main" noGrp="1"/>
          </p:cNvSpPr>
          <p:nvPr/>
        </p:nvSpPr>
        <p:spPr>
          <a:xfrm xmlns:a="http://schemas.openxmlformats.org/drawingml/2006/main">
            <a:off x="685800" y="400050"/>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4200" b="1">
                <a:solidFill>
                  <a:srgbClr val="176B66"/>
                </a:solidFill>
                <a:latin typeface="Arial"/>
                <a:ea typeface="Arial"/>
                <a:cs typeface="Arial"/>
              </a:defRPr>
            </a:defPPr>
            <a:lvl1pPr algn="l">
              <a:defRPr sz="4200" b="1">
                <a:solidFill>
                  <a:srgbClr val="176B66"/>
                </a:solidFill>
                <a:latin typeface="Arial"/>
                <a:ea typeface="Arial"/>
                <a:cs typeface="Arial"/>
              </a:defRPr>
            </a:lvl1pPr>
            <a:lvl2pPr algn="l">
              <a:defRPr sz="4200" b="1">
                <a:solidFill>
                  <a:srgbClr val="176B66"/>
                </a:solidFill>
                <a:latin typeface="Arial"/>
                <a:ea typeface="Arial"/>
                <a:cs typeface="Arial"/>
              </a:defRPr>
            </a:lvl2pPr>
            <a:lvl3pPr algn="l">
              <a:defRPr sz="4200" b="1">
                <a:solidFill>
                  <a:srgbClr val="176B66"/>
                </a:solidFill>
                <a:latin typeface="Arial"/>
                <a:ea typeface="Arial"/>
                <a:cs typeface="Arial"/>
              </a:defRPr>
            </a:lvl3pPr>
            <a:lvl4pPr algn="l">
              <a:defRPr sz="4200" b="1">
                <a:solidFill>
                  <a:srgbClr val="176B66"/>
                </a:solidFill>
                <a:latin typeface="Arial"/>
                <a:ea typeface="Arial"/>
                <a:cs typeface="Arial"/>
              </a:defRPr>
            </a:lvl4pPr>
            <a:lvl5pPr algn="l">
              <a:defRPr sz="4200" b="1">
                <a:solidFill>
                  <a:srgbClr val="176B66"/>
                </a:solidFill>
                <a:latin typeface="Arial"/>
                <a:ea typeface="Arial"/>
                <a:cs typeface="Arial"/>
              </a:defRPr>
            </a:lvl5pPr>
            <a:lvl6pPr algn="l">
              <a:defRPr sz="4200" b="1">
                <a:solidFill>
                  <a:srgbClr val="176B66"/>
                </a:solidFill>
                <a:latin typeface="Arial"/>
                <a:ea typeface="Arial"/>
                <a:cs typeface="Arial"/>
              </a:defRPr>
            </a:lvl6pPr>
            <a:lvl7pPr algn="l">
              <a:defRPr sz="4200" b="1">
                <a:solidFill>
                  <a:srgbClr val="176B66"/>
                </a:solidFill>
                <a:latin typeface="Arial"/>
                <a:ea typeface="Arial"/>
                <a:cs typeface="Arial"/>
              </a:defRPr>
            </a:lvl7pPr>
            <a:lvl8pPr algn="l">
              <a:defRPr sz="4200" b="1">
                <a:solidFill>
                  <a:srgbClr val="176B66"/>
                </a:solidFill>
                <a:latin typeface="Arial"/>
                <a:ea typeface="Arial"/>
                <a:cs typeface="Arial"/>
              </a:defRPr>
            </a:lvl8pPr>
            <a:lvl9pPr algn="l">
              <a:defRPr sz="4200" b="1">
                <a:solidFill>
                  <a:srgbClr val="176B66"/>
                </a:solidFill>
                <a:latin typeface="Arial"/>
                <a:ea typeface="Arial"/>
                <a:cs typeface="Arial"/>
              </a:defRPr>
            </a:lvl9pPr>
          </a:lstStyle>
          <a:p xmlns:a="http://schemas.openxmlformats.org/drawingml/2006/main">
            <a:pPr algn="l">
              <a:defRPr sz="4200" b="1">
                <a:solidFill>
                  <a:srgbClr val="176B66"/>
                </a:solidFill>
                <a:latin typeface="Arial"/>
                <a:ea typeface="Arial"/>
                <a:cs typeface="Arial"/>
              </a:defRPr>
            </a:pPr>
            <a:r>
              <a:rPr sz="4200" b="1">
                <a:solidFill>
                  <a:srgbClr val="176B66"/>
                </a:solidFill>
                <a:latin typeface="Arial"/>
                <a:ea typeface="Arial"/>
                <a:cs typeface="Arial"/>
              </a:rPr>
              <a:t>Primary scheduling outcomes</a:t>
            </a:r>
          </a:p>
        </p:txBody>
      </p:sp>
      <p:sp>
        <p:nvSpPr>
          <p:cNvPr id="2" name="slide-10-bullets">
            <a:extLst xmlns:a="http://schemas.openxmlformats.org/drawingml/2006/main">
              <a:ext uri="{FF2B5EF4-FFF2-40B4-BE49-F238E27FC236}">
                <a16:creationId xmlns:a16="http://schemas.microsoft.com/office/drawing/2014/main" id="{0E1812E5-9F54-4FEF-AEC5-1EDA016AF16B}"/>
              </a:ext>
            </a:extLst>
          </p:cNvPr>
          <p:cNvSpPr>
            <a:spLocks xmlns:a="http://schemas.openxmlformats.org/drawingml/2006/main" noGrp="1"/>
          </p:cNvSpPr>
          <p:nvPr/>
        </p:nvSpPr>
        <p:spPr>
          <a:xfrm xmlns:a="http://schemas.openxmlformats.org/drawingml/2006/main">
            <a:off x="742950" y="1238250"/>
            <a:ext cx="10715625"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a:solidFill>
                  <a:srgbClr val="1E302F"/>
                </a:solidFill>
                <a:latin typeface="Arial"/>
                <a:ea typeface="Arial"/>
                <a:cs typeface="Arial"/>
              </a:defRPr>
            </a:defPPr>
            <a:lvl1pPr>
              <a:defRPr sz="1725">
                <a:solidFill>
                  <a:srgbClr val="1E302F"/>
                </a:solidFill>
                <a:latin typeface="Arial"/>
                <a:ea typeface="Arial"/>
                <a:cs typeface="Arial"/>
              </a:defRPr>
            </a:lvl1pPr>
            <a:lvl2pPr>
              <a:defRPr sz="1725">
                <a:solidFill>
                  <a:srgbClr val="1E302F"/>
                </a:solidFill>
                <a:latin typeface="Arial"/>
                <a:ea typeface="Arial"/>
                <a:cs typeface="Arial"/>
              </a:defRPr>
            </a:lvl2pPr>
            <a:lvl3pPr>
              <a:defRPr sz="1725">
                <a:solidFill>
                  <a:srgbClr val="1E302F"/>
                </a:solidFill>
                <a:latin typeface="Arial"/>
                <a:ea typeface="Arial"/>
                <a:cs typeface="Arial"/>
              </a:defRPr>
            </a:lvl3pPr>
            <a:lvl4pPr>
              <a:defRPr sz="1725">
                <a:solidFill>
                  <a:srgbClr val="1E302F"/>
                </a:solidFill>
                <a:latin typeface="Arial"/>
                <a:ea typeface="Arial"/>
                <a:cs typeface="Arial"/>
              </a:defRPr>
            </a:lvl4pPr>
            <a:lvl5pPr>
              <a:defRPr sz="1725">
                <a:solidFill>
                  <a:srgbClr val="1E302F"/>
                </a:solidFill>
                <a:latin typeface="Arial"/>
                <a:ea typeface="Arial"/>
                <a:cs typeface="Arial"/>
              </a:defRPr>
            </a:lvl5pPr>
            <a:lvl6pPr>
              <a:defRPr sz="1725">
                <a:solidFill>
                  <a:srgbClr val="1E302F"/>
                </a:solidFill>
                <a:latin typeface="Arial"/>
                <a:ea typeface="Arial"/>
                <a:cs typeface="Arial"/>
              </a:defRPr>
            </a:lvl6pPr>
            <a:lvl7pPr>
              <a:defRPr sz="1725">
                <a:solidFill>
                  <a:srgbClr val="1E302F"/>
                </a:solidFill>
                <a:latin typeface="Arial"/>
                <a:ea typeface="Arial"/>
                <a:cs typeface="Arial"/>
              </a:defRPr>
            </a:lvl7pPr>
            <a:lvl8pPr>
              <a:defRPr sz="1725">
                <a:solidFill>
                  <a:srgbClr val="1E302F"/>
                </a:solidFill>
                <a:latin typeface="Arial"/>
                <a:ea typeface="Arial"/>
                <a:cs typeface="Arial"/>
              </a:defRPr>
            </a:lvl8pPr>
            <a:lvl9pPr>
              <a:defRPr sz="1725">
                <a:solidFill>
                  <a:srgbClr val="1E302F"/>
                </a:solidFill>
                <a:latin typeface="Arial"/>
                <a:ea typeface="Arial"/>
                <a:cs typeface="Arial"/>
              </a:defRPr>
            </a:lvl9pPr>
          </a:lstStyle>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calendar_mean: 12.414% modeled reduction against earliest execution.</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95% paired block interval: 10.951% to 13.828%.</a:t>
            </a:r>
          </a:p>
        </p:txBody>
      </p:sp>
      <p:graphicFrame>
        <p:nvGraphicFramePr>
          <p:cNvPr id="3" name="Chart">
            <a:extLst xmlns:a="http://schemas.openxmlformats.org/drawingml/2006/main">
              <a:ext uri="{FF2B5EF4-FFF2-40B4-BE49-F238E27FC236}">
                <a16:creationId xmlns:a16="http://schemas.microsoft.com/office/drawing/2014/main" id="{0B6A3B73-7125-4580-926E-CB3FAAC4A104}"/>
              </a:ext>
            </a:extLst>
          </p:cNvPr>
          <p:cNvGraphicFramePr/>
          <p:nvPr/>
        </p:nvGraphicFramePr>
        <p:xfrm>
          <a:off xmlns:a="http://schemas.openxmlformats.org/drawingml/2006/main" x="685800" y="2333625"/>
          <a:ext xmlns:a="http://schemas.openxmlformats.org/drawingml/2006/main" cx="6572250" cy="3857625"/>
        </p:xfrm>
        <a:graphic xmlns:a="http://schemas.openxmlformats.org/drawingml/2006/main">
          <a:graphicData uri="http://schemas.openxmlformats.org/drawingml/2006/chart">
            <c:chart xmlns:r="http://schemas.openxmlformats.org/officeDocument/2006/relationships" xmlns:c="http://schemas.openxmlformats.org/drawingml/2006/chart" r:id="R3b7596d91d4d4c7f"/>
          </a:graphicData>
        </a:graphic>
      </p:graphicFrame>
      <p:graphicFrame>
        <p:nvGraphicFramePr>
          <p:cNvPr id="4" name="">
            <a:extLst xmlns:a="http://schemas.openxmlformats.org/drawingml/2006/main">
              <a:ext uri="{FF2B5EF4-FFF2-40B4-BE49-F238E27FC236}">
                <a16:creationId xmlns:a16="http://schemas.microsoft.com/office/drawing/2014/main" id="{6DB50815-8F61-4B7B-A2BB-7AA6EB128229}"/>
              </a:ext>
            </a:extLst>
          </p:cNvPr>
          <p:cNvGraphicFramePr/>
          <p:nvPr/>
        </p:nvGraphicFramePr>
        <p:xfrm>
          <a:off xmlns:a="http://schemas.openxmlformats.org/drawingml/2006/main" x="7524750" y="2381250"/>
          <a:ext xmlns:a="http://schemas.openxmlformats.org/drawingml/2006/main" cx="3981450" cy="3714750"/>
        </p:xfrm>
        <a:graphic xmlns:a="http://schemas.openxmlformats.org/drawingml/2006/main">
          <a:graphicData uri="http://schemas.openxmlformats.org/drawingml/2006/table">
            <a:tbl>
              <a:tblPr firstRow="1" bandRow="1"/>
              <a:tblGrid>
                <a:gridCol w="2189798"/>
                <a:gridCol w="895826"/>
                <a:gridCol w="895826"/>
              </a:tblGrid>
              <a:tr h="928688">
                <a:tc>
                  <a:txBody>
                    <a:bodyPr/>
                    <a:lstStyle/>
                    <a:p>
                      <a:r>
                        <a:rPr sz="1575" b="1">
                          <a:solidFill>
                            <a:srgbClr val="FFFFFF"/>
                          </a:solidFill>
                          <a:latin typeface="Arial"/>
                          <a:ea typeface="Arial"/>
                          <a:cs typeface="Arial"/>
                        </a:rPr>
                        <a:t>Policy</a:t>
                      </a:r>
                    </a:p>
                  </a:txBody>
                  <a:tcPr marL="91440" marR="91440" marT="45720" marB="45720">
                    <a:lnL w="7620">
                      <a:solidFill>
                        <a:srgbClr val="CED8D5"/>
                      </a:solidFill>
                      <a:prstDash val="solid"/>
                    </a:lnL>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c>
                  <a:txBody>
                    <a:bodyPr/>
                    <a:lstStyle/>
                    <a:p>
                      <a:r>
                        <a:rPr sz="1575" b="1">
                          <a:solidFill>
                            <a:srgbClr val="FFFFFF"/>
                          </a:solidFill>
                          <a:latin typeface="Arial"/>
                          <a:ea typeface="Arial"/>
                          <a:cs typeface="Arial"/>
                        </a:rPr>
                        <a:t>Mean gCO2</a:t>
                      </a:r>
                    </a:p>
                  </a:txBody>
                  <a:tcPr marL="91440" marR="91440" marT="45720" marB="45720">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c>
                  <a:txBody>
                    <a:bodyPr/>
                    <a:lstStyle/>
                    <a:p>
                      <a:r>
                        <a:rPr sz="1575" b="1">
                          <a:solidFill>
                            <a:srgbClr val="FFFFFF"/>
                          </a:solidFill>
                          <a:latin typeface="Arial"/>
                          <a:ea typeface="Arial"/>
                          <a:cs typeface="Arial"/>
                        </a:rPr>
                        <a:t>Delta %</a:t>
                      </a:r>
                    </a:p>
                  </a:txBody>
                  <a:tcPr marL="91440" marR="91440" marT="45720" marB="45720">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r>
              <a:tr h="928688">
                <a:tc>
                  <a:txBody>
                    <a:bodyPr/>
                    <a:lstStyle/>
                    <a:p>
                      <a:r>
                        <a:rPr sz="1575" b="0">
                          <a:solidFill>
                            <a:srgbClr val="1E302F"/>
                          </a:solidFill>
                          <a:latin typeface="Arial"/>
                          <a:ea typeface="Arial"/>
                          <a:cs typeface="Arial"/>
                        </a:rPr>
                        <a:t>earliest</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124</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NA</a:t>
                      </a:r>
                    </a:p>
                  </a:txBody>
                  <a:tcPr marL="91440" marR="91440" marT="45720" marB="45720">
                    <a:lnR w="7620">
                      <a:solidFill>
                        <a:srgbClr val="CED8D5"/>
                      </a:solidFill>
                      <a:prstDash val="solid"/>
                    </a:lnR>
                    <a:lnB w="7620">
                      <a:solidFill>
                        <a:srgbClr val="CED8D5"/>
                      </a:solidFill>
                      <a:prstDash val="solid"/>
                    </a:lnB>
                  </a:tcPr>
                </a:tc>
              </a:tr>
              <a:tr h="928688">
                <a:tc>
                  <a:txBody>
                    <a:bodyPr/>
                    <a:lstStyle/>
                    <a:p>
                      <a:r>
                        <a:rPr sz="1575" b="0">
                          <a:solidFill>
                            <a:srgbClr val="1E302F"/>
                          </a:solidFill>
                          <a:latin typeface="Arial"/>
                          <a:ea typeface="Arial"/>
                          <a:cs typeface="Arial"/>
                        </a:rPr>
                        <a:t>oracle</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97.22</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21.61</a:t>
                      </a:r>
                    </a:p>
                  </a:txBody>
                  <a:tcPr marL="91440" marR="91440" marT="45720" marB="45720">
                    <a:lnR w="7620">
                      <a:solidFill>
                        <a:srgbClr val="CED8D5"/>
                      </a:solidFill>
                      <a:prstDash val="solid"/>
                    </a:lnR>
                    <a:lnB w="7620">
                      <a:solidFill>
                        <a:srgbClr val="CED8D5"/>
                      </a:solidFill>
                      <a:prstDash val="solid"/>
                    </a:lnB>
                  </a:tcPr>
                </a:tc>
              </a:tr>
              <a:tr h="928688">
                <a:tc>
                  <a:txBody>
                    <a:bodyPr/>
                    <a:lstStyle/>
                    <a:p>
                      <a:r>
                        <a:rPr sz="1575" b="0">
                          <a:solidFill>
                            <a:srgbClr val="1E302F"/>
                          </a:solidFill>
                          <a:latin typeface="Arial"/>
                          <a:ea typeface="Arial"/>
                          <a:cs typeface="Arial"/>
                        </a:rPr>
                        <a:t>forecast</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108.6</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12.41</a:t>
                      </a:r>
                    </a:p>
                  </a:txBody>
                  <a:tcPr marL="91440" marR="91440" marT="45720" marB="45720">
                    <a:lnR w="7620">
                      <a:solidFill>
                        <a:srgbClr val="CED8D5"/>
                      </a:solidFill>
                      <a:prstDash val="solid"/>
                    </a:lnR>
                    <a:lnB w="7620">
                      <a:solidFill>
                        <a:srgbClr val="CED8D5"/>
                      </a:solidFill>
                      <a:prstDash val="solid"/>
                    </a:lnB>
                  </a:tcPr>
                </a:tc>
              </a:tr>
            </a:tbl>
          </a:graphicData>
        </a:graphic>
      </p:graphicFrame>
    </p:spTree>
    <p:extLst>
      <p:ext uri="{BB962C8B-B14F-4D97-AF65-F5344CB8AC3E}">
        <p14:creationId xmlns:p14="http://schemas.microsoft.com/office/powerpoint/2010/main" val="44989425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slide-11-title">
            <a:extLst xmlns:a="http://schemas.openxmlformats.org/drawingml/2006/main">
              <a:ext uri="{FF2B5EF4-FFF2-40B4-BE49-F238E27FC236}">
                <a16:creationId xmlns:a16="http://schemas.microsoft.com/office/drawing/2014/main" id="{3B2C7178-9057-488D-B198-4DD8C501E90B}"/>
              </a:ext>
            </a:extLst>
          </p:cNvPr>
          <p:cNvSpPr>
            <a:spLocks xmlns:a="http://schemas.openxmlformats.org/drawingml/2006/main" noGrp="1"/>
          </p:cNvSpPr>
          <p:nvPr/>
        </p:nvSpPr>
        <p:spPr>
          <a:xfrm xmlns:a="http://schemas.openxmlformats.org/drawingml/2006/main">
            <a:off x="685800" y="400050"/>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4200" b="1">
                <a:solidFill>
                  <a:srgbClr val="176B66"/>
                </a:solidFill>
                <a:latin typeface="Arial"/>
                <a:ea typeface="Arial"/>
                <a:cs typeface="Arial"/>
              </a:defRPr>
            </a:defPPr>
            <a:lvl1pPr algn="l">
              <a:defRPr sz="4200" b="1">
                <a:solidFill>
                  <a:srgbClr val="176B66"/>
                </a:solidFill>
                <a:latin typeface="Arial"/>
                <a:ea typeface="Arial"/>
                <a:cs typeface="Arial"/>
              </a:defRPr>
            </a:lvl1pPr>
            <a:lvl2pPr algn="l">
              <a:defRPr sz="4200" b="1">
                <a:solidFill>
                  <a:srgbClr val="176B66"/>
                </a:solidFill>
                <a:latin typeface="Arial"/>
                <a:ea typeface="Arial"/>
                <a:cs typeface="Arial"/>
              </a:defRPr>
            </a:lvl2pPr>
            <a:lvl3pPr algn="l">
              <a:defRPr sz="4200" b="1">
                <a:solidFill>
                  <a:srgbClr val="176B66"/>
                </a:solidFill>
                <a:latin typeface="Arial"/>
                <a:ea typeface="Arial"/>
                <a:cs typeface="Arial"/>
              </a:defRPr>
            </a:lvl3pPr>
            <a:lvl4pPr algn="l">
              <a:defRPr sz="4200" b="1">
                <a:solidFill>
                  <a:srgbClr val="176B66"/>
                </a:solidFill>
                <a:latin typeface="Arial"/>
                <a:ea typeface="Arial"/>
                <a:cs typeface="Arial"/>
              </a:defRPr>
            </a:lvl4pPr>
            <a:lvl5pPr algn="l">
              <a:defRPr sz="4200" b="1">
                <a:solidFill>
                  <a:srgbClr val="176B66"/>
                </a:solidFill>
                <a:latin typeface="Arial"/>
                <a:ea typeface="Arial"/>
                <a:cs typeface="Arial"/>
              </a:defRPr>
            </a:lvl5pPr>
            <a:lvl6pPr algn="l">
              <a:defRPr sz="4200" b="1">
                <a:solidFill>
                  <a:srgbClr val="176B66"/>
                </a:solidFill>
                <a:latin typeface="Arial"/>
                <a:ea typeface="Arial"/>
                <a:cs typeface="Arial"/>
              </a:defRPr>
            </a:lvl6pPr>
            <a:lvl7pPr algn="l">
              <a:defRPr sz="4200" b="1">
                <a:solidFill>
                  <a:srgbClr val="176B66"/>
                </a:solidFill>
                <a:latin typeface="Arial"/>
                <a:ea typeface="Arial"/>
                <a:cs typeface="Arial"/>
              </a:defRPr>
            </a:lvl7pPr>
            <a:lvl8pPr algn="l">
              <a:defRPr sz="4200" b="1">
                <a:solidFill>
                  <a:srgbClr val="176B66"/>
                </a:solidFill>
                <a:latin typeface="Arial"/>
                <a:ea typeface="Arial"/>
                <a:cs typeface="Arial"/>
              </a:defRPr>
            </a:lvl8pPr>
            <a:lvl9pPr algn="l">
              <a:defRPr sz="4200" b="1">
                <a:solidFill>
                  <a:srgbClr val="176B66"/>
                </a:solidFill>
                <a:latin typeface="Arial"/>
                <a:ea typeface="Arial"/>
                <a:cs typeface="Arial"/>
              </a:defRPr>
            </a:lvl9pPr>
          </a:lstStyle>
          <a:p xmlns:a="http://schemas.openxmlformats.org/drawingml/2006/main">
            <a:pPr algn="l">
              <a:defRPr sz="4200" b="1">
                <a:solidFill>
                  <a:srgbClr val="176B66"/>
                </a:solidFill>
                <a:latin typeface="Arial"/>
                <a:ea typeface="Arial"/>
                <a:cs typeface="Arial"/>
              </a:defRPr>
            </a:pPr>
            <a:r>
              <a:rPr sz="4200" b="1">
                <a:solidFill>
                  <a:srgbClr val="176B66"/>
                </a:solidFill>
                <a:latin typeface="Arial"/>
                <a:ea typeface="Arial"/>
                <a:cs typeface="Arial"/>
              </a:rPr>
              <a:t>Queue service and emissions</a:t>
            </a:r>
          </a:p>
        </p:txBody>
      </p:sp>
      <p:sp>
        <p:nvSpPr>
          <p:cNvPr id="2" name="slide-11-bullets">
            <a:extLst xmlns:a="http://schemas.openxmlformats.org/drawingml/2006/main">
              <a:ext uri="{FF2B5EF4-FFF2-40B4-BE49-F238E27FC236}">
                <a16:creationId xmlns:a16="http://schemas.microsoft.com/office/drawing/2014/main" id="{A5AB6F83-2916-408D-BC83-E3C42F38EA11}"/>
              </a:ext>
            </a:extLst>
          </p:cNvPr>
          <p:cNvSpPr>
            <a:spLocks xmlns:a="http://schemas.openxmlformats.org/drawingml/2006/main" noGrp="1"/>
          </p:cNvSpPr>
          <p:nvPr/>
        </p:nvSpPr>
        <p:spPr>
          <a:xfrm xmlns:a="http://schemas.openxmlformats.org/drawingml/2006/main">
            <a:off x="742950" y="1238250"/>
            <a:ext cx="1066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a:solidFill>
                  <a:srgbClr val="1E302F"/>
                </a:solidFill>
                <a:latin typeface="Arial"/>
                <a:ea typeface="Arial"/>
                <a:cs typeface="Arial"/>
              </a:defRPr>
            </a:defPPr>
            <a:lvl1pPr>
              <a:defRPr sz="1725">
                <a:solidFill>
                  <a:srgbClr val="1E302F"/>
                </a:solidFill>
                <a:latin typeface="Arial"/>
                <a:ea typeface="Arial"/>
                <a:cs typeface="Arial"/>
              </a:defRPr>
            </a:lvl1pPr>
            <a:lvl2pPr>
              <a:defRPr sz="1725">
                <a:solidFill>
                  <a:srgbClr val="1E302F"/>
                </a:solidFill>
                <a:latin typeface="Arial"/>
                <a:ea typeface="Arial"/>
                <a:cs typeface="Arial"/>
              </a:defRPr>
            </a:lvl2pPr>
            <a:lvl3pPr>
              <a:defRPr sz="1725">
                <a:solidFill>
                  <a:srgbClr val="1E302F"/>
                </a:solidFill>
                <a:latin typeface="Arial"/>
                <a:ea typeface="Arial"/>
                <a:cs typeface="Arial"/>
              </a:defRPr>
            </a:lvl3pPr>
            <a:lvl4pPr>
              <a:defRPr sz="1725">
                <a:solidFill>
                  <a:srgbClr val="1E302F"/>
                </a:solidFill>
                <a:latin typeface="Arial"/>
                <a:ea typeface="Arial"/>
                <a:cs typeface="Arial"/>
              </a:defRPr>
            </a:lvl4pPr>
            <a:lvl5pPr>
              <a:defRPr sz="1725">
                <a:solidFill>
                  <a:srgbClr val="1E302F"/>
                </a:solidFill>
                <a:latin typeface="Arial"/>
                <a:ea typeface="Arial"/>
                <a:cs typeface="Arial"/>
              </a:defRPr>
            </a:lvl5pPr>
            <a:lvl6pPr>
              <a:defRPr sz="1725">
                <a:solidFill>
                  <a:srgbClr val="1E302F"/>
                </a:solidFill>
                <a:latin typeface="Arial"/>
                <a:ea typeface="Arial"/>
                <a:cs typeface="Arial"/>
              </a:defRPr>
            </a:lvl6pPr>
            <a:lvl7pPr>
              <a:defRPr sz="1725">
                <a:solidFill>
                  <a:srgbClr val="1E302F"/>
                </a:solidFill>
                <a:latin typeface="Arial"/>
                <a:ea typeface="Arial"/>
                <a:cs typeface="Arial"/>
              </a:defRPr>
            </a:lvl7pPr>
            <a:lvl8pPr>
              <a:defRPr sz="1725">
                <a:solidFill>
                  <a:srgbClr val="1E302F"/>
                </a:solidFill>
                <a:latin typeface="Arial"/>
                <a:ea typeface="Arial"/>
                <a:cs typeface="Arial"/>
              </a:defRPr>
            </a:lvl8pPr>
            <a:lvl9pPr>
              <a:defRPr sz="1725">
                <a:solidFill>
                  <a:srgbClr val="1E302F"/>
                </a:solidFill>
                <a:latin typeface="Arial"/>
                <a:ea typeface="Arial"/>
                <a:cs typeface="Arial"/>
              </a:defRPr>
            </a:lvl9pPr>
          </a:lstStyle>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Table values are arithmetic means across the three frozen seeds.</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Matched emissions differences are descriptive; accepted work differs.</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Lower emissions from rejected work are not savings.</a:t>
            </a:r>
          </a:p>
        </p:txBody>
      </p:sp>
      <p:graphicFrame>
        <p:nvGraphicFramePr>
          <p:cNvPr id="3" name="">
            <a:extLst xmlns:a="http://schemas.openxmlformats.org/drawingml/2006/main">
              <a:ext uri="{FF2B5EF4-FFF2-40B4-BE49-F238E27FC236}">
                <a16:creationId xmlns:a16="http://schemas.microsoft.com/office/drawing/2014/main" id="{AC12A976-E477-4A0A-B03B-891E4A9EC2DE}"/>
              </a:ext>
            </a:extLst>
          </p:cNvPr>
          <p:cNvGraphicFramePr/>
          <p:nvPr/>
        </p:nvGraphicFramePr>
        <p:xfrm>
          <a:off xmlns:a="http://schemas.openxmlformats.org/drawingml/2006/main" x="685800" y="2333625"/>
          <a:ext xmlns:a="http://schemas.openxmlformats.org/drawingml/2006/main" cx="10820400" cy="3714750"/>
        </p:xfrm>
        <a:graphic xmlns:a="http://schemas.openxmlformats.org/drawingml/2006/main">
          <a:graphicData uri="http://schemas.openxmlformats.org/drawingml/2006/table">
            <a:tbl>
              <a:tblPr firstRow="1" bandRow="1"/>
              <a:tblGrid>
                <a:gridCol w="2164080"/>
                <a:gridCol w="2164080"/>
                <a:gridCol w="2164080"/>
                <a:gridCol w="2164080"/>
                <a:gridCol w="2164080"/>
              </a:tblGrid>
              <a:tr h="530679">
                <a:tc>
                  <a:txBody>
                    <a:bodyPr/>
                    <a:lstStyle/>
                    <a:p>
                      <a:r>
                        <a:rPr sz="1575" b="1">
                          <a:solidFill>
                            <a:srgbClr val="FFFFFF"/>
                          </a:solidFill>
                          <a:latin typeface="Arial"/>
                          <a:ea typeface="Arial"/>
                          <a:cs typeface="Arial"/>
                        </a:rPr>
                        <a:t>Load</a:t>
                      </a:r>
                    </a:p>
                  </a:txBody>
                  <a:tcPr marL="91440" marR="91440" marT="45720" marB="45720">
                    <a:lnL w="7620">
                      <a:solidFill>
                        <a:srgbClr val="CED8D5"/>
                      </a:solidFill>
                      <a:prstDash val="solid"/>
                    </a:lnL>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c>
                  <a:txBody>
                    <a:bodyPr/>
                    <a:lstStyle/>
                    <a:p>
                      <a:r>
                        <a:rPr sz="1575" b="1">
                          <a:solidFill>
                            <a:srgbClr val="FFFFFF"/>
                          </a:solidFill>
                          <a:latin typeface="Arial"/>
                          <a:ea typeface="Arial"/>
                          <a:cs typeface="Arial"/>
                        </a:rPr>
                        <a:t>Slack h</a:t>
                      </a:r>
                    </a:p>
                  </a:txBody>
                  <a:tcPr marL="91440" marR="91440" marT="45720" marB="45720">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c>
                  <a:txBody>
                    <a:bodyPr/>
                    <a:lstStyle/>
                    <a:p>
                      <a:r>
                        <a:rPr sz="1575" b="1">
                          <a:solidFill>
                            <a:srgbClr val="FFFFFF"/>
                          </a:solidFill>
                          <a:latin typeface="Arial"/>
                          <a:ea typeface="Arial"/>
                          <a:cs typeface="Arial"/>
                        </a:rPr>
                        <a:t>Reject early %</a:t>
                      </a:r>
                    </a:p>
                  </a:txBody>
                  <a:tcPr marL="91440" marR="91440" marT="45720" marB="45720">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c>
                  <a:txBody>
                    <a:bodyPr/>
                    <a:lstStyle/>
                    <a:p>
                      <a:r>
                        <a:rPr sz="1575" b="1">
                          <a:solidFill>
                            <a:srgbClr val="FFFFFF"/>
                          </a:solidFill>
                          <a:latin typeface="Arial"/>
                          <a:ea typeface="Arial"/>
                          <a:cs typeface="Arial"/>
                        </a:rPr>
                        <a:t>Reject selected %</a:t>
                      </a:r>
                    </a:p>
                  </a:txBody>
                  <a:tcPr marL="91440" marR="91440" marT="45720" marB="45720">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c>
                  <a:txBody>
                    <a:bodyPr/>
                    <a:lstStyle/>
                    <a:p>
                      <a:r>
                        <a:rPr sz="1575" b="1">
                          <a:solidFill>
                            <a:srgbClr val="FFFFFF"/>
                          </a:solidFill>
                          <a:latin typeface="Arial"/>
                          <a:ea typeface="Arial"/>
                          <a:cs typeface="Arial"/>
                        </a:rPr>
                        <a:t>Matched delta %</a:t>
                      </a:r>
                    </a:p>
                  </a:txBody>
                  <a:tcPr marL="91440" marR="91440" marT="45720" marB="45720">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r>
              <a:tr h="530679">
                <a:tc>
                  <a:txBody>
                    <a:bodyPr/>
                    <a:lstStyle/>
                    <a:p>
                      <a:r>
                        <a:rPr sz="1575" b="0">
                          <a:solidFill>
                            <a:srgbClr val="1E302F"/>
                          </a:solidFill>
                          <a:latin typeface="Arial"/>
                          <a:ea typeface="Arial"/>
                          <a:cs typeface="Arial"/>
                        </a:rPr>
                        <a:t>0.3</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6</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0.48518</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2.373</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6.7787</a:t>
                      </a:r>
                    </a:p>
                  </a:txBody>
                  <a:tcPr marL="91440" marR="91440" marT="45720" marB="45720">
                    <a:lnR w="7620">
                      <a:solidFill>
                        <a:srgbClr val="CED8D5"/>
                      </a:solidFill>
                      <a:prstDash val="solid"/>
                    </a:lnR>
                    <a:lnB w="7620">
                      <a:solidFill>
                        <a:srgbClr val="CED8D5"/>
                      </a:solidFill>
                      <a:prstDash val="solid"/>
                    </a:lnB>
                  </a:tcPr>
                </a:tc>
              </a:tr>
              <a:tr h="530679">
                <a:tc>
                  <a:txBody>
                    <a:bodyPr/>
                    <a:lstStyle/>
                    <a:p>
                      <a:r>
                        <a:rPr sz="1575" b="0">
                          <a:solidFill>
                            <a:srgbClr val="1E302F"/>
                          </a:solidFill>
                          <a:latin typeface="Arial"/>
                          <a:ea typeface="Arial"/>
                          <a:cs typeface="Arial"/>
                        </a:rPr>
                        <a:t>0.3</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12</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0.023624</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0.36428</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8.531</a:t>
                      </a:r>
                    </a:p>
                  </a:txBody>
                  <a:tcPr marL="91440" marR="91440" marT="45720" marB="45720">
                    <a:lnR w="7620">
                      <a:solidFill>
                        <a:srgbClr val="CED8D5"/>
                      </a:solidFill>
                      <a:prstDash val="solid"/>
                    </a:lnR>
                    <a:lnB w="7620">
                      <a:solidFill>
                        <a:srgbClr val="CED8D5"/>
                      </a:solidFill>
                      <a:prstDash val="solid"/>
                    </a:lnB>
                  </a:tcPr>
                </a:tc>
              </a:tr>
              <a:tr h="530679">
                <a:tc>
                  <a:txBody>
                    <a:bodyPr/>
                    <a:lstStyle/>
                    <a:p>
                      <a:r>
                        <a:rPr sz="1575" b="0">
                          <a:solidFill>
                            <a:srgbClr val="1E302F"/>
                          </a:solidFill>
                          <a:latin typeface="Arial"/>
                          <a:ea typeface="Arial"/>
                          <a:cs typeface="Arial"/>
                        </a:rPr>
                        <a:t>0.6</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6</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3.6671</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9.7095</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4.3856</a:t>
                      </a:r>
                    </a:p>
                  </a:txBody>
                  <a:tcPr marL="91440" marR="91440" marT="45720" marB="45720">
                    <a:lnR w="7620">
                      <a:solidFill>
                        <a:srgbClr val="CED8D5"/>
                      </a:solidFill>
                      <a:prstDash val="solid"/>
                    </a:lnR>
                    <a:lnB w="7620">
                      <a:solidFill>
                        <a:srgbClr val="CED8D5"/>
                      </a:solidFill>
                      <a:prstDash val="solid"/>
                    </a:lnB>
                  </a:tcPr>
                </a:tc>
              </a:tr>
              <a:tr h="530679">
                <a:tc>
                  <a:txBody>
                    <a:bodyPr/>
                    <a:lstStyle/>
                    <a:p>
                      <a:r>
                        <a:rPr sz="1575" b="0">
                          <a:solidFill>
                            <a:srgbClr val="1E302F"/>
                          </a:solidFill>
                          <a:latin typeface="Arial"/>
                          <a:ea typeface="Arial"/>
                          <a:cs typeface="Arial"/>
                        </a:rPr>
                        <a:t>0.6</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12</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0.41371</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3.9073</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5.1506</a:t>
                      </a:r>
                    </a:p>
                  </a:txBody>
                  <a:tcPr marL="91440" marR="91440" marT="45720" marB="45720">
                    <a:lnR w="7620">
                      <a:solidFill>
                        <a:srgbClr val="CED8D5"/>
                      </a:solidFill>
                      <a:prstDash val="solid"/>
                    </a:lnR>
                    <a:lnB w="7620">
                      <a:solidFill>
                        <a:srgbClr val="CED8D5"/>
                      </a:solidFill>
                      <a:prstDash val="solid"/>
                    </a:lnB>
                  </a:tcPr>
                </a:tc>
              </a:tr>
              <a:tr h="530679">
                <a:tc>
                  <a:txBody>
                    <a:bodyPr/>
                    <a:lstStyle/>
                    <a:p>
                      <a:r>
                        <a:rPr sz="1575" b="0">
                          <a:solidFill>
                            <a:srgbClr val="1E302F"/>
                          </a:solidFill>
                          <a:latin typeface="Arial"/>
                          <a:ea typeface="Arial"/>
                          <a:cs typeface="Arial"/>
                        </a:rPr>
                        <a:t>0.85</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6</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9.7584</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17.737</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3.571</a:t>
                      </a:r>
                    </a:p>
                  </a:txBody>
                  <a:tcPr marL="91440" marR="91440" marT="45720" marB="45720">
                    <a:lnR w="7620">
                      <a:solidFill>
                        <a:srgbClr val="CED8D5"/>
                      </a:solidFill>
                      <a:prstDash val="solid"/>
                    </a:lnR>
                    <a:lnB w="7620">
                      <a:solidFill>
                        <a:srgbClr val="CED8D5"/>
                      </a:solidFill>
                      <a:prstDash val="solid"/>
                    </a:lnB>
                  </a:tcPr>
                </a:tc>
              </a:tr>
              <a:tr h="530679">
                <a:tc>
                  <a:txBody>
                    <a:bodyPr/>
                    <a:lstStyle/>
                    <a:p>
                      <a:r>
                        <a:rPr sz="1575" b="0">
                          <a:solidFill>
                            <a:srgbClr val="1E302F"/>
                          </a:solidFill>
                          <a:latin typeface="Arial"/>
                          <a:ea typeface="Arial"/>
                          <a:cs typeface="Arial"/>
                        </a:rPr>
                        <a:t>0.85</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12</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3.8893</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10.701</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3.6974</a:t>
                      </a:r>
                    </a:p>
                  </a:txBody>
                  <a:tcPr marL="91440" marR="91440" marT="45720" marB="45720">
                    <a:lnR w="7620">
                      <a:solidFill>
                        <a:srgbClr val="CED8D5"/>
                      </a:solidFill>
                      <a:prstDash val="solid"/>
                    </a:lnR>
                    <a:lnB w="7620">
                      <a:solidFill>
                        <a:srgbClr val="CED8D5"/>
                      </a:solidFill>
                      <a:prstDash val="solid"/>
                    </a:lnB>
                  </a:tcPr>
                </a:tc>
              </a:tr>
            </a:tbl>
          </a:graphicData>
        </a:graphic>
      </p:graphicFrame>
    </p:spTree>
    <p:extLst>
      <p:ext uri="{BB962C8B-B14F-4D97-AF65-F5344CB8AC3E}">
        <p14:creationId xmlns:p14="http://schemas.microsoft.com/office/powerpoint/2010/main" val="210812838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12-title">
            <a:extLst xmlns:a="http://schemas.openxmlformats.org/drawingml/2006/main">
              <a:ext uri="{FF2B5EF4-FFF2-40B4-BE49-F238E27FC236}">
                <a16:creationId xmlns:a16="http://schemas.microsoft.com/office/drawing/2014/main" id="{A5F189D0-03D5-4478-B79D-9AEA2A6461CC}"/>
              </a:ext>
            </a:extLst>
          </p:cNvPr>
          <p:cNvSpPr>
            <a:spLocks xmlns:a="http://schemas.openxmlformats.org/drawingml/2006/main" noGrp="1"/>
          </p:cNvSpPr>
          <p:nvPr/>
        </p:nvSpPr>
        <p:spPr>
          <a:xfrm xmlns:a="http://schemas.openxmlformats.org/drawingml/2006/main">
            <a:off x="685800" y="400050"/>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4200" b="1">
                <a:solidFill>
                  <a:srgbClr val="176B66"/>
                </a:solidFill>
                <a:latin typeface="Arial"/>
                <a:ea typeface="Arial"/>
                <a:cs typeface="Arial"/>
              </a:defRPr>
            </a:defPPr>
            <a:lvl1pPr algn="l">
              <a:defRPr sz="4200" b="1">
                <a:solidFill>
                  <a:srgbClr val="176B66"/>
                </a:solidFill>
                <a:latin typeface="Arial"/>
                <a:ea typeface="Arial"/>
                <a:cs typeface="Arial"/>
              </a:defRPr>
            </a:lvl1pPr>
            <a:lvl2pPr algn="l">
              <a:defRPr sz="4200" b="1">
                <a:solidFill>
                  <a:srgbClr val="176B66"/>
                </a:solidFill>
                <a:latin typeface="Arial"/>
                <a:ea typeface="Arial"/>
                <a:cs typeface="Arial"/>
              </a:defRPr>
            </a:lvl2pPr>
            <a:lvl3pPr algn="l">
              <a:defRPr sz="4200" b="1">
                <a:solidFill>
                  <a:srgbClr val="176B66"/>
                </a:solidFill>
                <a:latin typeface="Arial"/>
                <a:ea typeface="Arial"/>
                <a:cs typeface="Arial"/>
              </a:defRPr>
            </a:lvl3pPr>
            <a:lvl4pPr algn="l">
              <a:defRPr sz="4200" b="1">
                <a:solidFill>
                  <a:srgbClr val="176B66"/>
                </a:solidFill>
                <a:latin typeface="Arial"/>
                <a:ea typeface="Arial"/>
                <a:cs typeface="Arial"/>
              </a:defRPr>
            </a:lvl4pPr>
            <a:lvl5pPr algn="l">
              <a:defRPr sz="4200" b="1">
                <a:solidFill>
                  <a:srgbClr val="176B66"/>
                </a:solidFill>
                <a:latin typeface="Arial"/>
                <a:ea typeface="Arial"/>
                <a:cs typeface="Arial"/>
              </a:defRPr>
            </a:lvl5pPr>
            <a:lvl6pPr algn="l">
              <a:defRPr sz="4200" b="1">
                <a:solidFill>
                  <a:srgbClr val="176B66"/>
                </a:solidFill>
                <a:latin typeface="Arial"/>
                <a:ea typeface="Arial"/>
                <a:cs typeface="Arial"/>
              </a:defRPr>
            </a:lvl6pPr>
            <a:lvl7pPr algn="l">
              <a:defRPr sz="4200" b="1">
                <a:solidFill>
                  <a:srgbClr val="176B66"/>
                </a:solidFill>
                <a:latin typeface="Arial"/>
                <a:ea typeface="Arial"/>
                <a:cs typeface="Arial"/>
              </a:defRPr>
            </a:lvl7pPr>
            <a:lvl8pPr algn="l">
              <a:defRPr sz="4200" b="1">
                <a:solidFill>
                  <a:srgbClr val="176B66"/>
                </a:solidFill>
                <a:latin typeface="Arial"/>
                <a:ea typeface="Arial"/>
                <a:cs typeface="Arial"/>
              </a:defRPr>
            </a:lvl8pPr>
            <a:lvl9pPr algn="l">
              <a:defRPr sz="4200" b="1">
                <a:solidFill>
                  <a:srgbClr val="176B66"/>
                </a:solidFill>
                <a:latin typeface="Arial"/>
                <a:ea typeface="Arial"/>
                <a:cs typeface="Arial"/>
              </a:defRPr>
            </a:lvl9pPr>
          </a:lstStyle>
          <a:p xmlns:a="http://schemas.openxmlformats.org/drawingml/2006/main">
            <a:pPr algn="l">
              <a:defRPr sz="4200" b="1">
                <a:solidFill>
                  <a:srgbClr val="176B66"/>
                </a:solidFill>
                <a:latin typeface="Arial"/>
                <a:ea typeface="Arial"/>
                <a:cs typeface="Arial"/>
              </a:defRPr>
            </a:pPr>
            <a:r>
              <a:rPr sz="4200" b="1">
                <a:solidFill>
                  <a:srgbClr val="176B66"/>
                </a:solidFill>
                <a:latin typeface="Arial"/>
                <a:ea typeface="Arial"/>
                <a:cs typeface="Arial"/>
              </a:rPr>
              <a:t>Dashboard and conclusion</a:t>
            </a:r>
          </a:p>
        </p:txBody>
      </p:sp>
      <p:pic>
        <p:nvPicPr>
          <p:cNvPr id="2" name="">
            <a:extLst xmlns:a="http://schemas.openxmlformats.org/drawingml/2006/main">
              <a:ext uri="{FF2B5EF4-FFF2-40B4-BE49-F238E27FC236}">
                <a16:creationId xmlns:a16="http://schemas.microsoft.com/office/drawing/2014/main" id="{9052148F-7B82-4E83-AF86-0BD7F100B48D}"/>
              </a:ext>
            </a:extLst>
          </p:cNvPr>
          <p:cNvPicPr>
            <a:picLocks xmlns:a="http://schemas.openxmlformats.org/drawingml/2006/main" noChangeAspect="1"/>
          </p:cNvPicPr>
          <p:nvPr/>
        </p:nvPicPr>
        <p:blipFill>
          <a:blip xmlns:r="http://schemas.openxmlformats.org/officeDocument/2006/relationships" xmlns:a="http://schemas.openxmlformats.org/drawingml/2006/main" r:embed="R0e99ff9d2d5c47dc"/>
          <a:stretch xmlns:a="http://schemas.openxmlformats.org/drawingml/2006/main"/>
        </p:blipFill>
        <p:spPr>
          <a:xfrm xmlns:a="http://schemas.openxmlformats.org/drawingml/2006/main">
            <a:off x="1185863" y="2333625"/>
            <a:ext cx="5857875" cy="3905250"/>
          </a:xfrm>
          <a:prstGeom xmlns:a="http://schemas.openxmlformats.org/drawingml/2006/main" prst="rect">
            <a:avLst/>
          </a:prstGeom>
        </p:spPr>
      </p:pic>
      <p:sp>
        <p:nvSpPr>
          <p:cNvPr id="3" name="slide-12-bullets">
            <a:extLst xmlns:a="http://schemas.openxmlformats.org/drawingml/2006/main">
              <a:ext uri="{FF2B5EF4-FFF2-40B4-BE49-F238E27FC236}">
                <a16:creationId xmlns:a16="http://schemas.microsoft.com/office/drawing/2014/main" id="{B30E8C12-57C4-45FF-A28A-A13BBCCF2D9D}"/>
              </a:ext>
            </a:extLst>
          </p:cNvPr>
          <p:cNvSpPr>
            <a:spLocks xmlns:a="http://schemas.openxmlformats.org/drawingml/2006/main" noGrp="1"/>
          </p:cNvSpPr>
          <p:nvPr/>
        </p:nvSpPr>
        <p:spPr>
          <a:xfrm xmlns:a="http://schemas.openxmlformats.org/drawingml/2006/main">
            <a:off x="7905750" y="2362200"/>
            <a:ext cx="3600450" cy="3667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a:solidFill>
                  <a:srgbClr val="1E302F"/>
                </a:solidFill>
                <a:latin typeface="Arial"/>
                <a:ea typeface="Arial"/>
                <a:cs typeface="Arial"/>
              </a:defRPr>
            </a:defPPr>
            <a:lvl1pPr>
              <a:defRPr sz="1725">
                <a:solidFill>
                  <a:srgbClr val="1E302F"/>
                </a:solidFill>
                <a:latin typeface="Arial"/>
                <a:ea typeface="Arial"/>
                <a:cs typeface="Arial"/>
              </a:defRPr>
            </a:lvl1pPr>
            <a:lvl2pPr>
              <a:defRPr sz="1725">
                <a:solidFill>
                  <a:srgbClr val="1E302F"/>
                </a:solidFill>
                <a:latin typeface="Arial"/>
                <a:ea typeface="Arial"/>
                <a:cs typeface="Arial"/>
              </a:defRPr>
            </a:lvl2pPr>
            <a:lvl3pPr>
              <a:defRPr sz="1725">
                <a:solidFill>
                  <a:srgbClr val="1E302F"/>
                </a:solidFill>
                <a:latin typeface="Arial"/>
                <a:ea typeface="Arial"/>
                <a:cs typeface="Arial"/>
              </a:defRPr>
            </a:lvl3pPr>
            <a:lvl4pPr>
              <a:defRPr sz="1725">
                <a:solidFill>
                  <a:srgbClr val="1E302F"/>
                </a:solidFill>
                <a:latin typeface="Arial"/>
                <a:ea typeface="Arial"/>
                <a:cs typeface="Arial"/>
              </a:defRPr>
            </a:lvl4pPr>
            <a:lvl5pPr>
              <a:defRPr sz="1725">
                <a:solidFill>
                  <a:srgbClr val="1E302F"/>
                </a:solidFill>
                <a:latin typeface="Arial"/>
                <a:ea typeface="Arial"/>
                <a:cs typeface="Arial"/>
              </a:defRPr>
            </a:lvl5pPr>
            <a:lvl6pPr>
              <a:defRPr sz="1725">
                <a:solidFill>
                  <a:srgbClr val="1E302F"/>
                </a:solidFill>
                <a:latin typeface="Arial"/>
                <a:ea typeface="Arial"/>
                <a:cs typeface="Arial"/>
              </a:defRPr>
            </a:lvl6pPr>
            <a:lvl7pPr>
              <a:defRPr sz="1725">
                <a:solidFill>
                  <a:srgbClr val="1E302F"/>
                </a:solidFill>
                <a:latin typeface="Arial"/>
                <a:ea typeface="Arial"/>
                <a:cs typeface="Arial"/>
              </a:defRPr>
            </a:lvl7pPr>
            <a:lvl8pPr>
              <a:defRPr sz="1725">
                <a:solidFill>
                  <a:srgbClr val="1E302F"/>
                </a:solidFill>
                <a:latin typeface="Arial"/>
                <a:ea typeface="Arial"/>
                <a:cs typeface="Arial"/>
              </a:defRPr>
            </a:lvl8pPr>
            <a:lvl9pPr>
              <a:defRPr sz="1725">
                <a:solidFill>
                  <a:srgbClr val="1E302F"/>
                </a:solidFill>
                <a:latin typeface="Arial"/>
                <a:ea typeface="Arial"/>
                <a:cs typeface="Arial"/>
              </a:defRPr>
            </a:lvl9pPr>
          </a:lstStyle>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Local recommendations remain predictions, not measured savings.</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No verified vintages or GPU telemetry.</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Selected policy: calendar_mean. The isolated effect is 12.414%.</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Simple timing value and classical forecast skill are separate findings.</a:t>
            </a:r>
          </a:p>
        </p:txBody>
      </p:sp>
      <p:sp>
        <p:nvSpPr>
          <p:cNvPr id="4" name="slide-12-caption">
            <a:extLst xmlns:a="http://schemas.openxmlformats.org/drawingml/2006/main">
              <a:ext uri="{FF2B5EF4-FFF2-40B4-BE49-F238E27FC236}">
                <a16:creationId xmlns:a16="http://schemas.microsoft.com/office/drawing/2014/main" id="{73E49933-AFC9-425D-84A3-425A2B1F2F95}"/>
              </a:ext>
            </a:extLst>
          </p:cNvPr>
          <p:cNvSpPr>
            <a:spLocks xmlns:a="http://schemas.openxmlformats.org/drawingml/2006/main" noGrp="1"/>
          </p:cNvSpPr>
          <p:nvPr/>
        </p:nvSpPr>
        <p:spPr>
          <a:xfrm xmlns:a="http://schemas.openxmlformats.org/drawingml/2006/main">
            <a:off x="781050" y="6267450"/>
            <a:ext cx="6572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a:solidFill>
                  <a:srgbClr val="536468"/>
                </a:solidFill>
                <a:latin typeface="Arial"/>
                <a:ea typeface="Arial"/>
                <a:cs typeface="Arial"/>
              </a:defRPr>
            </a:defPPr>
            <a:lvl1pPr algn="l">
              <a:defRPr sz="1200">
                <a:solidFill>
                  <a:srgbClr val="536468"/>
                </a:solidFill>
                <a:latin typeface="Arial"/>
                <a:ea typeface="Arial"/>
                <a:cs typeface="Arial"/>
              </a:defRPr>
            </a:lvl1pPr>
            <a:lvl2pPr algn="l">
              <a:defRPr sz="1200">
                <a:solidFill>
                  <a:srgbClr val="536468"/>
                </a:solidFill>
                <a:latin typeface="Arial"/>
                <a:ea typeface="Arial"/>
                <a:cs typeface="Arial"/>
              </a:defRPr>
            </a:lvl2pPr>
            <a:lvl3pPr algn="l">
              <a:defRPr sz="1200">
                <a:solidFill>
                  <a:srgbClr val="536468"/>
                </a:solidFill>
                <a:latin typeface="Arial"/>
                <a:ea typeface="Arial"/>
                <a:cs typeface="Arial"/>
              </a:defRPr>
            </a:lvl3pPr>
            <a:lvl4pPr algn="l">
              <a:defRPr sz="1200">
                <a:solidFill>
                  <a:srgbClr val="536468"/>
                </a:solidFill>
                <a:latin typeface="Arial"/>
                <a:ea typeface="Arial"/>
                <a:cs typeface="Arial"/>
              </a:defRPr>
            </a:lvl4pPr>
            <a:lvl5pPr algn="l">
              <a:defRPr sz="1200">
                <a:solidFill>
                  <a:srgbClr val="536468"/>
                </a:solidFill>
                <a:latin typeface="Arial"/>
                <a:ea typeface="Arial"/>
                <a:cs typeface="Arial"/>
              </a:defRPr>
            </a:lvl5pPr>
            <a:lvl6pPr algn="l">
              <a:defRPr sz="1200">
                <a:solidFill>
                  <a:srgbClr val="536468"/>
                </a:solidFill>
                <a:latin typeface="Arial"/>
                <a:ea typeface="Arial"/>
                <a:cs typeface="Arial"/>
              </a:defRPr>
            </a:lvl6pPr>
            <a:lvl7pPr algn="l">
              <a:defRPr sz="1200">
                <a:solidFill>
                  <a:srgbClr val="536468"/>
                </a:solidFill>
                <a:latin typeface="Arial"/>
                <a:ea typeface="Arial"/>
                <a:cs typeface="Arial"/>
              </a:defRPr>
            </a:lvl7pPr>
            <a:lvl8pPr algn="l">
              <a:defRPr sz="1200">
                <a:solidFill>
                  <a:srgbClr val="536468"/>
                </a:solidFill>
                <a:latin typeface="Arial"/>
                <a:ea typeface="Arial"/>
                <a:cs typeface="Arial"/>
              </a:defRPr>
            </a:lvl8pPr>
            <a:lvl9pPr algn="l">
              <a:defRPr sz="1200">
                <a:solidFill>
                  <a:srgbClr val="536468"/>
                </a:solidFill>
                <a:latin typeface="Arial"/>
                <a:ea typeface="Arial"/>
                <a:cs typeface="Arial"/>
              </a:defRPr>
            </a:lvl9pPr>
          </a:lstStyle>
          <a:p xmlns:a="http://schemas.openxmlformats.org/drawingml/2006/main">
            <a:pPr algn="l">
              <a:defRPr sz="1200">
                <a:solidFill>
                  <a:srgbClr val="536468"/>
                </a:solidFill>
                <a:latin typeface="Arial"/>
                <a:ea typeface="Arial"/>
                <a:cs typeface="Arial"/>
              </a:defRPr>
            </a:pPr>
            <a:r>
              <a:rPr sz="1200">
                <a:solidFill>
                  <a:srgbClr val="536468"/>
                </a:solidFill>
                <a:latin typeface="Arial"/>
                <a:ea typeface="Arial"/>
                <a:cs typeface="Arial"/>
              </a:rPr>
              <a:t>Verified local GridShift scheduling workspace</a:t>
            </a:r>
          </a:p>
        </p:txBody>
      </p:sp>
    </p:spTree>
    <p:extLst>
      <p:ext uri="{BB962C8B-B14F-4D97-AF65-F5344CB8AC3E}">
        <p14:creationId xmlns:p14="http://schemas.microsoft.com/office/powerpoint/2010/main" val="188751774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2026-10-22T23:58:43.2800000Z</dcterms:created>
  <dcterms:modified xsi:type="dcterms:W3CDTF">2026-10-22T23:58:43.2800000Z</dcterms:modified>
</coreProperties>
</file>