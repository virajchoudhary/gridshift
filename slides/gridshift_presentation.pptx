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20116dc17147d7" /><Relationship Type="http://schemas.openxmlformats.org/officeDocument/2006/relationships/extended-properties" Target="/docProps/app.xml" Id="R008cc84af72f4152" /><Relationship Type="http://schemas.openxmlformats.org/officeDocument/2006/relationships/officeDocument" Target="/ppt/presentation.xml" Id="R214120768a774ae9" /></Relationships>
</file>

<file path=ppt/presentation.xml><?xml version="1.0" encoding="utf-8"?>
<p:presentation xmlns:p="http://schemas.openxmlformats.org/presentationml/2006/main">
  <p:sldMasterIdLst>
    <p:sldMasterId xmlns:r="http://schemas.openxmlformats.org/officeDocument/2006/relationships" id="2147483648" r:id="R9705d00fd4a84cc1"/>
  </p:sldMasterIdLst>
  <p:notesMasterIdLst>
    <p:notesMasterId xmlns:r="http://schemas.openxmlformats.org/officeDocument/2006/relationships" r:id="Rb7dfc69e903a4f04"/>
  </p:notesMasterIdLst>
  <p:sldIdLst>
    <p:sldId xmlns:r="http://schemas.openxmlformats.org/officeDocument/2006/relationships" id="256" r:id="R64f9e67f4ed44ea7"/>
    <p:sldId xmlns:r="http://schemas.openxmlformats.org/officeDocument/2006/relationships" id="257" r:id="R314c04407e504f65"/>
    <p:sldId xmlns:r="http://schemas.openxmlformats.org/officeDocument/2006/relationships" id="258" r:id="R1596d01d9c154076"/>
    <p:sldId xmlns:r="http://schemas.openxmlformats.org/officeDocument/2006/relationships" id="259" r:id="R1761ca17185f4d98"/>
    <p:sldId xmlns:r="http://schemas.openxmlformats.org/officeDocument/2006/relationships" id="260" r:id="R93229f0a769a424d"/>
    <p:sldId xmlns:r="http://schemas.openxmlformats.org/officeDocument/2006/relationships" id="261" r:id="R38d141f871e541c9"/>
    <p:sldId xmlns:r="http://schemas.openxmlformats.org/officeDocument/2006/relationships" id="262" r:id="R950913f2a4b543b8"/>
    <p:sldId xmlns:r="http://schemas.openxmlformats.org/officeDocument/2006/relationships" id="263" r:id="R6e9d15a0b1c749a0"/>
    <p:sldId xmlns:r="http://schemas.openxmlformats.org/officeDocument/2006/relationships" id="264" r:id="Rcbb65b3b9d4f44a4"/>
    <p:sldId xmlns:r="http://schemas.openxmlformats.org/officeDocument/2006/relationships" id="265" r:id="R22401ec35b164d19"/>
    <p:sldId xmlns:r="http://schemas.openxmlformats.org/officeDocument/2006/relationships" id="266" r:id="R608f213047004b75"/>
    <p:sldId xmlns:r="http://schemas.openxmlformats.org/officeDocument/2006/relationships" id="267" r:id="R2578495be5e140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f6cd3246984974" /><Relationship Type="http://schemas.openxmlformats.org/officeDocument/2006/relationships/slideMaster" Target="/ppt/slideMasters/slideMaster1.xml" Id="R9705d00fd4a84cc1" /><Relationship Type="http://schemas.openxmlformats.org/officeDocument/2006/relationships/notesMaster" Target="/ppt/notesMasters/notesMaster1.xml" Id="Rb7dfc69e903a4f04" /><Relationship Type="http://schemas.openxmlformats.org/officeDocument/2006/relationships/presProps" Target="/ppt/presProps.xml" Id="Rd69dd54537de454a" /><Relationship Type="http://schemas.openxmlformats.org/officeDocument/2006/relationships/tableStyles" Target="/ppt/tableStyles.xml" Id="R40b6e165413d464a" /><Relationship Type="http://schemas.openxmlformats.org/officeDocument/2006/relationships/slide" Target="/ppt/slides/slide1.xml" Id="R64f9e67f4ed44ea7" /><Relationship Type="http://schemas.openxmlformats.org/officeDocument/2006/relationships/slide" Target="/ppt/slides/slide2.xml" Id="R314c04407e504f65" /><Relationship Type="http://schemas.openxmlformats.org/officeDocument/2006/relationships/slide" Target="/ppt/slides/slide3.xml" Id="R1596d01d9c154076" /><Relationship Type="http://schemas.openxmlformats.org/officeDocument/2006/relationships/slide" Target="/ppt/slides/slide4.xml" Id="R1761ca17185f4d98" /><Relationship Type="http://schemas.openxmlformats.org/officeDocument/2006/relationships/slide" Target="/ppt/slides/slide5.xml" Id="R93229f0a769a424d" /><Relationship Type="http://schemas.openxmlformats.org/officeDocument/2006/relationships/slide" Target="/ppt/slides/slide6.xml" Id="R38d141f871e541c9" /><Relationship Type="http://schemas.openxmlformats.org/officeDocument/2006/relationships/slide" Target="/ppt/slides/slide7.xml" Id="R950913f2a4b543b8" /><Relationship Type="http://schemas.openxmlformats.org/officeDocument/2006/relationships/slide" Target="/ppt/slides/slide8.xml" Id="R6e9d15a0b1c749a0" /><Relationship Type="http://schemas.openxmlformats.org/officeDocument/2006/relationships/slide" Target="/ppt/slides/slide9.xml" Id="Rcbb65b3b9d4f44a4" /><Relationship Type="http://schemas.openxmlformats.org/officeDocument/2006/relationships/slide" Target="/ppt/slides/slide10.xml" Id="R22401ec35b164d19" /><Relationship Type="http://schemas.openxmlformats.org/officeDocument/2006/relationships/slide" Target="/ppt/slides/slide11.xml" Id="R608f213047004b75" /><Relationship Type="http://schemas.openxmlformats.org/officeDocument/2006/relationships/slide" Target="/ppt/slides/slide12.xml" Id="R2578495be5e140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9b21d581774b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f3249b494f46cb" /><Relationship Type="http://schemas.openxmlformats.org/officeDocument/2006/relationships/notesMaster" Target="/ppt/notesMasters/notesMaster1.xml" Id="Rcc5cbb6391c347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c166bd07844638" /><Relationship Type="http://schemas.openxmlformats.org/officeDocument/2006/relationships/notesMaster" Target="/ppt/notesMasters/notesMaster1.xml" Id="R39f854d2cdc2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78bc7733c844e3" /><Relationship Type="http://schemas.openxmlformats.org/officeDocument/2006/relationships/notesMaster" Target="/ppt/notesMasters/notesMaster1.xml" Id="R4caf7ce9e27f45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579917211d4647" /><Relationship Type="http://schemas.openxmlformats.org/officeDocument/2006/relationships/notesMaster" Target="/ppt/notesMasters/notesMaster1.xml" Id="Rc92d6c8636f749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512ed39e9746b6" /><Relationship Type="http://schemas.openxmlformats.org/officeDocument/2006/relationships/notesMaster" Target="/ppt/notesMasters/notesMaster1.xml" Id="R793d7d74fbc14f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ceebb55ec849fd" /><Relationship Type="http://schemas.openxmlformats.org/officeDocument/2006/relationships/notesMaster" Target="/ppt/notesMasters/notesMaster1.xml" Id="R76fcd11f6f8742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e4cd78e0e144e2" /><Relationship Type="http://schemas.openxmlformats.org/officeDocument/2006/relationships/notesMaster" Target="/ppt/notesMasters/notesMaster1.xml" Id="Rb0f452ee41af47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6149bd2e104d91" /><Relationship Type="http://schemas.openxmlformats.org/officeDocument/2006/relationships/notesMaster" Target="/ppt/notesMasters/notesMaster1.xml" Id="R123c001235844a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f9e5bf7e344bb9" /><Relationship Type="http://schemas.openxmlformats.org/officeDocument/2006/relationships/notesMaster" Target="/ppt/notesMasters/notesMaster1.xml" Id="Rac6d3988df8442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39864c61c340a7" /><Relationship Type="http://schemas.openxmlformats.org/officeDocument/2006/relationships/notesMaster" Target="/ppt/notesMasters/notesMaster1.xml" Id="Rb5028d45a6794c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700e0bd922497e" /><Relationship Type="http://schemas.openxmlformats.org/officeDocument/2006/relationships/notesMaster" Target="/ppt/notesMasters/notesMaster1.xml" Id="R665d8d48a15b41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4134f769e84de0" /><Relationship Type="http://schemas.openxmlformats.org/officeDocument/2006/relationships/notesMaster" Target="/ppt/notesMasters/notesMaster1.xml" Id="R5a7064ed542a4a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study and its target. The figure is a stored development diagnostic, not a locked-test result.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bounded by declared duration, energy, deadline, and capacity assumptions. Sources S1, S2, S4, S5, and S9.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Quality values come from artifacts/data/quality.json. Monthly coverage chart source: C:\Users\viraj\Documents\Codex\2026-10-22\plan-gridshift-a-complete-ats-mini\outputs\GridShift\artifacts\data\monthly_coverage.csv. Source IDs S1-S8. See reports/gridshift_report.md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files are diagnostics.json, adf.csv, kpss.csv, acf_pacf.csv, and the named figure. Centered STL is descriptive, not an online feature. Source IDs S9-S13. Diagnostic figures and tables come from artifacts/diagnostics.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selections are read from results.json and are not recomputed from test data.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 settings come from the passed config. The full configuration digest appears in the report. Source IDs S9-S13. Validation and test rows come from the content-addressed forecast_metrics.csv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scores are read from artifacts/runs/d2dee2d358735d7d/validation/forecast_metrics.csv.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scores are read from artifacts/runs/d2dee2d358735d7d/test/forecast_metrics.csv.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values come from config. They are scenarios unless measured telemetry appears in a verified artifact.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summary rows come from C:\Users\viraj\Documents\Codex\2026-10-22\plan-gridshift-a-complete-ats-mini\outputs\GridShift\artifacts\runs\d2dee2d358735d7d\test\single_job\primary_summary.csv. Bootstrap uncertainty comes from C:\Users\viraj\Documents\Codex\2026-10-22\plan-gridshift-a-complete-ats-mini\outputs\GridShift\artifacts\runs\d2dee2d358735d7d\test\single_job\primary_bootstrap.csv. A simple deployment choice does not establish added scheduling value from classical forecasting. Modeled isolated-job benefit under declared assumptions. The certified seven-day paired block estimate is 12.414% (95% interval 10.951 to 13.828%) across 2913 scheduled primary-policy jobs; the bootstrap paired 2913 jobs. This estimates modeled operational CO2 under the declared job, energy, and deadline assumptions. Source CSV tables and artifacts/results.json. No re-selection on test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Queue summary rows come from C:\Users\viraj\Documents\Codex\2026-10-22\plan-gridshift-a-complete-ats-mini\outputs\GridShift\artifacts\runs\d2dee2d358735d7d\test\queue\queue_summary.csv. Full scenarios and policies remain in the source CSV and report. Source CSV table. Queue arrivals are synthetic and service outcomes remain part of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notes: realized job CO2 is the sum over intervals of overlap energy in kWh times estimated intensity in gCO2/kWh. The forecast scheduler minimizes the same integrated expression using the eligible forecast path. Failure cases include missing forecasts, incomplete truth coverage, infeasible deadlines, failed model fits, and unmatched queue work. Preserve each outcome in the tables. Source ID S5. Energy and emissions are modeled under config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79743882244c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5933a3d80148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5e661f8b574e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2aecc512e247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3b90140bfc45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398b29ed164c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378394-14F0-47BF-8BDD-CF25659C5D9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9E045C-9544-4A60-ACE4-165930D812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969049-4969-41D4-902B-EBBD31D194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4AF617-289E-4C27-BCBF-A6132D78C7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1D8EE1-4DB8-40E8-BBE3-5C10CB08FF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5A71EA-BE86-41F6-BFB6-EFE214702D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C98F77-1ED7-415C-8AB5-DA8722231B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5DFD3E-9FE4-4691-83CB-5FB1017EC08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E94B0F-929E-4542-A68A-0019936CA3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874831-2CFF-4430-AE61-B99E51ECC3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65375ba57140bb" /><Relationship Type="http://schemas.openxmlformats.org/officeDocument/2006/relationships/slideLayout" Target="/ppt/slideLayouts/slideLayout1.xml" Id="R4b03e5fe119d4828" /><Relationship Type="http://schemas.openxmlformats.org/officeDocument/2006/relationships/slideLayout" Target="/ppt/slideLayouts/slideLayout2.xml" Id="R872aba0a55e1459f" /><Relationship Type="http://schemas.openxmlformats.org/officeDocument/2006/relationships/slideLayout" Target="/ppt/slideLayouts/slideLayout3.xml" Id="Rc9356e256a5a4f5e" /><Relationship Type="http://schemas.openxmlformats.org/officeDocument/2006/relationships/slideLayout" Target="/ppt/slideLayouts/slideLayout4.xml" Id="R510059d8b58c447e" /><Relationship Type="http://schemas.openxmlformats.org/officeDocument/2006/relationships/slideLayout" Target="/ppt/slideLayouts/slideLayout5.xml" Id="R183686de0904420e" /><Relationship Type="http://schemas.openxmlformats.org/officeDocument/2006/relationships/slideLayout" Target="/ppt/slideLayouts/slideLayout6.xml" Id="R7a70917a9acc43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03e5fe119d4828"/>
    <p:sldLayoutId xmlns:r="http://schemas.openxmlformats.org/officeDocument/2006/relationships" id="2147483650" r:id="R872aba0a55e1459f"/>
    <p:sldLayoutId xmlns:r="http://schemas.openxmlformats.org/officeDocument/2006/relationships" id="2147483651" r:id="Rc9356e256a5a4f5e"/>
    <p:sldLayoutId xmlns:r="http://schemas.openxmlformats.org/officeDocument/2006/relationships" id="2147483652" r:id="R510059d8b58c447e"/>
    <p:sldLayoutId xmlns:r="http://schemas.openxmlformats.org/officeDocument/2006/relationships" id="2147483653" r:id="R183686de0904420e"/>
    <p:sldLayoutId xmlns:r="http://schemas.openxmlformats.org/officeDocument/2006/relationships" id="2147483654" r:id="R7a70917a9acc43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c3111e2e3b4a3e" /><Relationship Type="http://schemas.openxmlformats.org/officeDocument/2006/relationships/image" Target="/ppt/media/image.png" Id="R81794be78fc14937" /><Relationship Type="http://schemas.openxmlformats.org/officeDocument/2006/relationships/notesSlide" Target="/ppt/notesSlides/notesSlide1.xml" Id="Rd92c96f2882e44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6831e09f284260" /><Relationship Type="http://schemas.openxmlformats.org/officeDocument/2006/relationships/image" Target="/ppt/media/image2.png" Id="R8d0b6d37c57b4084" /><Relationship Type="http://schemas.openxmlformats.org/officeDocument/2006/relationships/notesSlide" Target="/ppt/notesSlides/notesSlide2.xml" Id="R3bec36237e0b4c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815677a039406e" /><Relationship Type="http://schemas.openxmlformats.org/officeDocument/2006/relationships/chart" Target="/ppt/slides/charts/chart1.xml" Id="R8d1dd8ea99aa43bc" /><Relationship Type="http://schemas.openxmlformats.org/officeDocument/2006/relationships/notesSlide" Target="/ppt/notesSlides/notesSlide3.xml" Id="R782857bc38854e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5da64685cd464d" /><Relationship Type="http://schemas.openxmlformats.org/officeDocument/2006/relationships/image" Target="/ppt/media/image3.png" Id="R5a2aba8db6894f90" /><Relationship Type="http://schemas.openxmlformats.org/officeDocument/2006/relationships/notesSlide" Target="/ppt/notesSlides/notesSlide4.xml" Id="R502ca62936e544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e0a4f75cc84960" /><Relationship Type="http://schemas.openxmlformats.org/officeDocument/2006/relationships/notesSlide" Target="/ppt/notesSlides/notesSlide5.xml" Id="R52b2c5754c3d4a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c9f927cf6184270" /><Relationship Type="http://schemas.openxmlformats.org/officeDocument/2006/relationships/notesSlide" Target="/ppt/notesSlides/notesSlide6.xml" Id="R1beb8526be6948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e4b835ef3614f01" /><Relationship Type="http://schemas.openxmlformats.org/officeDocument/2006/relationships/chart" Target="/ppt/slides/charts/chart2.xml" Id="Rdce95ab824394e75" /><Relationship Type="http://schemas.openxmlformats.org/officeDocument/2006/relationships/notesSlide" Target="/ppt/notesSlides/notesSlide7.xml" Id="Rd2c04367cf9040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d16a4602494f51" /><Relationship Type="http://schemas.openxmlformats.org/officeDocument/2006/relationships/chart" Target="/ppt/slides/charts/chart3.xml" Id="Rdc5c847d270a4d88" /><Relationship Type="http://schemas.openxmlformats.org/officeDocument/2006/relationships/notesSlide" Target="/ppt/notesSlides/notesSlide8.xml" Id="Rfc188a67a39c4d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e9889fa5284b26" /><Relationship Type="http://schemas.openxmlformats.org/officeDocument/2006/relationships/notesSlide" Target="/ppt/notesSlides/notesSlide9.xml" Id="R40d6f82ff76d41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29579ed6e514441" /><Relationship Type="http://schemas.openxmlformats.org/officeDocument/2006/relationships/chart" Target="/ppt/slides/charts/chart4.xml" Id="Rff9b9f10a4b74099" /><Relationship Type="http://schemas.openxmlformats.org/officeDocument/2006/relationships/notesSlide" Target="/ppt/notesSlides/notesSlide10.xml" Id="Rd66a2860e70546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0bde250afc740f5" /><Relationship Type="http://schemas.openxmlformats.org/officeDocument/2006/relationships/notesSlide" Target="/ppt/notesSlides/notesSlide11.xml" Id="R735f6069656e46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f91253324d4721" /><Relationship Type="http://schemas.openxmlformats.org/officeDocument/2006/relationships/notesSlide" Target="/ppt/notesSlides/notesSlide12.xml" Id="Reb683f7e35dd4ab4"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Monthly observed coverage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Coverage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strLit>
              <c:ptCount val="12"/>
              <c:pt idx="0">
                <c:v>2025-01</c:v>
              </c:pt>
              <c:pt idx="1">
                <c:v>2025-02</c:v>
              </c:pt>
              <c:pt idx="2">
                <c:v>2025-03</c:v>
              </c:pt>
              <c:pt idx="3">
                <c:v>2025-04</c:v>
              </c:pt>
              <c:pt idx="4">
                <c:v>2025-05</c:v>
              </c:pt>
              <c:pt idx="5">
                <c:v>2025-06</c:v>
              </c:pt>
              <c:pt idx="6">
                <c:v>2025-07</c:v>
              </c:pt>
              <c:pt idx="7">
                <c:v>2025-08</c:v>
              </c:pt>
              <c:pt idx="8">
                <c:v>2025-09</c:v>
              </c:pt>
              <c:pt idx="9">
                <c:v>2025-10</c:v>
              </c:pt>
              <c:pt idx="10">
                <c:v>2025-11</c:v>
              </c:pt>
              <c:pt idx="11">
                <c:v>2025-12</c:v>
              </c:pt>
            </c:strLit>
          </c:cat>
          <c:val>
            <c:numLit>
              <c:formatCode>0%</c:formatCode>
              <c:ptCount val="12"/>
              <c:pt idx="0">
                <c:v>1</c:v>
              </c:pt>
              <c:pt idx="1">
                <c:v>1</c:v>
              </c:pt>
              <c:pt idx="2">
                <c:v>1</c:v>
              </c:pt>
              <c:pt idx="3">
                <c:v>1</c:v>
              </c:pt>
              <c:pt idx="4">
                <c:v>1</c:v>
              </c:pt>
              <c:pt idx="5">
                <c:v>1</c:v>
              </c:pt>
              <c:pt idx="6">
                <c:v>1</c:v>
              </c:pt>
              <c:pt idx="7">
                <c:v>1</c:v>
              </c:pt>
              <c:pt idx="8">
                <c:v>1</c:v>
              </c:pt>
              <c:pt idx="9">
                <c:v>1</c:v>
              </c:pt>
              <c:pt idx="10">
                <c:v>1</c:v>
              </c:pt>
              <c:pt idx="11">
                <c:v>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Observed share</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absolute error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7.124229059485097</c:v>
              </c:pt>
              <c:pt idx="1">
                <c:v>15.047396000976466</c:v>
              </c:pt>
              <c:pt idx="2">
                <c:v>27.921913501436215</c:v>
              </c:pt>
              <c:pt idx="3">
                <c:v>33.815534833260116</c:v>
              </c:pt>
              <c:pt idx="4">
                <c:v>40.20508559879953</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8.781483134604349</c:v>
              </c:pt>
              <c:pt idx="1">
                <c:v>18.990114795918366</c:v>
              </c:pt>
              <c:pt idx="2">
                <c:v>35.440211842776925</c:v>
              </c:pt>
              <c:pt idx="3">
                <c:v>39.122733077905494</c:v>
              </c:pt>
              <c:pt idx="4">
                <c:v>41.434968698096334</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Locked-test MAE by lead time</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lineChart>
        <c:grouping val="standard"/>
        <c:varyColors val="0"/>
        <c:ser>
          <c:idx val="0"/>
          <c:order val="0"/>
          <c:tx>
            <c:v>SARIMA(1,0,1)x(1,0,0,48)</c:v>
          </c:tx>
          <c:spPr>
            <a:solidFill xmlns:a="http://schemas.openxmlformats.org/drawingml/2006/main">
              <a:srgbClr val="D2644A"/>
            </a:solidFill>
            <a:ln xmlns:a="http://schemas.openxmlformats.org/drawingml/2006/main" w="28575">
              <a:solidFill>
                <a:srgbClr val="D2644A"/>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6.926005204817896</c:v>
              </c:pt>
              <c:pt idx="1">
                <c:v>14.876816256256983</c:v>
              </c:pt>
              <c:pt idx="2">
                <c:v>27.78736609936195</c:v>
              </c:pt>
              <c:pt idx="3">
                <c:v>33.41171986353712</c:v>
              </c:pt>
              <c:pt idx="4">
                <c:v>39.26248490790846</c:v>
              </c:pt>
            </c:numLit>
          </c:val>
          <c:smooth val="0"/>
        </c:ser>
        <c:ser>
          <c:idx val="1"/>
          <c:order val="1"/>
          <c:tx>
            <c:v>persistence</c:v>
          </c:tx>
          <c:spPr>
            <a:solidFill xmlns:a="http://schemas.openxmlformats.org/drawingml/2006/main">
              <a:srgbClr val="127C74"/>
            </a:solidFill>
            <a:ln xmlns:a="http://schemas.openxmlformats.org/drawingml/2006/main" w="28575">
              <a:solidFill>
                <a:srgbClr val="127C74"/>
              </a:solidFill>
              <a:prstDash val="solid"/>
            </a:ln>
          </c:spPr>
          <c:marker>
            <c:symbol val="circle"/>
            <c:size val="5"/>
          </c:marker>
          <c:cat>
            <c:numLit>
              <c:formatCode>General</c:formatCode>
              <c:ptCount val="5"/>
              <c:pt idx="0">
                <c:v>1</c:v>
              </c:pt>
              <c:pt idx="1">
                <c:v>4</c:v>
              </c:pt>
              <c:pt idx="2">
                <c:v>12</c:v>
              </c:pt>
              <c:pt idx="3">
                <c:v>24</c:v>
              </c:pt>
              <c:pt idx="4">
                <c:v>48</c:v>
              </c:pt>
            </c:numLit>
          </c:cat>
          <c:val>
            <c:numLit>
              <c:formatCode>#,##0.0</c:formatCode>
              <c:ptCount val="5"/>
              <c:pt idx="0">
                <c:v>9.100516246583663</c:v>
              </c:pt>
              <c:pt idx="1">
                <c:v>20.068569693288794</c:v>
              </c:pt>
              <c:pt idx="2">
                <c:v>37.386334649256</c:v>
              </c:pt>
              <c:pt idx="3">
                <c:v>39.24998481627695</c:v>
              </c:pt>
              <c:pt idx="4">
                <c:v>39.804615851806865</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MAE (gCO2/kWh)</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b="1">
                <a:solidFill>
                  <a:srgbClr val="1E302F"/>
                </a:solidFill>
                <a:latin typeface="Arial"/>
                <a:ea typeface="Arial"/>
                <a:cs typeface="Arial"/>
              </a:rPr>
              <a:t>Mean realized emissions per eligible job</a:t>
            </a:r>
          </a:p>
        </c:rich>
      </c:tx>
      <c:overlay val="0"/>
      <c:txPr>
        <a:bodyPr xmlns:a="http://schemas.openxmlformats.org/drawingml/2006/main" anchorCtr="1"/>
        <a:lstStyle xmlns:a="http://schemas.openxmlformats.org/drawingml/2006/main"/>
        <a:p xmlns:a="http://schemas.openxmlformats.org/drawingml/2006/main">
          <a:pPr>
            <a:defRPr sz="1650" b="1">
              <a:solidFill>
                <a:srgbClr val="1E302F"/>
              </a:solidFill>
              <a:latin typeface="Arial"/>
              <a:ea typeface="Arial"/>
              <a:cs typeface="Arial"/>
            </a:defRPr>
          </a:pPr>
        </a:p>
      </c:txPr>
    </c:title>
    <c:plotArea>
      <c:barChart>
        <c:barDir val="col"/>
        <c:grouping val="clustered"/>
        <c:varyColors val="0"/>
        <c:ser>
          <c:idx val="0"/>
          <c:order val="0"/>
          <c:tx>
            <c:v>Mean realized emissions</c:v>
          </c:tx>
          <c:spPr>
            <a:solidFill xmlns:a="http://schemas.openxmlformats.org/drawingml/2006/main">
              <a:srgbClr val="127C74"/>
            </a:solidFill>
            <a:ln xmlns:a="http://schemas.openxmlformats.org/drawingml/2006/main" w="28575">
              <a:solidFill>
                <a:srgbClr val="127C74"/>
              </a:solidFill>
              <a:prstDash val="solid"/>
            </a:ln>
          </c:spPr>
          <c:invertIfNegative val="0"/>
          <c:cat>
            <c:strLit>
              <c:ptCount val="4"/>
              <c:pt idx="0">
                <c:v>earliest</c:v>
              </c:pt>
              <c:pt idx="1">
                <c:v>seeded_random</c:v>
              </c:pt>
              <c:pt idx="2">
                <c:v>oracle (oracle)</c:v>
              </c:pt>
              <c:pt idx="3">
                <c:v>forecast</c:v>
              </c:pt>
            </c:strLit>
          </c:cat>
          <c:val>
            <c:numLit>
              <c:formatCode>#,##0.0</c:formatCode>
              <c:ptCount val="4"/>
              <c:pt idx="0">
                <c:v>124.03246138002059</c:v>
              </c:pt>
              <c:pt idx="1">
                <c:v>123.52799176107105</c:v>
              </c:pt>
              <c:pt idx="2">
                <c:v>97.223728115345</c:v>
              </c:pt>
              <c:pt idx="3">
                <c:v>108.63505664263646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125">
                <a:solidFill>
                  <a:srgbClr val="1E302F"/>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9EF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1E302F"/>
                    </a:solidFill>
                    <a:latin typeface="Arial"/>
                    <a:ea typeface="Arial"/>
                    <a:cs typeface="Arial"/>
                  </a:rPr>
                  <a:t>gCO2</a:t>
                </a:r>
              </a:p>
            </c:rich>
          </c:tx>
          <c:overlay val="0"/>
          <c:txPr>
            <a:bodyPr xmlns:a="http://schemas.openxmlformats.org/drawingml/2006/main" anchorCtr="1"/>
            <a:lstStyle xmlns:a="http://schemas.openxmlformats.org/drawingml/2006/main"/>
            <a:p xmlns:a="http://schemas.openxmlformats.org/drawingml/2006/main">
              <a:pPr>
                <a:defRPr sz="1200">
                  <a:solidFill>
                    <a:srgbClr val="1E302F"/>
                  </a:solidFill>
                  <a:latin typeface="Arial"/>
                  <a:ea typeface="Arial"/>
                  <a:cs typeface="Arial"/>
                </a:defRPr>
              </a:pPr>
            </a:p>
          </c:txPr>
        </c:title>
        <c:numFmt formatCode="#,##0.0"/>
        <c:majorTickMark val="none"/>
        <c:minorTickMark val="none"/>
        <c:spPr>
          <a:ln xmlns:a="http://schemas.openxmlformats.org/drawingml/2006/main" w="9525">
            <a:solidFill>
              <a:srgbClr val="CED8D5"/>
            </a:solidFill>
            <a:prstDash val="solid"/>
          </a:ln>
        </c:spPr>
        <c:txPr>
          <a:bodyPr xmlns:a="http://schemas.openxmlformats.org/drawingml/2006/main" anchorCtr="1"/>
          <a:lstStyle xmlns:a="http://schemas.openxmlformats.org/drawingml/2006/main"/>
          <a:p xmlns:a="http://schemas.openxmlformats.org/drawingml/2006/main">
            <a:pPr>
              <a:defRPr sz="1050">
                <a:solidFill>
                  <a:srgbClr val="1E30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title">
            <a:extLst xmlns:a="http://schemas.openxmlformats.org/drawingml/2006/main">
              <a:ext uri="{FF2B5EF4-FFF2-40B4-BE49-F238E27FC236}">
                <a16:creationId xmlns:a16="http://schemas.microsoft.com/office/drawing/2014/main" id="{97D1EDC2-D045-48C0-ABCF-4D3BA9F43F79}"/>
              </a:ext>
            </a:extLst>
          </p:cNvPr>
          <p:cNvSpPr>
            <a:spLocks xmlns:a="http://schemas.openxmlformats.org/drawingml/2006/main" noGrp="1"/>
          </p:cNvSpPr>
          <p:nvPr/>
        </p:nvSpPr>
        <p:spPr>
          <a:xfrm xmlns:a="http://schemas.openxmlformats.org/drawingml/2006/main">
            <a:off x="685800" y="83820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400" b="1">
                <a:solidFill>
                  <a:srgbClr val="176B66"/>
                </a:solidFill>
                <a:latin typeface="Arial"/>
                <a:ea typeface="Arial"/>
                <a:cs typeface="Arial"/>
              </a:defRPr>
            </a:defPPr>
            <a:lvl1pPr algn="l">
              <a:defRPr sz="5400" b="1">
                <a:solidFill>
                  <a:srgbClr val="176B66"/>
                </a:solidFill>
                <a:latin typeface="Arial"/>
                <a:ea typeface="Arial"/>
                <a:cs typeface="Arial"/>
              </a:defRPr>
            </a:lvl1pPr>
            <a:lvl2pPr algn="l">
              <a:defRPr sz="5400" b="1">
                <a:solidFill>
                  <a:srgbClr val="176B66"/>
                </a:solidFill>
                <a:latin typeface="Arial"/>
                <a:ea typeface="Arial"/>
                <a:cs typeface="Arial"/>
              </a:defRPr>
            </a:lvl2pPr>
            <a:lvl3pPr algn="l">
              <a:defRPr sz="5400" b="1">
                <a:solidFill>
                  <a:srgbClr val="176B66"/>
                </a:solidFill>
                <a:latin typeface="Arial"/>
                <a:ea typeface="Arial"/>
                <a:cs typeface="Arial"/>
              </a:defRPr>
            </a:lvl3pPr>
            <a:lvl4pPr algn="l">
              <a:defRPr sz="5400" b="1">
                <a:solidFill>
                  <a:srgbClr val="176B66"/>
                </a:solidFill>
                <a:latin typeface="Arial"/>
                <a:ea typeface="Arial"/>
                <a:cs typeface="Arial"/>
              </a:defRPr>
            </a:lvl4pPr>
            <a:lvl5pPr algn="l">
              <a:defRPr sz="5400" b="1">
                <a:solidFill>
                  <a:srgbClr val="176B66"/>
                </a:solidFill>
                <a:latin typeface="Arial"/>
                <a:ea typeface="Arial"/>
                <a:cs typeface="Arial"/>
              </a:defRPr>
            </a:lvl5pPr>
            <a:lvl6pPr algn="l">
              <a:defRPr sz="5400" b="1">
                <a:solidFill>
                  <a:srgbClr val="176B66"/>
                </a:solidFill>
                <a:latin typeface="Arial"/>
                <a:ea typeface="Arial"/>
                <a:cs typeface="Arial"/>
              </a:defRPr>
            </a:lvl6pPr>
            <a:lvl7pPr algn="l">
              <a:defRPr sz="5400" b="1">
                <a:solidFill>
                  <a:srgbClr val="176B66"/>
                </a:solidFill>
                <a:latin typeface="Arial"/>
                <a:ea typeface="Arial"/>
                <a:cs typeface="Arial"/>
              </a:defRPr>
            </a:lvl7pPr>
            <a:lvl8pPr algn="l">
              <a:defRPr sz="5400" b="1">
                <a:solidFill>
                  <a:srgbClr val="176B66"/>
                </a:solidFill>
                <a:latin typeface="Arial"/>
                <a:ea typeface="Arial"/>
                <a:cs typeface="Arial"/>
              </a:defRPr>
            </a:lvl8pPr>
            <a:lvl9pPr algn="l">
              <a:defRPr sz="5400" b="1">
                <a:solidFill>
                  <a:srgbClr val="176B66"/>
                </a:solidFill>
                <a:latin typeface="Arial"/>
                <a:ea typeface="Arial"/>
                <a:cs typeface="Arial"/>
              </a:defRPr>
            </a:lvl9pPr>
          </a:lstStyle>
          <a:p xmlns:a="http://schemas.openxmlformats.org/drawingml/2006/main">
            <a:pPr algn="l">
              <a:defRPr sz="5400" b="1">
                <a:solidFill>
                  <a:srgbClr val="176B66"/>
                </a:solidFill>
                <a:latin typeface="Arial"/>
                <a:ea typeface="Arial"/>
                <a:cs typeface="Arial"/>
              </a:defRPr>
            </a:pPr>
            <a:r>
              <a:rPr sz="5400" b="1">
                <a:solidFill>
                  <a:srgbClr val="176B66"/>
                </a:solidFill>
                <a:latin typeface="Arial"/>
                <a:ea typeface="Arial"/>
                <a:cs typeface="Arial"/>
              </a:rPr>
              <a:t>GridShift</a:t>
            </a:r>
          </a:p>
        </p:txBody>
      </p:sp>
      <p:sp>
        <p:nvSpPr>
          <p:cNvPr id="2" name="slide-1-subtitle">
            <a:extLst xmlns:a="http://schemas.openxmlformats.org/drawingml/2006/main">
              <a:ext uri="{FF2B5EF4-FFF2-40B4-BE49-F238E27FC236}">
                <a16:creationId xmlns:a16="http://schemas.microsoft.com/office/drawing/2014/main" id="{D8772483-3FAE-46BE-90B2-1CAF7B69D3E3}"/>
              </a:ext>
            </a:extLst>
          </p:cNvPr>
          <p:cNvSpPr>
            <a:spLocks xmlns:a="http://schemas.openxmlformats.org/drawingml/2006/main" noGrp="1"/>
          </p:cNvSpPr>
          <p:nvPr/>
        </p:nvSpPr>
        <p:spPr>
          <a:xfrm xmlns:a="http://schemas.openxmlformats.org/drawingml/2006/main">
            <a:off x="723900" y="1714500"/>
            <a:ext cx="5572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a:solidFill>
                  <a:srgbClr val="536468"/>
                </a:solidFill>
                <a:latin typeface="Arial"/>
                <a:ea typeface="Arial"/>
                <a:cs typeface="Arial"/>
              </a:defRPr>
            </a:defPPr>
            <a:lvl1pPr algn="l">
              <a:defRPr sz="2100">
                <a:solidFill>
                  <a:srgbClr val="536468"/>
                </a:solidFill>
                <a:latin typeface="Arial"/>
                <a:ea typeface="Arial"/>
                <a:cs typeface="Arial"/>
              </a:defRPr>
            </a:lvl1pPr>
            <a:lvl2pPr algn="l">
              <a:defRPr sz="2100">
                <a:solidFill>
                  <a:srgbClr val="536468"/>
                </a:solidFill>
                <a:latin typeface="Arial"/>
                <a:ea typeface="Arial"/>
                <a:cs typeface="Arial"/>
              </a:defRPr>
            </a:lvl2pPr>
            <a:lvl3pPr algn="l">
              <a:defRPr sz="2100">
                <a:solidFill>
                  <a:srgbClr val="536468"/>
                </a:solidFill>
                <a:latin typeface="Arial"/>
                <a:ea typeface="Arial"/>
                <a:cs typeface="Arial"/>
              </a:defRPr>
            </a:lvl3pPr>
            <a:lvl4pPr algn="l">
              <a:defRPr sz="2100">
                <a:solidFill>
                  <a:srgbClr val="536468"/>
                </a:solidFill>
                <a:latin typeface="Arial"/>
                <a:ea typeface="Arial"/>
                <a:cs typeface="Arial"/>
              </a:defRPr>
            </a:lvl4pPr>
            <a:lvl5pPr algn="l">
              <a:defRPr sz="2100">
                <a:solidFill>
                  <a:srgbClr val="536468"/>
                </a:solidFill>
                <a:latin typeface="Arial"/>
                <a:ea typeface="Arial"/>
                <a:cs typeface="Arial"/>
              </a:defRPr>
            </a:lvl5pPr>
            <a:lvl6pPr algn="l">
              <a:defRPr sz="2100">
                <a:solidFill>
                  <a:srgbClr val="536468"/>
                </a:solidFill>
                <a:latin typeface="Arial"/>
                <a:ea typeface="Arial"/>
                <a:cs typeface="Arial"/>
              </a:defRPr>
            </a:lvl6pPr>
            <a:lvl7pPr algn="l">
              <a:defRPr sz="2100">
                <a:solidFill>
                  <a:srgbClr val="536468"/>
                </a:solidFill>
                <a:latin typeface="Arial"/>
                <a:ea typeface="Arial"/>
                <a:cs typeface="Arial"/>
              </a:defRPr>
            </a:lvl7pPr>
            <a:lvl8pPr algn="l">
              <a:defRPr sz="2100">
                <a:solidFill>
                  <a:srgbClr val="536468"/>
                </a:solidFill>
                <a:latin typeface="Arial"/>
                <a:ea typeface="Arial"/>
                <a:cs typeface="Arial"/>
              </a:defRPr>
            </a:lvl8pPr>
            <a:lvl9pPr algn="l">
              <a:defRPr sz="2100">
                <a:solidFill>
                  <a:srgbClr val="536468"/>
                </a:solidFill>
                <a:latin typeface="Arial"/>
                <a:ea typeface="Arial"/>
                <a:cs typeface="Arial"/>
              </a:defRPr>
            </a:lvl9pPr>
          </a:lstStyle>
          <a:p xmlns:a="http://schemas.openxmlformats.org/drawingml/2006/main">
            <a:pPr algn="l">
              <a:defRPr sz="2100">
                <a:solidFill>
                  <a:srgbClr val="536468"/>
                </a:solidFill>
                <a:latin typeface="Arial"/>
                <a:ea typeface="Arial"/>
                <a:cs typeface="Arial"/>
              </a:defRPr>
            </a:pPr>
            <a:r>
              <a:rPr sz="2100">
                <a:solidFill>
                  <a:srgbClr val="536468"/>
                </a:solidFill>
                <a:latin typeface="Arial"/>
                <a:ea typeface="Arial"/>
                <a:cs typeface="Arial"/>
              </a:rPr>
              <a:t>Carbon-aware GPU workload scheduling with classical time-series forecasts</a:t>
            </a:r>
          </a:p>
        </p:txBody>
      </p:sp>
      <p:sp>
        <p:nvSpPr>
          <p:cNvPr id="3" name="slide-1-bullets">
            <a:extLst xmlns:a="http://schemas.openxmlformats.org/drawingml/2006/main">
              <a:ext uri="{FF2B5EF4-FFF2-40B4-BE49-F238E27FC236}">
                <a16:creationId xmlns:a16="http://schemas.microsoft.com/office/drawing/2014/main" id="{A50D1700-DE65-4922-81E3-6CCF03369A7A}"/>
              </a:ext>
            </a:extLst>
          </p:cNvPr>
          <p:cNvSpPr>
            <a:spLocks xmlns:a="http://schemas.openxmlformats.org/drawingml/2006/main" noGrp="1"/>
          </p:cNvSpPr>
          <p:nvPr/>
        </p:nvSpPr>
        <p:spPr>
          <a:xfrm xmlns:a="http://schemas.openxmlformats.org/drawingml/2006/main">
            <a:off x="742950" y="3143250"/>
            <a:ext cx="5429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Study ID d2dee2d358735d7d</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Target: NESO estimated GB intensity, gCO2/kWh</a:t>
            </a:r>
          </a:p>
        </p:txBody>
      </p:sp>
      <p:pic>
        <p:nvPicPr>
          <p:cNvPr id="4" name="">
            <a:extLst xmlns:a="http://schemas.openxmlformats.org/drawingml/2006/main">
              <a:ext uri="{FF2B5EF4-FFF2-40B4-BE49-F238E27FC236}">
                <a16:creationId xmlns:a16="http://schemas.microsoft.com/office/drawing/2014/main" id="{E534C38F-98B4-4F37-AE32-F149082E2C98}"/>
              </a:ext>
            </a:extLst>
          </p:cNvPr>
          <p:cNvPicPr>
            <a:picLocks xmlns:a="http://schemas.openxmlformats.org/drawingml/2006/main" noChangeAspect="1"/>
          </p:cNvPicPr>
          <p:nvPr/>
        </p:nvPicPr>
        <p:blipFill>
          <a:blip xmlns:r="http://schemas.openxmlformats.org/officeDocument/2006/relationships" xmlns:a="http://schemas.openxmlformats.org/drawingml/2006/main" r:embed="R81794be78fc14937"/>
          <a:stretch xmlns:a="http://schemas.openxmlformats.org/drawingml/2006/main"/>
        </p:blipFill>
        <p:spPr>
          <a:xfrm xmlns:a="http://schemas.openxmlformats.org/drawingml/2006/main">
            <a:off x="6762750" y="2701018"/>
            <a:ext cx="4762500" cy="1360714"/>
          </a:xfrm>
          <a:prstGeom xmlns:a="http://schemas.openxmlformats.org/drawingml/2006/main" prst="rect">
            <a:avLst/>
          </a:prstGeom>
        </p:spPr>
      </p:pic>
      <p:sp>
        <p:nvSpPr>
          <p:cNvPr id="5" name="slide-1-caption">
            <a:extLst xmlns:a="http://schemas.openxmlformats.org/drawingml/2006/main">
              <a:ext uri="{FF2B5EF4-FFF2-40B4-BE49-F238E27FC236}">
                <a16:creationId xmlns:a16="http://schemas.microsoft.com/office/drawing/2014/main" id="{AB5F58C4-F72F-45A0-9DE1-6077FF0CCFF3}"/>
              </a:ext>
            </a:extLst>
          </p:cNvPr>
          <p:cNvSpPr>
            <a:spLocks xmlns:a="http://schemas.openxmlformats.org/drawingml/2006/main" noGrp="1"/>
          </p:cNvSpPr>
          <p:nvPr/>
        </p:nvSpPr>
        <p:spPr>
          <a:xfrm xmlns:a="http://schemas.openxmlformats.org/drawingml/2006/main">
            <a:off x="6858000" y="59055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a:solidFill>
                  <a:srgbClr val="536468"/>
                </a:solidFill>
                <a:latin typeface="Arial"/>
                <a:ea typeface="Arial"/>
                <a:cs typeface="Arial"/>
              </a:defRPr>
            </a:defPPr>
            <a:lvl1pPr algn="l">
              <a:defRPr sz="1275">
                <a:solidFill>
                  <a:srgbClr val="536468"/>
                </a:solidFill>
                <a:latin typeface="Arial"/>
                <a:ea typeface="Arial"/>
                <a:cs typeface="Arial"/>
              </a:defRPr>
            </a:lvl1pPr>
            <a:lvl2pPr algn="l">
              <a:defRPr sz="1275">
                <a:solidFill>
                  <a:srgbClr val="536468"/>
                </a:solidFill>
                <a:latin typeface="Arial"/>
                <a:ea typeface="Arial"/>
                <a:cs typeface="Arial"/>
              </a:defRPr>
            </a:lvl2pPr>
            <a:lvl3pPr algn="l">
              <a:defRPr sz="1275">
                <a:solidFill>
                  <a:srgbClr val="536468"/>
                </a:solidFill>
                <a:latin typeface="Arial"/>
                <a:ea typeface="Arial"/>
                <a:cs typeface="Arial"/>
              </a:defRPr>
            </a:lvl3pPr>
            <a:lvl4pPr algn="l">
              <a:defRPr sz="1275">
                <a:solidFill>
                  <a:srgbClr val="536468"/>
                </a:solidFill>
                <a:latin typeface="Arial"/>
                <a:ea typeface="Arial"/>
                <a:cs typeface="Arial"/>
              </a:defRPr>
            </a:lvl4pPr>
            <a:lvl5pPr algn="l">
              <a:defRPr sz="1275">
                <a:solidFill>
                  <a:srgbClr val="536468"/>
                </a:solidFill>
                <a:latin typeface="Arial"/>
                <a:ea typeface="Arial"/>
                <a:cs typeface="Arial"/>
              </a:defRPr>
            </a:lvl5pPr>
            <a:lvl6pPr algn="l">
              <a:defRPr sz="1275">
                <a:solidFill>
                  <a:srgbClr val="536468"/>
                </a:solidFill>
                <a:latin typeface="Arial"/>
                <a:ea typeface="Arial"/>
                <a:cs typeface="Arial"/>
              </a:defRPr>
            </a:lvl6pPr>
            <a:lvl7pPr algn="l">
              <a:defRPr sz="1275">
                <a:solidFill>
                  <a:srgbClr val="536468"/>
                </a:solidFill>
                <a:latin typeface="Arial"/>
                <a:ea typeface="Arial"/>
                <a:cs typeface="Arial"/>
              </a:defRPr>
            </a:lvl7pPr>
            <a:lvl8pPr algn="l">
              <a:defRPr sz="1275">
                <a:solidFill>
                  <a:srgbClr val="536468"/>
                </a:solidFill>
                <a:latin typeface="Arial"/>
                <a:ea typeface="Arial"/>
                <a:cs typeface="Arial"/>
              </a:defRPr>
            </a:lvl8pPr>
            <a:lvl9pPr algn="l">
              <a:defRPr sz="1275">
                <a:solidFill>
                  <a:srgbClr val="536468"/>
                </a:solidFill>
                <a:latin typeface="Arial"/>
                <a:ea typeface="Arial"/>
                <a:cs typeface="Arial"/>
              </a:defRPr>
            </a:lvl9pPr>
          </a:lstStyle>
          <a:p xmlns:a="http://schemas.openxmlformats.org/drawingml/2006/main">
            <a:pPr algn="l">
              <a:defRPr sz="1275">
                <a:solidFill>
                  <a:srgbClr val="536468"/>
                </a:solidFill>
                <a:latin typeface="Arial"/>
                <a:ea typeface="Arial"/>
                <a:cs typeface="Arial"/>
              </a:defRPr>
            </a:pPr>
            <a:r>
              <a:rPr sz="1275">
                <a:solidFill>
                  <a:srgbClr val="536468"/>
                </a:solidFill>
                <a:latin typeface="Arial"/>
                <a:ea typeface="Arial"/>
                <a:cs typeface="Arial"/>
              </a:rPr>
              <a:t>Development observations</a:t>
            </a:r>
          </a:p>
        </p:txBody>
      </p:sp>
    </p:spTree>
    <p:extLst>
      <p:ext uri="{BB962C8B-B14F-4D97-AF65-F5344CB8AC3E}">
        <p14:creationId xmlns:p14="http://schemas.microsoft.com/office/powerpoint/2010/main" val="1664865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2-title">
            <a:extLst xmlns:a="http://schemas.openxmlformats.org/drawingml/2006/main">
              <a:ext uri="{FF2B5EF4-FFF2-40B4-BE49-F238E27FC236}">
                <a16:creationId xmlns:a16="http://schemas.microsoft.com/office/drawing/2014/main" id="{8C2C13A6-E8B0-4A04-984D-D68F48D0B6EC}"/>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Dashboard and research scope</a:t>
            </a:r>
          </a:p>
        </p:txBody>
      </p:sp>
      <p:pic>
        <p:nvPicPr>
          <p:cNvPr id="2" name="">
            <a:extLst xmlns:a="http://schemas.openxmlformats.org/drawingml/2006/main">
              <a:ext uri="{FF2B5EF4-FFF2-40B4-BE49-F238E27FC236}">
                <a16:creationId xmlns:a16="http://schemas.microsoft.com/office/drawing/2014/main" id="{BA6D020F-0EA2-48F9-AE6E-AC7D38142F16}"/>
              </a:ext>
            </a:extLst>
          </p:cNvPr>
          <p:cNvPicPr>
            <a:picLocks xmlns:a="http://schemas.openxmlformats.org/drawingml/2006/main" noChangeAspect="1"/>
          </p:cNvPicPr>
          <p:nvPr/>
        </p:nvPicPr>
        <p:blipFill>
          <a:blip xmlns:r="http://schemas.openxmlformats.org/officeDocument/2006/relationships" xmlns:a="http://schemas.openxmlformats.org/drawingml/2006/main" r:embed="R8d0b6d37c57b4084"/>
          <a:stretch xmlns:a="http://schemas.openxmlformats.org/drawingml/2006/main"/>
        </p:blipFill>
        <p:spPr>
          <a:xfrm xmlns:a="http://schemas.openxmlformats.org/drawingml/2006/main">
            <a:off x="1185863" y="2333625"/>
            <a:ext cx="5857875" cy="3905250"/>
          </a:xfrm>
          <a:prstGeom xmlns:a="http://schemas.openxmlformats.org/drawingml/2006/main" prst="rect">
            <a:avLst/>
          </a:prstGeom>
        </p:spPr>
      </p:pic>
      <p:sp>
        <p:nvSpPr>
          <p:cNvPr id="3" name="slide-2-bullets">
            <a:extLst xmlns:a="http://schemas.openxmlformats.org/drawingml/2006/main">
              <a:ext uri="{FF2B5EF4-FFF2-40B4-BE49-F238E27FC236}">
                <a16:creationId xmlns:a16="http://schemas.microsoft.com/office/drawing/2014/main" id="{7AC1B957-7D29-4DB8-9E02-9FEB635CA99C}"/>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Do eligible forecasts improve feasible GPU placement?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Compare earliest execution and simple forecasts.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Model operational CO2, not avoided grid emissions.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Local recommendations are predictions, not measured savings.</a:t>
            </a:r>
          </a:p>
        </p:txBody>
      </p:sp>
      <p:sp>
        <p:nvSpPr>
          <p:cNvPr id="4" name="slide-2-caption">
            <a:extLst xmlns:a="http://schemas.openxmlformats.org/drawingml/2006/main">
              <a:ext uri="{FF2B5EF4-FFF2-40B4-BE49-F238E27FC236}">
                <a16:creationId xmlns:a16="http://schemas.microsoft.com/office/drawing/2014/main" id="{5D850753-FE3B-4E02-881C-73B0EA05C376}"/>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Verified local GridShift scheduling workspace</a:t>
            </a:r>
          </a:p>
        </p:txBody>
      </p:sp>
    </p:spTree>
    <p:extLst>
      <p:ext uri="{BB962C8B-B14F-4D97-AF65-F5344CB8AC3E}">
        <p14:creationId xmlns:p14="http://schemas.microsoft.com/office/powerpoint/2010/main" val="2030833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3-title">
            <a:extLst xmlns:a="http://schemas.openxmlformats.org/drawingml/2006/main">
              <a:ext uri="{FF2B5EF4-FFF2-40B4-BE49-F238E27FC236}">
                <a16:creationId xmlns:a16="http://schemas.microsoft.com/office/drawing/2014/main" id="{EB435E61-BCF9-486A-BF8A-E03560CB40FB}"/>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Data coverage and quality</a:t>
            </a:r>
          </a:p>
        </p:txBody>
      </p:sp>
      <p:sp>
        <p:nvSpPr>
          <p:cNvPr id="2" name="slide-3-bullets">
            <a:extLst xmlns:a="http://schemas.openxmlformats.org/drawingml/2006/main">
              <a:ext uri="{FF2B5EF4-FFF2-40B4-BE49-F238E27FC236}">
                <a16:creationId xmlns:a16="http://schemas.microsoft.com/office/drawing/2014/main" id="{DA714410-1815-432B-84AE-E3540B1B20C0}"/>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Observed slots: 69950 of 70128.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Missing actuals remain missing; provider forecasts stay separate.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quality gate and monthly coverage are reported from stored artifacts.</a:t>
            </a:r>
          </a:p>
        </p:txBody>
      </p:sp>
      <p:graphicFrame>
        <p:nvGraphicFramePr>
          <p:cNvPr id="3" name="Chart">
            <a:extLst xmlns:a="http://schemas.openxmlformats.org/drawingml/2006/main">
              <a:ext uri="{FF2B5EF4-FFF2-40B4-BE49-F238E27FC236}">
                <a16:creationId xmlns:a16="http://schemas.microsoft.com/office/drawing/2014/main" id="{19E995AB-78AF-40D9-8AC9-D537BBA53D82}"/>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8d1dd8ea99aa43bc"/>
          </a:graphicData>
        </a:graphic>
      </p:graphicFrame>
      <p:graphicFrame>
        <p:nvGraphicFramePr>
          <p:cNvPr id="4" name="">
            <a:extLst xmlns:a="http://schemas.openxmlformats.org/drawingml/2006/main">
              <a:ext uri="{FF2B5EF4-FFF2-40B4-BE49-F238E27FC236}">
                <a16:creationId xmlns:a16="http://schemas.microsoft.com/office/drawing/2014/main" id="{FDC4AEF5-3C33-4673-86B4-34F77FAF1677}"/>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337705">
                <a:tc>
                  <a:txBody>
                    <a:bodyPr/>
                    <a:lstStyle/>
                    <a:p>
                      <a:r>
                        <a:rPr sz="1575" b="1">
                          <a:solidFill>
                            <a:srgbClr val="FFFFFF"/>
                          </a:solidFill>
                          <a:latin typeface="Arial"/>
                          <a:ea typeface="Arial"/>
                          <a:cs typeface="Arial"/>
                        </a:rPr>
                        <a:t>Measure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337705">
                <a:tc>
                  <a:txBody>
                    <a:bodyPr/>
                    <a:lstStyle/>
                    <a:p>
                      <a:r>
                        <a:rPr sz="1575" b="0">
                          <a:solidFill>
                            <a:srgbClr val="1E302F"/>
                          </a:solidFill>
                          <a:latin typeface="Arial"/>
                          <a:ea typeface="Arial"/>
                          <a:cs typeface="Arial"/>
                        </a:rPr>
                        <a:t>Slots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70128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Observed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69950</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Missing</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Overall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0.9975</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Lowest monthly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0.9388</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Lowest test-month coverage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Unique UTC intervals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Regular grid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Data gate passed</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r h="337705">
                <a:tc>
                  <a:txBody>
                    <a:bodyPr/>
                    <a:lstStyle/>
                    <a:p>
                      <a:r>
                        <a:rPr sz="1575" b="0">
                          <a:solidFill>
                            <a:srgbClr val="1E302F"/>
                          </a:solidFill>
                          <a:latin typeface="Arial"/>
                          <a:ea typeface="Arial"/>
                          <a:cs typeface="Arial"/>
                        </a:rPr>
                        <a:t>Assumed availability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true</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35460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4-title">
            <a:extLst xmlns:a="http://schemas.openxmlformats.org/drawingml/2006/main">
              <a:ext uri="{FF2B5EF4-FFF2-40B4-BE49-F238E27FC236}">
                <a16:creationId xmlns:a16="http://schemas.microsoft.com/office/drawing/2014/main" id="{930D4778-888F-41BF-A811-F233F32ED6A4}"/>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Development diagnostics</a:t>
            </a:r>
          </a:p>
        </p:txBody>
      </p:sp>
      <p:pic>
        <p:nvPicPr>
          <p:cNvPr id="2" name="">
            <a:extLst xmlns:a="http://schemas.openxmlformats.org/drawingml/2006/main">
              <a:ext uri="{FF2B5EF4-FFF2-40B4-BE49-F238E27FC236}">
                <a16:creationId xmlns:a16="http://schemas.microsoft.com/office/drawing/2014/main" id="{31757131-6C2A-4692-9781-C19EDE8FA527}"/>
              </a:ext>
            </a:extLst>
          </p:cNvPr>
          <p:cNvPicPr>
            <a:picLocks xmlns:a="http://schemas.openxmlformats.org/drawingml/2006/main" noChangeAspect="1"/>
          </p:cNvPicPr>
          <p:nvPr/>
        </p:nvPicPr>
        <p:blipFill>
          <a:blip xmlns:r="http://schemas.openxmlformats.org/officeDocument/2006/relationships" xmlns:a="http://schemas.openxmlformats.org/drawingml/2006/main" r:embed="R5a2aba8db6894f90"/>
          <a:stretch xmlns:a="http://schemas.openxmlformats.org/drawingml/2006/main"/>
        </p:blipFill>
        <p:spPr>
          <a:xfrm xmlns:a="http://schemas.openxmlformats.org/drawingml/2006/main">
            <a:off x="685800" y="2439865"/>
            <a:ext cx="6858000" cy="3692769"/>
          </a:xfrm>
          <a:prstGeom xmlns:a="http://schemas.openxmlformats.org/drawingml/2006/main" prst="rect">
            <a:avLst/>
          </a:prstGeom>
        </p:spPr>
      </p:pic>
      <p:sp>
        <p:nvSpPr>
          <p:cNvPr id="3" name="slide-4-bullets">
            <a:extLst xmlns:a="http://schemas.openxmlformats.org/drawingml/2006/main">
              <a:ext uri="{FF2B5EF4-FFF2-40B4-BE49-F238E27FC236}">
                <a16:creationId xmlns:a16="http://schemas.microsoft.com/office/drawing/2014/main" id="{872852E5-9477-4287-ADA4-3F4F20D50996}"/>
              </a:ext>
            </a:extLst>
          </p:cNvPr>
          <p:cNvSpPr>
            <a:spLocks xmlns:a="http://schemas.openxmlformats.org/drawingml/2006/main" noGrp="1"/>
          </p:cNvSpPr>
          <p:nvPr/>
        </p:nvSpPr>
        <p:spPr>
          <a:xfrm xmlns:a="http://schemas.openxmlformats.org/drawingml/2006/main">
            <a:off x="7905750" y="2362200"/>
            <a:ext cx="3600450" cy="3667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Diagnostic boundary: 2024-01-01T00:00:00+00:00.</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Development-only STL status: ok.</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ACF, periodogram, and stationarity checks guide candidates, not test conclusions.</a:t>
            </a:r>
          </a:p>
        </p:txBody>
      </p:sp>
      <p:sp>
        <p:nvSpPr>
          <p:cNvPr id="4" name="slide-4-caption">
            <a:extLst xmlns:a="http://schemas.openxmlformats.org/drawingml/2006/main">
              <a:ext uri="{FF2B5EF4-FFF2-40B4-BE49-F238E27FC236}">
                <a16:creationId xmlns:a16="http://schemas.microsoft.com/office/drawing/2014/main" id="{BF78347C-D5E7-4311-A170-3444A5A503B3}"/>
              </a:ext>
            </a:extLst>
          </p:cNvPr>
          <p:cNvSpPr>
            <a:spLocks xmlns:a="http://schemas.openxmlformats.org/drawingml/2006/main" noGrp="1"/>
          </p:cNvSpPr>
          <p:nvPr/>
        </p:nvSpPr>
        <p:spPr>
          <a:xfrm xmlns:a="http://schemas.openxmlformats.org/drawingml/2006/main">
            <a:off x="781050" y="626745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a:solidFill>
                  <a:srgbClr val="536468"/>
                </a:solidFill>
                <a:latin typeface="Arial"/>
                <a:ea typeface="Arial"/>
                <a:cs typeface="Arial"/>
              </a:defRPr>
            </a:defPPr>
            <a:lvl1pPr algn="l">
              <a:defRPr sz="1200">
                <a:solidFill>
                  <a:srgbClr val="536468"/>
                </a:solidFill>
                <a:latin typeface="Arial"/>
                <a:ea typeface="Arial"/>
                <a:cs typeface="Arial"/>
              </a:defRPr>
            </a:lvl1pPr>
            <a:lvl2pPr algn="l">
              <a:defRPr sz="1200">
                <a:solidFill>
                  <a:srgbClr val="536468"/>
                </a:solidFill>
                <a:latin typeface="Arial"/>
                <a:ea typeface="Arial"/>
                <a:cs typeface="Arial"/>
              </a:defRPr>
            </a:lvl2pPr>
            <a:lvl3pPr algn="l">
              <a:defRPr sz="1200">
                <a:solidFill>
                  <a:srgbClr val="536468"/>
                </a:solidFill>
                <a:latin typeface="Arial"/>
                <a:ea typeface="Arial"/>
                <a:cs typeface="Arial"/>
              </a:defRPr>
            </a:lvl3pPr>
            <a:lvl4pPr algn="l">
              <a:defRPr sz="1200">
                <a:solidFill>
                  <a:srgbClr val="536468"/>
                </a:solidFill>
                <a:latin typeface="Arial"/>
                <a:ea typeface="Arial"/>
                <a:cs typeface="Arial"/>
              </a:defRPr>
            </a:lvl4pPr>
            <a:lvl5pPr algn="l">
              <a:defRPr sz="1200">
                <a:solidFill>
                  <a:srgbClr val="536468"/>
                </a:solidFill>
                <a:latin typeface="Arial"/>
                <a:ea typeface="Arial"/>
                <a:cs typeface="Arial"/>
              </a:defRPr>
            </a:lvl5pPr>
            <a:lvl6pPr algn="l">
              <a:defRPr sz="1200">
                <a:solidFill>
                  <a:srgbClr val="536468"/>
                </a:solidFill>
                <a:latin typeface="Arial"/>
                <a:ea typeface="Arial"/>
                <a:cs typeface="Arial"/>
              </a:defRPr>
            </a:lvl6pPr>
            <a:lvl7pPr algn="l">
              <a:defRPr sz="1200">
                <a:solidFill>
                  <a:srgbClr val="536468"/>
                </a:solidFill>
                <a:latin typeface="Arial"/>
                <a:ea typeface="Arial"/>
                <a:cs typeface="Arial"/>
              </a:defRPr>
            </a:lvl7pPr>
            <a:lvl8pPr algn="l">
              <a:defRPr sz="1200">
                <a:solidFill>
                  <a:srgbClr val="536468"/>
                </a:solidFill>
                <a:latin typeface="Arial"/>
                <a:ea typeface="Arial"/>
                <a:cs typeface="Arial"/>
              </a:defRPr>
            </a:lvl8pPr>
            <a:lvl9pPr algn="l">
              <a:defRPr sz="1200">
                <a:solidFill>
                  <a:srgbClr val="536468"/>
                </a:solidFill>
                <a:latin typeface="Arial"/>
                <a:ea typeface="Arial"/>
                <a:cs typeface="Arial"/>
              </a:defRPr>
            </a:lvl9pPr>
          </a:lstStyle>
          <a:p xmlns:a="http://schemas.openxmlformats.org/drawingml/2006/main">
            <a:pPr algn="l">
              <a:defRPr sz="1200">
                <a:solidFill>
                  <a:srgbClr val="536468"/>
                </a:solidFill>
                <a:latin typeface="Arial"/>
                <a:ea typeface="Arial"/>
                <a:cs typeface="Arial"/>
              </a:defRPr>
            </a:pPr>
            <a:r>
              <a:rPr sz="1200">
                <a:solidFill>
                  <a:srgbClr val="536468"/>
                </a:solidFill>
                <a:latin typeface="Arial"/>
                <a:ea typeface="Arial"/>
                <a:cs typeface="Arial"/>
              </a:rPr>
              <a:t>Stored development-only robust STL components</a:t>
            </a:r>
          </a:p>
        </p:txBody>
      </p:sp>
    </p:spTree>
    <p:extLst>
      <p:ext uri="{BB962C8B-B14F-4D97-AF65-F5344CB8AC3E}">
        <p14:creationId xmlns:p14="http://schemas.microsoft.com/office/powerpoint/2010/main" val="16897708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5-title">
            <a:extLst xmlns:a="http://schemas.openxmlformats.org/drawingml/2006/main">
              <a:ext uri="{FF2B5EF4-FFF2-40B4-BE49-F238E27FC236}">
                <a16:creationId xmlns:a16="http://schemas.microsoft.com/office/drawing/2014/main" id="{D092ABDC-3CA5-423A-9651-45D81B4BF3E6}"/>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Forecast model catalogue</a:t>
            </a:r>
          </a:p>
        </p:txBody>
      </p:sp>
      <p:sp>
        <p:nvSpPr>
          <p:cNvPr id="2" name="slide-5-bullets">
            <a:extLst xmlns:a="http://schemas.openxmlformats.org/drawingml/2006/main">
              <a:ext uri="{FF2B5EF4-FFF2-40B4-BE49-F238E27FC236}">
                <a16:creationId xmlns:a16="http://schemas.microsoft.com/office/drawing/2014/main" id="{37631FD4-CBB4-4FF0-A8E5-E3F8A3777DF2}"/>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AR, MA, ARMA, ARIMA, and daily-seasonal SARIMA.</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Persistence, seasonal-naive, and calendar-mean controls.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Failed fits and null outcomes remain visible in the source tables.</a:t>
            </a:r>
          </a:p>
        </p:txBody>
      </p:sp>
      <p:graphicFrame>
        <p:nvGraphicFramePr>
          <p:cNvPr id="3" name="">
            <a:extLst xmlns:a="http://schemas.openxmlformats.org/drawingml/2006/main">
              <a:ext uri="{FF2B5EF4-FFF2-40B4-BE49-F238E27FC236}">
                <a16:creationId xmlns:a16="http://schemas.microsoft.com/office/drawing/2014/main" id="{9BE9A148-11E1-4A69-9065-A35F360CBACF}"/>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742950">
                <a:tc>
                  <a:txBody>
                    <a:bodyPr/>
                    <a:lstStyle/>
                    <a:p>
                      <a:r>
                        <a:rPr sz="1575" b="1">
                          <a:solidFill>
                            <a:srgbClr val="FFFFFF"/>
                          </a:solidFill>
                          <a:latin typeface="Arial"/>
                          <a:ea typeface="Arial"/>
                          <a:cs typeface="Arial"/>
                        </a:rPr>
                        <a:t>Role</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Recorded choice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742950">
                <a:tc>
                  <a:txBody>
                    <a:bodyPr/>
                    <a:lstStyle/>
                    <a:p>
                      <a:r>
                        <a:rPr sz="1575" b="0">
                          <a:solidFill>
                            <a:srgbClr val="1E302F"/>
                          </a:solidFill>
                          <a:latin typeface="Arial"/>
                          <a:ea typeface="Arial"/>
                          <a:cs typeface="Arial"/>
                        </a:rPr>
                        <a:t>Forecast champion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SARIMA(1,0,1)x(1,0,0,48)</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Strongest simple baseline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persistence</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Scheduling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r h="742950">
                <a:tc>
                  <a:txBody>
                    <a:bodyPr/>
                    <a:lstStyle/>
                    <a:p>
                      <a:r>
                        <a:rPr sz="1575" b="0">
                          <a:solidFill>
                            <a:srgbClr val="1E302F"/>
                          </a:solidFill>
                          <a:latin typeface="Arial"/>
                          <a:ea typeface="Arial"/>
                          <a:cs typeface="Arial"/>
                        </a:rPr>
                        <a:t>Selection boundary</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Validation only</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621488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6-title">
            <a:extLst xmlns:a="http://schemas.openxmlformats.org/drawingml/2006/main">
              <a:ext uri="{FF2B5EF4-FFF2-40B4-BE49-F238E27FC236}">
                <a16:creationId xmlns:a16="http://schemas.microsoft.com/office/drawing/2014/main" id="{C8377E98-00A4-4215-96CE-04DC829A9171}"/>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Evaluation design</a:t>
            </a:r>
          </a:p>
        </p:txBody>
      </p:sp>
      <p:sp>
        <p:nvSpPr>
          <p:cNvPr id="2" name="slide-6-bullets">
            <a:extLst xmlns:a="http://schemas.openxmlformats.org/drawingml/2006/main">
              <a:ext uri="{FF2B5EF4-FFF2-40B4-BE49-F238E27FC236}">
                <a16:creationId xmlns:a16="http://schemas.microsoft.com/office/drawing/2014/main" id="{49BC88A0-C24F-4E6B-987A-4F7F77DFC1BA}"/>
              </a:ext>
            </a:extLst>
          </p:cNvPr>
          <p:cNvSpPr>
            <a:spLocks xmlns:a="http://schemas.openxmlformats.org/drawingml/2006/main" noGrp="1"/>
          </p:cNvSpPr>
          <p:nvPr/>
        </p:nvSpPr>
        <p:spPr>
          <a:xfrm xmlns:a="http://schemas.openxmlformats.org/drawingml/2006/main">
            <a:off x="742950" y="123825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Chronological development, validation, and locked-test partitions.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Common eligible targets and counts by lead time.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Paired block uncertainty for the primary scheduling contrast.</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AIC and BIC compare only compatible likelihood groups.</a:t>
            </a:r>
          </a:p>
        </p:txBody>
      </p:sp>
      <p:graphicFrame>
        <p:nvGraphicFramePr>
          <p:cNvPr id="3" name="">
            <a:extLst xmlns:a="http://schemas.openxmlformats.org/drawingml/2006/main">
              <a:ext uri="{FF2B5EF4-FFF2-40B4-BE49-F238E27FC236}">
                <a16:creationId xmlns:a16="http://schemas.microsoft.com/office/drawing/2014/main" id="{F946E079-EBA4-4853-A4D5-D102FA5A99AD}"/>
              </a:ext>
            </a:extLst>
          </p:cNvPr>
          <p:cNvGraphicFramePr/>
          <p:nvPr/>
        </p:nvGraphicFramePr>
        <p:xfrm>
          <a:off xmlns:a="http://schemas.openxmlformats.org/drawingml/2006/main" x="685800" y="2762250"/>
          <a:ext xmlns:a="http://schemas.openxmlformats.org/drawingml/2006/main" cx="10820400" cy="3286125"/>
        </p:xfrm>
        <a:graphic xmlns:a="http://schemas.openxmlformats.org/drawingml/2006/main">
          <a:graphicData uri="http://schemas.openxmlformats.org/drawingml/2006/table">
            <a:tbl>
              <a:tblPr firstRow="1" bandRow="1"/>
              <a:tblGrid>
                <a:gridCol w="5951220"/>
                <a:gridCol w="4869180"/>
              </a:tblGrid>
              <a:tr h="657225">
                <a:tc>
                  <a:txBody>
                    <a:bodyPr/>
                    <a:lstStyle/>
                    <a:p>
                      <a:r>
                        <a:rPr sz="1575" b="1">
                          <a:solidFill>
                            <a:srgbClr val="FFFFFF"/>
                          </a:solidFill>
                          <a:latin typeface="Arial"/>
                          <a:ea typeface="Arial"/>
                          <a:cs typeface="Arial"/>
                        </a:rPr>
                        <a:t>Design item</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Configured 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657225">
                <a:tc>
                  <a:txBody>
                    <a:bodyPr/>
                    <a:lstStyle/>
                    <a:p>
                      <a:r>
                        <a:rPr sz="1575" b="0">
                          <a:solidFill>
                            <a:srgbClr val="1E302F"/>
                          </a:solidFill>
                          <a:latin typeface="Arial"/>
                          <a:ea typeface="Arial"/>
                          <a:cs typeface="Arial"/>
                        </a:rPr>
                        <a:t>Validation</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2024-01-01T00:00:00Z to 2025-01-01T00:00:00Z</a:t>
                      </a:r>
                    </a:p>
                  </a:txBody>
                  <a:tcPr marL="91440" marR="91440" marT="45720" marB="45720">
                    <a:lnR w="7620">
                      <a:solidFill>
                        <a:srgbClr val="CED8D5"/>
                      </a:solidFill>
                      <a:prstDash val="solid"/>
                    </a:lnR>
                    <a:lnB w="7620">
                      <a:solidFill>
                        <a:srgbClr val="CED8D5"/>
                      </a:solidFill>
                      <a:prstDash val="solid"/>
                    </a:lnB>
                  </a:tcPr>
                </a:tc>
              </a:tr>
              <a:tr h="657225">
                <a:tc>
                  <a:txBody>
                    <a:bodyPr/>
                    <a:lstStyle/>
                    <a:p>
                      <a:r>
                        <a:rPr sz="1575" b="0">
                          <a:solidFill>
                            <a:srgbClr val="1E302F"/>
                          </a:solidFill>
                          <a:latin typeface="Arial"/>
                          <a:ea typeface="Arial"/>
                          <a:cs typeface="Arial"/>
                        </a:rPr>
                        <a:t>Locked test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2025-01-01T00:00:00Z to 2026-01-01T00:00:00Z</a:t>
                      </a:r>
                    </a:p>
                  </a:txBody>
                  <a:tcPr marL="91440" marR="91440" marT="45720" marB="45720">
                    <a:lnR w="7620">
                      <a:solidFill>
                        <a:srgbClr val="CED8D5"/>
                      </a:solidFill>
                      <a:prstDash val="solid"/>
                    </a:lnR>
                    <a:lnB w="7620">
                      <a:solidFill>
                        <a:srgbClr val="CED8D5"/>
                      </a:solidFill>
                      <a:prstDash val="solid"/>
                    </a:lnB>
                  </a:tcPr>
                </a:tc>
              </a:tr>
              <a:tr h="657225">
                <a:tc>
                  <a:txBody>
                    <a:bodyPr/>
                    <a:lstStyle/>
                    <a:p>
                      <a:r>
                        <a:rPr sz="1575" b="0">
                          <a:solidFill>
                            <a:srgbClr val="1E302F"/>
                          </a:solidFill>
                          <a:latin typeface="Arial"/>
                          <a:ea typeface="Arial"/>
                          <a:cs typeface="Arial"/>
                        </a:rPr>
                        <a:t>Horizons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 4, 12, 24, 48]</a:t>
                      </a:r>
                    </a:p>
                  </a:txBody>
                  <a:tcPr marL="91440" marR="91440" marT="45720" marB="45720">
                    <a:lnR w="7620">
                      <a:solidFill>
                        <a:srgbClr val="CED8D5"/>
                      </a:solidFill>
                      <a:prstDash val="solid"/>
                    </a:lnR>
                    <a:lnB w="7620">
                      <a:solidFill>
                        <a:srgbClr val="CED8D5"/>
                      </a:solidFill>
                      <a:prstDash val="solid"/>
                    </a:lnB>
                  </a:tcPr>
                </a:tc>
              </a:tr>
              <a:tr h="657225">
                <a:tc>
                  <a:txBody>
                    <a:bodyPr/>
                    <a:lstStyle/>
                    <a:p>
                      <a:r>
                        <a:rPr sz="1575" b="0">
                          <a:solidFill>
                            <a:srgbClr val="1E302F"/>
                          </a:solidFill>
                          <a:latin typeface="Arial"/>
                          <a:ea typeface="Arial"/>
                          <a:cs typeface="Arial"/>
                        </a:rPr>
                        <a:t>Bootstrap resamples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2000</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6181476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7-title">
            <a:extLst xmlns:a="http://schemas.openxmlformats.org/drawingml/2006/main">
              <a:ext uri="{FF2B5EF4-FFF2-40B4-BE49-F238E27FC236}">
                <a16:creationId xmlns:a16="http://schemas.microsoft.com/office/drawing/2014/main" id="{BD40D611-25E1-45C5-8532-3A809576D1DC}"/>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Validation forecast outcomes</a:t>
            </a:r>
          </a:p>
        </p:txBody>
      </p:sp>
      <p:sp>
        <p:nvSpPr>
          <p:cNvPr id="2" name="slide-7-bullets">
            <a:extLst xmlns:a="http://schemas.openxmlformats.org/drawingml/2006/main">
              <a:ext uri="{FF2B5EF4-FFF2-40B4-BE49-F238E27FC236}">
                <a16:creationId xmlns:a16="http://schemas.microsoft.com/office/drawing/2014/main" id="{FCD93DB1-9EB9-4DA7-8B3D-35F1D5D8339C}"/>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Validation champion: SARIMA(1,0,1)x(1,0,0,48).</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Strongest simple baseline: persistence.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chart shows MAE by lead time only where the source table has a numeric value.</a:t>
            </a:r>
          </a:p>
        </p:txBody>
      </p:sp>
      <p:graphicFrame>
        <p:nvGraphicFramePr>
          <p:cNvPr id="3" name="Chart">
            <a:extLst xmlns:a="http://schemas.openxmlformats.org/drawingml/2006/main">
              <a:ext uri="{FF2B5EF4-FFF2-40B4-BE49-F238E27FC236}">
                <a16:creationId xmlns:a16="http://schemas.microsoft.com/office/drawing/2014/main" id="{1CFC1FD1-1CB5-436D-9417-10E41AAC04C9}"/>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dce95ab824394e75"/>
          </a:graphicData>
        </a:graphic>
      </p:graphicFrame>
      <p:graphicFrame>
        <p:nvGraphicFramePr>
          <p:cNvPr id="4" name="">
            <a:extLst xmlns:a="http://schemas.openxmlformats.org/drawingml/2006/main">
              <a:ext uri="{FF2B5EF4-FFF2-40B4-BE49-F238E27FC236}">
                <a16:creationId xmlns:a16="http://schemas.microsoft.com/office/drawing/2014/main" id="{04D04FCE-7DBE-4020-9820-699CAAA7D593}"/>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24.823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28.754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4002527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8-title">
            <a:extLst xmlns:a="http://schemas.openxmlformats.org/drawingml/2006/main">
              <a:ext uri="{FF2B5EF4-FFF2-40B4-BE49-F238E27FC236}">
                <a16:creationId xmlns:a16="http://schemas.microsoft.com/office/drawing/2014/main" id="{1C6A78B5-34B2-47B4-AF48-5C42299F0474}"/>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Locked-test forecast outcomes</a:t>
            </a:r>
          </a:p>
        </p:txBody>
      </p:sp>
      <p:sp>
        <p:nvSpPr>
          <p:cNvPr id="2" name="slide-8-bullets">
            <a:extLst xmlns:a="http://schemas.openxmlformats.org/drawingml/2006/main">
              <a:ext uri="{FF2B5EF4-FFF2-40B4-BE49-F238E27FC236}">
                <a16:creationId xmlns:a16="http://schemas.microsoft.com/office/drawing/2014/main" id="{B798CB9C-88B0-44D2-AC31-F617BB8392B1}"/>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Test rows report the validation-selected champion and simple baseline.</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The test does not change the selected model.</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Null metrics and zero-count groups remain unfilled.</a:t>
            </a:r>
          </a:p>
        </p:txBody>
      </p:sp>
      <p:graphicFrame>
        <p:nvGraphicFramePr>
          <p:cNvPr id="3" name="Chart">
            <a:extLst xmlns:a="http://schemas.openxmlformats.org/drawingml/2006/main">
              <a:ext uri="{FF2B5EF4-FFF2-40B4-BE49-F238E27FC236}">
                <a16:creationId xmlns:a16="http://schemas.microsoft.com/office/drawing/2014/main" id="{3F2C825F-ADF6-4236-B38B-13EB1F877020}"/>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dc5c847d270a4d88"/>
          </a:graphicData>
        </a:graphic>
      </p:graphicFrame>
      <p:graphicFrame>
        <p:nvGraphicFramePr>
          <p:cNvPr id="4" name="">
            <a:extLst xmlns:a="http://schemas.openxmlformats.org/drawingml/2006/main">
              <a:ext uri="{FF2B5EF4-FFF2-40B4-BE49-F238E27FC236}">
                <a16:creationId xmlns:a16="http://schemas.microsoft.com/office/drawing/2014/main" id="{3563B48B-65D0-4B89-BB0D-0B2011679713}"/>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1791653"/>
              </a:tblGrid>
              <a:tr h="1238250">
                <a:tc>
                  <a:txBody>
                    <a:bodyPr/>
                    <a:lstStyle/>
                    <a:p>
                      <a:r>
                        <a:rPr sz="1575" b="1">
                          <a:solidFill>
                            <a:srgbClr val="FFFFFF"/>
                          </a:solidFill>
                          <a:latin typeface="Arial"/>
                          <a:ea typeface="Arial"/>
                          <a:cs typeface="Arial"/>
                        </a:rPr>
                        <a:t>Model</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endpoint MAE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1238250">
                <a:tc>
                  <a:txBody>
                    <a:bodyPr/>
                    <a:lstStyle/>
                    <a:p>
                      <a:r>
                        <a:rPr sz="1575" b="0">
                          <a:solidFill>
                            <a:srgbClr val="1E302F"/>
                          </a:solidFill>
                          <a:latin typeface="Arial"/>
                          <a:ea typeface="Arial"/>
                          <a:cs typeface="Arial"/>
                        </a:rPr>
                        <a:t>SARIMA(1,0,1)x(1,0,0,48)</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24.453</a:t>
                      </a:r>
                    </a:p>
                  </a:txBody>
                  <a:tcPr marL="91440" marR="91440" marT="45720" marB="45720">
                    <a:lnR w="7620">
                      <a:solidFill>
                        <a:srgbClr val="CED8D5"/>
                      </a:solidFill>
                      <a:prstDash val="solid"/>
                    </a:lnR>
                    <a:lnB w="7620">
                      <a:solidFill>
                        <a:srgbClr val="CED8D5"/>
                      </a:solidFill>
                      <a:prstDash val="solid"/>
                    </a:lnB>
                  </a:tcPr>
                </a:tc>
              </a:tr>
              <a:tr h="1238250">
                <a:tc>
                  <a:txBody>
                    <a:bodyPr/>
                    <a:lstStyle/>
                    <a:p>
                      <a:r>
                        <a:rPr sz="1575" b="0">
                          <a:solidFill>
                            <a:srgbClr val="1E302F"/>
                          </a:solidFill>
                          <a:latin typeface="Arial"/>
                          <a:ea typeface="Arial"/>
                          <a:cs typeface="Arial"/>
                        </a:rPr>
                        <a:t>persistence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29.122</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5780279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9-title">
            <a:extLst xmlns:a="http://schemas.openxmlformats.org/drawingml/2006/main">
              <a:ext uri="{FF2B5EF4-FFF2-40B4-BE49-F238E27FC236}">
                <a16:creationId xmlns:a16="http://schemas.microsoft.com/office/drawing/2014/main" id="{250C4326-928C-407F-8FE6-194B07520B42}"/>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Scheduling formulation</a:t>
            </a:r>
          </a:p>
        </p:txBody>
      </p:sp>
      <p:sp>
        <p:nvSpPr>
          <p:cNvPr id="2" name="slide-9-bullets">
            <a:extLst xmlns:a="http://schemas.openxmlformats.org/drawingml/2006/main">
              <a:ext uri="{FF2B5EF4-FFF2-40B4-BE49-F238E27FC236}">
                <a16:creationId xmlns:a16="http://schemas.microsoft.com/office/drawing/2014/main" id="{80832CC7-0783-4C8F-A77B-FA4C8B24BEF0}"/>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Minimize forecast intensity integrated over full job energy.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Keep deadlines, capacity, and reservations as hard constraints.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Use an oracle only as an unattainable opportunity bound.</a:t>
            </a:r>
          </a:p>
        </p:txBody>
      </p:sp>
      <p:graphicFrame>
        <p:nvGraphicFramePr>
          <p:cNvPr id="3" name="">
            <a:extLst xmlns:a="http://schemas.openxmlformats.org/drawingml/2006/main">
              <a:ext uri="{FF2B5EF4-FFF2-40B4-BE49-F238E27FC236}">
                <a16:creationId xmlns:a16="http://schemas.microsoft.com/office/drawing/2014/main" id="{8F281045-13C1-4EAE-8771-9666679CC83D}"/>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5951220"/>
                <a:gridCol w="4869180"/>
              </a:tblGrid>
              <a:tr h="619125">
                <a:tc>
                  <a:txBody>
                    <a:bodyPr/>
                    <a:lstStyle/>
                    <a:p>
                      <a:r>
                        <a:rPr sz="1575" b="1">
                          <a:solidFill>
                            <a:srgbClr val="FFFFFF"/>
                          </a:solidFill>
                          <a:latin typeface="Arial"/>
                          <a:ea typeface="Arial"/>
                          <a:cs typeface="Arial"/>
                        </a:rPr>
                        <a:t>Declared assumption</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Value</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619125">
                <a:tc>
                  <a:txBody>
                    <a:bodyPr/>
                    <a:lstStyle/>
                    <a:p>
                      <a:r>
                        <a:rPr sz="1575" b="0">
                          <a:solidFill>
                            <a:srgbClr val="1E302F"/>
                          </a:solidFill>
                          <a:latin typeface="Arial"/>
                          <a:ea typeface="Arial"/>
                          <a:cs typeface="Arial"/>
                        </a:rPr>
                        <a:t>Default duration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Default slack (hours)</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Power (kW)</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PUE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r>
              <a:tr h="619125">
                <a:tc>
                  <a:txBody>
                    <a:bodyPr/>
                    <a:lstStyle/>
                    <a:p>
                      <a:r>
                        <a:rPr sz="1575" b="0">
                          <a:solidFill>
                            <a:srgbClr val="1E302F"/>
                          </a:solidFill>
                          <a:latin typeface="Arial"/>
                          <a:ea typeface="Arial"/>
                          <a:cs typeface="Arial"/>
                        </a:rPr>
                        <a:t>Primary model</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calendar_mean</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0818417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10-title">
            <a:extLst xmlns:a="http://schemas.openxmlformats.org/drawingml/2006/main">
              <a:ext uri="{FF2B5EF4-FFF2-40B4-BE49-F238E27FC236}">
                <a16:creationId xmlns:a16="http://schemas.microsoft.com/office/drawing/2014/main" id="{F9C1D4A3-B983-4D92-969E-55C3E1124115}"/>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Primary scheduling outcomes</a:t>
            </a:r>
          </a:p>
        </p:txBody>
      </p:sp>
      <p:sp>
        <p:nvSpPr>
          <p:cNvPr id="2" name="slide-10-bullets">
            <a:extLst xmlns:a="http://schemas.openxmlformats.org/drawingml/2006/main">
              <a:ext uri="{FF2B5EF4-FFF2-40B4-BE49-F238E27FC236}">
                <a16:creationId xmlns:a16="http://schemas.microsoft.com/office/drawing/2014/main" id="{B5A2DC61-96C5-4626-8F72-D99CB6BD7FC8}"/>
              </a:ext>
            </a:extLst>
          </p:cNvPr>
          <p:cNvSpPr>
            <a:spLocks xmlns:a="http://schemas.openxmlformats.org/drawingml/2006/main" noGrp="1"/>
          </p:cNvSpPr>
          <p:nvPr/>
        </p:nvSpPr>
        <p:spPr>
          <a:xfrm xmlns:a="http://schemas.openxmlformats.org/drawingml/2006/main">
            <a:off x="742950" y="1238250"/>
            <a:ext cx="1071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calendar_mean: 12.414% modeled reduction against earliest execution.</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95% paired block interval: 10.951% to 13.828%.</a:t>
            </a:r>
          </a:p>
        </p:txBody>
      </p:sp>
      <p:graphicFrame>
        <p:nvGraphicFramePr>
          <p:cNvPr id="3" name="Chart">
            <a:extLst xmlns:a="http://schemas.openxmlformats.org/drawingml/2006/main">
              <a:ext uri="{FF2B5EF4-FFF2-40B4-BE49-F238E27FC236}">
                <a16:creationId xmlns:a16="http://schemas.microsoft.com/office/drawing/2014/main" id="{E326643A-5359-42B3-B100-2CD819248047}"/>
              </a:ext>
            </a:extLst>
          </p:cNvPr>
          <p:cNvGraphicFramePr/>
          <p:nvPr/>
        </p:nvGraphicFramePr>
        <p:xfrm>
          <a:off xmlns:a="http://schemas.openxmlformats.org/drawingml/2006/main" x="685800" y="2333625"/>
          <a:ext xmlns:a="http://schemas.openxmlformats.org/drawingml/2006/main" cx="6572250" cy="3857625"/>
        </p:xfrm>
        <a:graphic xmlns:a="http://schemas.openxmlformats.org/drawingml/2006/main">
          <a:graphicData uri="http://schemas.openxmlformats.org/drawingml/2006/chart">
            <c:chart xmlns:r="http://schemas.openxmlformats.org/officeDocument/2006/relationships" xmlns:c="http://schemas.openxmlformats.org/drawingml/2006/chart" r:id="Rff9b9f10a4b74099"/>
          </a:graphicData>
        </a:graphic>
      </p:graphicFrame>
      <p:graphicFrame>
        <p:nvGraphicFramePr>
          <p:cNvPr id="4" name="">
            <a:extLst xmlns:a="http://schemas.openxmlformats.org/drawingml/2006/main">
              <a:ext uri="{FF2B5EF4-FFF2-40B4-BE49-F238E27FC236}">
                <a16:creationId xmlns:a16="http://schemas.microsoft.com/office/drawing/2014/main" id="{1B546699-B677-4C04-B26F-72B35CA3612B}"/>
              </a:ext>
            </a:extLst>
          </p:cNvPr>
          <p:cNvGraphicFramePr/>
          <p:nvPr/>
        </p:nvGraphicFramePr>
        <p:xfrm>
          <a:off xmlns:a="http://schemas.openxmlformats.org/drawingml/2006/main" x="7524750" y="2381250"/>
          <a:ext xmlns:a="http://schemas.openxmlformats.org/drawingml/2006/main" cx="3981450" cy="3714750"/>
        </p:xfrm>
        <a:graphic xmlns:a="http://schemas.openxmlformats.org/drawingml/2006/main">
          <a:graphicData uri="http://schemas.openxmlformats.org/drawingml/2006/table">
            <a:tbl>
              <a:tblPr firstRow="1" bandRow="1"/>
              <a:tblGrid>
                <a:gridCol w="2189798"/>
                <a:gridCol w="895826"/>
                <a:gridCol w="895826"/>
              </a:tblGrid>
              <a:tr h="928688">
                <a:tc>
                  <a:txBody>
                    <a:bodyPr/>
                    <a:lstStyle/>
                    <a:p>
                      <a:r>
                        <a:rPr sz="1575" b="1">
                          <a:solidFill>
                            <a:srgbClr val="FFFFFF"/>
                          </a:solidFill>
                          <a:latin typeface="Arial"/>
                          <a:ea typeface="Arial"/>
                          <a:cs typeface="Arial"/>
                        </a:rPr>
                        <a:t>Policy</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Mean gCO2</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928688">
                <a:tc>
                  <a:txBody>
                    <a:bodyPr/>
                    <a:lstStyle/>
                    <a:p>
                      <a:r>
                        <a:rPr sz="1575" b="0">
                          <a:solidFill>
                            <a:srgbClr val="1E302F"/>
                          </a:solidFill>
                          <a:latin typeface="Arial"/>
                          <a:ea typeface="Arial"/>
                          <a:cs typeface="Arial"/>
                        </a:rPr>
                        <a:t>earliest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NA</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oracle</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97.22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21.61</a:t>
                      </a:r>
                    </a:p>
                  </a:txBody>
                  <a:tcPr marL="91440" marR="91440" marT="45720" marB="45720">
                    <a:lnR w="7620">
                      <a:solidFill>
                        <a:srgbClr val="CED8D5"/>
                      </a:solidFill>
                      <a:prstDash val="solid"/>
                    </a:lnR>
                    <a:lnB w="7620">
                      <a:solidFill>
                        <a:srgbClr val="CED8D5"/>
                      </a:solidFill>
                      <a:prstDash val="solid"/>
                    </a:lnB>
                  </a:tcPr>
                </a:tc>
              </a:tr>
              <a:tr h="928688">
                <a:tc>
                  <a:txBody>
                    <a:bodyPr/>
                    <a:lstStyle/>
                    <a:p>
                      <a:r>
                        <a:rPr sz="1575" b="0">
                          <a:solidFill>
                            <a:srgbClr val="1E302F"/>
                          </a:solidFill>
                          <a:latin typeface="Arial"/>
                          <a:ea typeface="Arial"/>
                          <a:cs typeface="Arial"/>
                        </a:rPr>
                        <a:t>forecast</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108.6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12.41</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8498826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11-title">
            <a:extLst xmlns:a="http://schemas.openxmlformats.org/drawingml/2006/main">
              <a:ext uri="{FF2B5EF4-FFF2-40B4-BE49-F238E27FC236}">
                <a16:creationId xmlns:a16="http://schemas.microsoft.com/office/drawing/2014/main" id="{7B72E666-E2FC-4E85-876F-BC66D2341FA2}"/>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Queue service and emissions</a:t>
            </a:r>
          </a:p>
        </p:txBody>
      </p:sp>
      <p:sp>
        <p:nvSpPr>
          <p:cNvPr id="2" name="slide-11-bullets">
            <a:extLst xmlns:a="http://schemas.openxmlformats.org/drawingml/2006/main">
              <a:ext uri="{FF2B5EF4-FFF2-40B4-BE49-F238E27FC236}">
                <a16:creationId xmlns:a16="http://schemas.microsoft.com/office/drawing/2014/main" id="{AFDC30ED-3EF1-48F2-AEAA-5BAF6791C305}"/>
              </a:ext>
            </a:extLst>
          </p:cNvPr>
          <p:cNvSpPr>
            <a:spLocks xmlns:a="http://schemas.openxmlformats.org/drawingml/2006/main" noGrp="1"/>
          </p:cNvSpPr>
          <p:nvPr/>
        </p:nvSpPr>
        <p:spPr>
          <a:xfrm xmlns:a="http://schemas.openxmlformats.org/drawingml/2006/main">
            <a:off x="742950" y="1238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Table values are arithmetic means across the three frozen seeds.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Matched emissions differences are descriptive; accepted work differs.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Lower emissions from rejected work are not savings.</a:t>
            </a:r>
          </a:p>
        </p:txBody>
      </p:sp>
      <p:graphicFrame>
        <p:nvGraphicFramePr>
          <p:cNvPr id="3" name="">
            <a:extLst xmlns:a="http://schemas.openxmlformats.org/drawingml/2006/main">
              <a:ext uri="{FF2B5EF4-FFF2-40B4-BE49-F238E27FC236}">
                <a16:creationId xmlns:a16="http://schemas.microsoft.com/office/drawing/2014/main" id="{73723B79-C572-4D80-93E0-2AB0FE4B3C0C}"/>
              </a:ext>
            </a:extLst>
          </p:cNvPr>
          <p:cNvGraphicFramePr/>
          <p:nvPr/>
        </p:nvGraphicFramePr>
        <p:xfrm>
          <a:off xmlns:a="http://schemas.openxmlformats.org/drawingml/2006/main" x="685800" y="2333625"/>
          <a:ext xmlns:a="http://schemas.openxmlformats.org/drawingml/2006/main" cx="10820400" cy="3714750"/>
        </p:xfrm>
        <a:graphic xmlns:a="http://schemas.openxmlformats.org/drawingml/2006/main">
          <a:graphicData uri="http://schemas.openxmlformats.org/drawingml/2006/table">
            <a:tbl>
              <a:tblPr firstRow="1" bandRow="1"/>
              <a:tblGrid>
                <a:gridCol w="2164080"/>
                <a:gridCol w="2164080"/>
                <a:gridCol w="2164080"/>
                <a:gridCol w="2164080"/>
                <a:gridCol w="2164080"/>
              </a:tblGrid>
              <a:tr h="530679">
                <a:tc>
                  <a:txBody>
                    <a:bodyPr/>
                    <a:lstStyle/>
                    <a:p>
                      <a:r>
                        <a:rPr sz="1575" b="1">
                          <a:solidFill>
                            <a:srgbClr val="FFFFFF"/>
                          </a:solidFill>
                          <a:latin typeface="Arial"/>
                          <a:ea typeface="Arial"/>
                          <a:cs typeface="Arial"/>
                        </a:rPr>
                        <a:t>Load</a:t>
                      </a:r>
                    </a:p>
                  </a:txBody>
                  <a:tcPr marL="91440" marR="91440" marT="45720" marB="45720">
                    <a:lnL w="7620">
                      <a:solidFill>
                        <a:srgbClr val="CED8D5"/>
                      </a:solidFill>
                      <a:prstDash val="solid"/>
                    </a:lnL>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Slack h</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early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Reject selected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c>
                  <a:txBody>
                    <a:bodyPr/>
                    <a:lstStyle/>
                    <a:p>
                      <a:r>
                        <a:rPr sz="1575" b="1">
                          <a:solidFill>
                            <a:srgbClr val="FFFFFF"/>
                          </a:solidFill>
                          <a:latin typeface="Arial"/>
                          <a:ea typeface="Arial"/>
                          <a:cs typeface="Arial"/>
                        </a:rPr>
                        <a:t>Matched delta %</a:t>
                      </a:r>
                    </a:p>
                  </a:txBody>
                  <a:tcPr marL="91440" marR="91440" marT="45720" marB="45720">
                    <a:lnR w="7620">
                      <a:solidFill>
                        <a:srgbClr val="CED8D5"/>
                      </a:solidFill>
                      <a:prstDash val="solid"/>
                    </a:lnR>
                    <a:lnT w="7620">
                      <a:solidFill>
                        <a:srgbClr val="CED8D5"/>
                      </a:solidFill>
                      <a:prstDash val="solid"/>
                    </a:lnT>
                    <a:lnB w="7620">
                      <a:solidFill>
                        <a:srgbClr val="CED8D5"/>
                      </a:solidFill>
                      <a:prstDash val="solid"/>
                    </a:lnB>
                    <a:solidFill>
                      <a:srgbClr val="176B66"/>
                    </a:solidFill>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0.48518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2.373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6.7787</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0.3</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0.023624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0.36428</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8.531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3.6671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9.7095</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4.3856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0.6</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0.41371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3.9073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5.1506</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6</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9.7584</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17.737</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3.571</a:t>
                      </a:r>
                    </a:p>
                  </a:txBody>
                  <a:tcPr marL="91440" marR="91440" marT="45720" marB="45720">
                    <a:lnR w="7620">
                      <a:solidFill>
                        <a:srgbClr val="CED8D5"/>
                      </a:solidFill>
                      <a:prstDash val="solid"/>
                    </a:lnR>
                    <a:lnB w="7620">
                      <a:solidFill>
                        <a:srgbClr val="CED8D5"/>
                      </a:solidFill>
                      <a:prstDash val="solid"/>
                    </a:lnB>
                  </a:tcPr>
                </a:tc>
              </a:tr>
              <a:tr h="530679">
                <a:tc>
                  <a:txBody>
                    <a:bodyPr/>
                    <a:lstStyle/>
                    <a:p>
                      <a:r>
                        <a:rPr sz="1575" b="0">
                          <a:solidFill>
                            <a:srgbClr val="1E302F"/>
                          </a:solidFill>
                          <a:latin typeface="Arial"/>
                          <a:ea typeface="Arial"/>
                          <a:cs typeface="Arial"/>
                        </a:rPr>
                        <a:t>0.85</a:t>
                      </a:r>
                    </a:p>
                  </a:txBody>
                  <a:tcPr marL="91440" marR="91440" marT="45720" marB="45720">
                    <a:lnL w="7620">
                      <a:solidFill>
                        <a:srgbClr val="CED8D5"/>
                      </a:solidFill>
                      <a:prstDash val="solid"/>
                    </a:lnL>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12</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3.8893</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10.701</a:t>
                      </a:r>
                    </a:p>
                  </a:txBody>
                  <a:tcPr marL="91440" marR="91440" marT="45720" marB="45720">
                    <a:lnR w="7620">
                      <a:solidFill>
                        <a:srgbClr val="CED8D5"/>
                      </a:solidFill>
                      <a:prstDash val="solid"/>
                    </a:lnR>
                    <a:lnB w="7620">
                      <a:solidFill>
                        <a:srgbClr val="CED8D5"/>
                      </a:solidFill>
                      <a:prstDash val="solid"/>
                    </a:lnB>
                  </a:tcPr>
                </a:tc>
                <a:tc>
                  <a:txBody>
                    <a:bodyPr/>
                    <a:lstStyle/>
                    <a:p>
                      <a:r>
                        <a:rPr sz="1575" b="0">
                          <a:solidFill>
                            <a:srgbClr val="1E302F"/>
                          </a:solidFill>
                          <a:latin typeface="Arial"/>
                          <a:ea typeface="Arial"/>
                          <a:cs typeface="Arial"/>
                        </a:rPr>
                        <a:t>3.6974</a:t>
                      </a:r>
                    </a:p>
                  </a:txBody>
                  <a:tcPr marL="91440" marR="91440" marT="45720" marB="45720">
                    <a:lnR w="7620">
                      <a:solidFill>
                        <a:srgbClr val="CED8D5"/>
                      </a:solidFill>
                      <a:prstDash val="solid"/>
                    </a:lnR>
                    <a:lnB w="7620">
                      <a:solidFill>
                        <a:srgbClr val="CED8D5"/>
                      </a:solidFill>
                      <a:prstDash val="solid"/>
                    </a:lnB>
                  </a:tcPr>
                </a:tc>
              </a:tr>
            </a:tbl>
          </a:graphicData>
        </a:graphic>
      </p:graphicFrame>
    </p:spTree>
    <p:extLst>
      <p:ext uri="{BB962C8B-B14F-4D97-AF65-F5344CB8AC3E}">
        <p14:creationId xmlns:p14="http://schemas.microsoft.com/office/powerpoint/2010/main" val="18317925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slide-12-title">
            <a:extLst xmlns:a="http://schemas.openxmlformats.org/drawingml/2006/main">
              <a:ext uri="{FF2B5EF4-FFF2-40B4-BE49-F238E27FC236}">
                <a16:creationId xmlns:a16="http://schemas.microsoft.com/office/drawing/2014/main" id="{3375236E-1238-4697-89EF-313181EEED63}"/>
              </a:ext>
            </a:extLst>
          </p:cNvPr>
          <p:cNvSpPr>
            <a:spLocks xmlns:a="http://schemas.openxmlformats.org/drawingml/2006/main" noGrp="1"/>
          </p:cNvSpPr>
          <p:nvPr/>
        </p:nvSpPr>
        <p:spPr>
          <a:xfrm xmlns:a="http://schemas.openxmlformats.org/drawingml/2006/main">
            <a:off x="685800" y="4000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00" b="1">
                <a:solidFill>
                  <a:srgbClr val="176B66"/>
                </a:solidFill>
                <a:latin typeface="Arial"/>
                <a:ea typeface="Arial"/>
                <a:cs typeface="Arial"/>
              </a:defRPr>
            </a:defPPr>
            <a:lvl1pPr algn="l">
              <a:defRPr sz="4200" b="1">
                <a:solidFill>
                  <a:srgbClr val="176B66"/>
                </a:solidFill>
                <a:latin typeface="Arial"/>
                <a:ea typeface="Arial"/>
                <a:cs typeface="Arial"/>
              </a:defRPr>
            </a:lvl1pPr>
            <a:lvl2pPr algn="l">
              <a:defRPr sz="4200" b="1">
                <a:solidFill>
                  <a:srgbClr val="176B66"/>
                </a:solidFill>
                <a:latin typeface="Arial"/>
                <a:ea typeface="Arial"/>
                <a:cs typeface="Arial"/>
              </a:defRPr>
            </a:lvl2pPr>
            <a:lvl3pPr algn="l">
              <a:defRPr sz="4200" b="1">
                <a:solidFill>
                  <a:srgbClr val="176B66"/>
                </a:solidFill>
                <a:latin typeface="Arial"/>
                <a:ea typeface="Arial"/>
                <a:cs typeface="Arial"/>
              </a:defRPr>
            </a:lvl3pPr>
            <a:lvl4pPr algn="l">
              <a:defRPr sz="4200" b="1">
                <a:solidFill>
                  <a:srgbClr val="176B66"/>
                </a:solidFill>
                <a:latin typeface="Arial"/>
                <a:ea typeface="Arial"/>
                <a:cs typeface="Arial"/>
              </a:defRPr>
            </a:lvl4pPr>
            <a:lvl5pPr algn="l">
              <a:defRPr sz="4200" b="1">
                <a:solidFill>
                  <a:srgbClr val="176B66"/>
                </a:solidFill>
                <a:latin typeface="Arial"/>
                <a:ea typeface="Arial"/>
                <a:cs typeface="Arial"/>
              </a:defRPr>
            </a:lvl5pPr>
            <a:lvl6pPr algn="l">
              <a:defRPr sz="4200" b="1">
                <a:solidFill>
                  <a:srgbClr val="176B66"/>
                </a:solidFill>
                <a:latin typeface="Arial"/>
                <a:ea typeface="Arial"/>
                <a:cs typeface="Arial"/>
              </a:defRPr>
            </a:lvl6pPr>
            <a:lvl7pPr algn="l">
              <a:defRPr sz="4200" b="1">
                <a:solidFill>
                  <a:srgbClr val="176B66"/>
                </a:solidFill>
                <a:latin typeface="Arial"/>
                <a:ea typeface="Arial"/>
                <a:cs typeface="Arial"/>
              </a:defRPr>
            </a:lvl7pPr>
            <a:lvl8pPr algn="l">
              <a:defRPr sz="4200" b="1">
                <a:solidFill>
                  <a:srgbClr val="176B66"/>
                </a:solidFill>
                <a:latin typeface="Arial"/>
                <a:ea typeface="Arial"/>
                <a:cs typeface="Arial"/>
              </a:defRPr>
            </a:lvl8pPr>
            <a:lvl9pPr algn="l">
              <a:defRPr sz="4200" b="1">
                <a:solidFill>
                  <a:srgbClr val="176B66"/>
                </a:solidFill>
                <a:latin typeface="Arial"/>
                <a:ea typeface="Arial"/>
                <a:cs typeface="Arial"/>
              </a:defRPr>
            </a:lvl9pPr>
          </a:lstStyle>
          <a:p xmlns:a="http://schemas.openxmlformats.org/drawingml/2006/main">
            <a:pPr algn="l">
              <a:defRPr sz="4200" b="1">
                <a:solidFill>
                  <a:srgbClr val="176B66"/>
                </a:solidFill>
                <a:latin typeface="Arial"/>
                <a:ea typeface="Arial"/>
                <a:cs typeface="Arial"/>
              </a:defRPr>
            </a:pPr>
            <a:r>
              <a:rPr sz="4200" b="1">
                <a:solidFill>
                  <a:srgbClr val="176B66"/>
                </a:solidFill>
                <a:latin typeface="Arial"/>
                <a:ea typeface="Arial"/>
                <a:cs typeface="Arial"/>
              </a:rPr>
              <a:t>Backup equations and failures</a:t>
            </a:r>
          </a:p>
        </p:txBody>
      </p:sp>
      <p:sp>
        <p:nvSpPr>
          <p:cNvPr id="2" name="slide-12-bullets">
            <a:extLst xmlns:a="http://schemas.openxmlformats.org/drawingml/2006/main">
              <a:ext uri="{FF2B5EF4-FFF2-40B4-BE49-F238E27FC236}">
                <a16:creationId xmlns:a16="http://schemas.microsoft.com/office/drawing/2014/main" id="{2E1A9450-1E83-4967-AA10-ABED40217720}"/>
              </a:ext>
            </a:extLst>
          </p:cNvPr>
          <p:cNvSpPr>
            <a:spLocks xmlns:a="http://schemas.openxmlformats.org/drawingml/2006/main" noGrp="1"/>
          </p:cNvSpPr>
          <p:nvPr/>
        </p:nvSpPr>
        <p:spPr>
          <a:xfrm xmlns:a="http://schemas.openxmlformats.org/drawingml/2006/main">
            <a:off x="819150" y="1657350"/>
            <a:ext cx="10287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a:solidFill>
                  <a:srgbClr val="1E302F"/>
                </a:solidFill>
                <a:latin typeface="Arial"/>
                <a:ea typeface="Arial"/>
                <a:cs typeface="Arial"/>
              </a:defRPr>
            </a:defPPr>
            <a:lvl1pPr>
              <a:defRPr sz="1725">
                <a:solidFill>
                  <a:srgbClr val="1E302F"/>
                </a:solidFill>
                <a:latin typeface="Arial"/>
                <a:ea typeface="Arial"/>
                <a:cs typeface="Arial"/>
              </a:defRPr>
            </a:lvl1pPr>
            <a:lvl2pPr>
              <a:defRPr sz="1725">
                <a:solidFill>
                  <a:srgbClr val="1E302F"/>
                </a:solidFill>
                <a:latin typeface="Arial"/>
                <a:ea typeface="Arial"/>
                <a:cs typeface="Arial"/>
              </a:defRPr>
            </a:lvl2pPr>
            <a:lvl3pPr>
              <a:defRPr sz="1725">
                <a:solidFill>
                  <a:srgbClr val="1E302F"/>
                </a:solidFill>
                <a:latin typeface="Arial"/>
                <a:ea typeface="Arial"/>
                <a:cs typeface="Arial"/>
              </a:defRPr>
            </a:lvl3pPr>
            <a:lvl4pPr>
              <a:defRPr sz="1725">
                <a:solidFill>
                  <a:srgbClr val="1E302F"/>
                </a:solidFill>
                <a:latin typeface="Arial"/>
                <a:ea typeface="Arial"/>
                <a:cs typeface="Arial"/>
              </a:defRPr>
            </a:lvl4pPr>
            <a:lvl5pPr>
              <a:defRPr sz="1725">
                <a:solidFill>
                  <a:srgbClr val="1E302F"/>
                </a:solidFill>
                <a:latin typeface="Arial"/>
                <a:ea typeface="Arial"/>
                <a:cs typeface="Arial"/>
              </a:defRPr>
            </a:lvl5pPr>
            <a:lvl6pPr>
              <a:defRPr sz="1725">
                <a:solidFill>
                  <a:srgbClr val="1E302F"/>
                </a:solidFill>
                <a:latin typeface="Arial"/>
                <a:ea typeface="Arial"/>
                <a:cs typeface="Arial"/>
              </a:defRPr>
            </a:lvl6pPr>
            <a:lvl7pPr>
              <a:defRPr sz="1725">
                <a:solidFill>
                  <a:srgbClr val="1E302F"/>
                </a:solidFill>
                <a:latin typeface="Arial"/>
                <a:ea typeface="Arial"/>
                <a:cs typeface="Arial"/>
              </a:defRPr>
            </a:lvl7pPr>
            <a:lvl8pPr>
              <a:defRPr sz="1725">
                <a:solidFill>
                  <a:srgbClr val="1E302F"/>
                </a:solidFill>
                <a:latin typeface="Arial"/>
                <a:ea typeface="Arial"/>
                <a:cs typeface="Arial"/>
              </a:defRPr>
            </a:lvl8pPr>
            <a:lvl9pPr>
              <a:defRPr sz="1725">
                <a:solidFill>
                  <a:srgbClr val="1E302F"/>
                </a:solidFill>
                <a:latin typeface="Arial"/>
                <a:ea typeface="Arial"/>
                <a:cs typeface="Arial"/>
              </a:defRPr>
            </a:lvl9pPr>
          </a:lstStyle>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Job CO2 = sum(overlap hours x IT kW x PUE x intensity).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Choose the minimum integrated forecast cost; obey release, deadline, and capacity.</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SARIMA uses AR, MA, and period-48 seasonal lag polynomials on differenced levels.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Missing or stale forecasts disable carbon ranking; failed fits retain explicit fallbacks.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Rejected queue work is not savings. Marginal intervals are not joint job-cost guarantees.</a:t>
            </a:r>
          </a:p>
          <a:p xmlns:a="http://schemas.openxmlformats.org/drawingml/2006/main">
            <a:pPr marL="254000" indent="-127000">
              <a:spcAft>
                <a:spcPts val="700"/>
              </a:spcAft>
              <a:buChar char="•"/>
              <a:defRPr sz="1725">
                <a:solidFill>
                  <a:srgbClr val="1E302F"/>
                </a:solidFill>
                <a:latin typeface="Arial"/>
                <a:ea typeface="Arial"/>
                <a:cs typeface="Arial"/>
              </a:defRPr>
            </a:pPr>
            <a:r>
              <a:rPr sz="1725">
                <a:solidFill>
                  <a:srgbClr val="1E302F"/>
                </a:solidFill>
                <a:latin typeface="Arial"/>
                <a:ea typeface="Arial"/>
                <a:cs typeface="Arial"/>
              </a:rPr>
              <a:t>Frozen calendar_mean timing benefit and classical forecast skill are separate findings.</a:t>
            </a:r>
          </a:p>
        </p:txBody>
      </p:sp>
    </p:spTree>
    <p:extLst>
      <p:ext uri="{BB962C8B-B14F-4D97-AF65-F5344CB8AC3E}">
        <p14:creationId xmlns:p14="http://schemas.microsoft.com/office/powerpoint/2010/main" val="49237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2026-10-23T00:32:39.3440000Z</dcterms:created>
  <dcterms:modified xsi:type="dcterms:W3CDTF">2026-10-23T00:32:39.3440000Z</dcterms:modified>
</coreProperties>
</file>